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41"/>
  </p:notesMasterIdLst>
  <p:sldIdLst>
    <p:sldId id="298" r:id="rId2"/>
    <p:sldId id="299" r:id="rId3"/>
    <p:sldId id="300" r:id="rId4"/>
    <p:sldId id="323" r:id="rId5"/>
    <p:sldId id="324" r:id="rId6"/>
    <p:sldId id="325" r:id="rId7"/>
    <p:sldId id="326" r:id="rId8"/>
    <p:sldId id="327" r:id="rId9"/>
    <p:sldId id="328" r:id="rId10"/>
    <p:sldId id="329" r:id="rId11"/>
    <p:sldId id="330" r:id="rId12"/>
    <p:sldId id="331" r:id="rId13"/>
    <p:sldId id="332" r:id="rId14"/>
    <p:sldId id="333" r:id="rId15"/>
    <p:sldId id="334" r:id="rId16"/>
    <p:sldId id="335" r:id="rId17"/>
    <p:sldId id="336" r:id="rId18"/>
    <p:sldId id="337" r:id="rId19"/>
    <p:sldId id="338" r:id="rId20"/>
    <p:sldId id="339" r:id="rId21"/>
    <p:sldId id="340" r:id="rId22"/>
    <p:sldId id="341" r:id="rId23"/>
    <p:sldId id="342" r:id="rId24"/>
    <p:sldId id="343" r:id="rId25"/>
    <p:sldId id="344" r:id="rId26"/>
    <p:sldId id="345" r:id="rId27"/>
    <p:sldId id="346" r:id="rId28"/>
    <p:sldId id="347" r:id="rId29"/>
    <p:sldId id="348" r:id="rId30"/>
    <p:sldId id="349" r:id="rId31"/>
    <p:sldId id="350" r:id="rId32"/>
    <p:sldId id="351" r:id="rId33"/>
    <p:sldId id="352" r:id="rId34"/>
    <p:sldId id="353" r:id="rId35"/>
    <p:sldId id="354" r:id="rId36"/>
    <p:sldId id="355" r:id="rId37"/>
    <p:sldId id="356" r:id="rId38"/>
    <p:sldId id="357" r:id="rId39"/>
    <p:sldId id="322" r:id="rId40"/>
  </p:sldIdLst>
  <p:sldSz cx="9144000" cy="5143500" type="screen16x9"/>
  <p:notesSz cx="6858000" cy="9144000"/>
  <p:embeddedFontLst>
    <p:embeddedFont>
      <p:font typeface="Darker Grotesque SemiBold" pitchFamily="2" charset="0"/>
      <p:bold r:id="rId42"/>
    </p:embeddedFont>
    <p:embeddedFont>
      <p:font typeface="Inter" panose="020B0604020202020204" charset="0"/>
      <p:regular r:id="rId43"/>
      <p:bold r:id="rId44"/>
      <p:italic r:id="rId45"/>
      <p:boldItalic r:id="rId46"/>
    </p:embeddedFont>
    <p:embeddedFont>
      <p:font typeface="Passion One" panose="020B0604020202020204" charset="0"/>
      <p:regular r:id="rId47"/>
      <p:bold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A06CA5F-B581-4EFB-99E4-FBFED492D57A}">
  <a:tblStyle styleId="{DA06CA5F-B581-4EFB-99E4-FBFED492D57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059" autoAdjust="0"/>
  </p:normalViewPr>
  <p:slideViewPr>
    <p:cSldViewPr snapToGrid="0" showGuides="1">
      <p:cViewPr varScale="1">
        <p:scale>
          <a:sx n="90" d="100"/>
          <a:sy n="90" d="100"/>
        </p:scale>
        <p:origin x="11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1"/>
        <c:ser>
          <c:idx val="0"/>
          <c:order val="0"/>
          <c:tx>
            <c:strRef>
              <c:f>Sheet1!$B$1</c:f>
              <c:strCache>
                <c:ptCount val="1"/>
                <c:pt idx="0">
                  <c:v>Lignes rejetées</c:v>
                </c:pt>
              </c:strCache>
            </c:strRef>
          </c:tx>
          <c:spPr>
            <a:solidFill>
              <a:srgbClr val="FA9D02"/>
            </a:solidFill>
          </c:spPr>
          <c:invertIfNegative val="1"/>
          <c:dLbls>
            <c:numFmt formatCode="#\ ##0" sourceLinked="0"/>
            <c:spPr>
              <a:noFill/>
              <a:ln>
                <a:noFill/>
              </a:ln>
              <a:effectLst/>
            </c:spPr>
            <c:txPr>
              <a:bodyPr/>
              <a:lstStyle/>
              <a:p>
                <a:pPr>
                  <a:defRPr sz="1000">
                    <a:solidFill>
                      <a:srgbClr val="17175A"/>
                    </a:solidFill>
                    <a:latin typeface="Inter"/>
                  </a:defRPr>
                </a:pPr>
                <a:endParaRPr lang="fr-BF"/>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description_vide</c:v>
                </c:pt>
                <c:pt idx="1">
                  <c:v>prix_negatif</c:v>
                </c:pt>
                <c:pt idx="2">
                  <c:v>reference_vide</c:v>
                </c:pt>
                <c:pt idx="3">
                  <c:v>prix_non_numerique</c:v>
                </c:pt>
                <c:pt idx="4">
                  <c:v>date_invalide</c:v>
                </c:pt>
                <c:pt idx="5">
                  <c:v>structure_invalide</c:v>
                </c:pt>
              </c:strCache>
            </c:strRef>
          </c:cat>
          <c:val>
            <c:numRef>
              <c:f>Sheet1!$B$2:$B$7</c:f>
              <c:numCache>
                <c:formatCode>General</c:formatCode>
                <c:ptCount val="6"/>
                <c:pt idx="0">
                  <c:v>1454</c:v>
                </c:pt>
                <c:pt idx="1">
                  <c:v>2</c:v>
                </c:pt>
                <c:pt idx="2">
                  <c:v>25</c:v>
                </c:pt>
                <c:pt idx="3">
                  <c:v>25</c:v>
                </c:pt>
                <c:pt idx="4">
                  <c:v>25</c:v>
                </c:pt>
                <c:pt idx="5">
                  <c:v>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E73-4BC1-9061-B3BD9943D30B}"/>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8D2A0"/>
            </a:solidFill>
          </a:ln>
        </c:spPr>
        <c:txPr>
          <a:bodyPr/>
          <a:lstStyle/>
          <a:p>
            <a:pPr>
              <a:defRPr sz="1000">
                <a:solidFill>
                  <a:srgbClr val="17175A"/>
                </a:solidFill>
                <a:latin typeface="Inter"/>
              </a:defRPr>
            </a:pPr>
            <a:endParaRPr lang="fr-BF"/>
          </a:p>
        </c:txPr>
        <c:crossAx val="-2113994440"/>
        <c:crosses val="autoZero"/>
        <c:auto val="1"/>
        <c:lblAlgn val="ctr"/>
        <c:lblOffset val="100"/>
        <c:noMultiLvlLbl val="0"/>
      </c:catAx>
      <c:valAx>
        <c:axId val="-2113994440"/>
        <c:scaling>
          <c:orientation val="minMax"/>
          <c:max val="175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Bonjour a </a:t>
            </a:r>
            <a:r>
              <a:rPr dirty="0" err="1"/>
              <a:t>tous</a:t>
            </a:r>
            <a:r>
              <a:rPr dirty="0"/>
              <a:t>. Nous </a:t>
            </a:r>
            <a:r>
              <a:rPr dirty="0" err="1"/>
              <a:t>allons</a:t>
            </a:r>
            <a:r>
              <a:rPr dirty="0"/>
              <a:t> vous presenter </a:t>
            </a:r>
            <a:r>
              <a:rPr dirty="0" err="1"/>
              <a:t>notre</a:t>
            </a:r>
            <a:r>
              <a:rPr dirty="0"/>
              <a:t> </a:t>
            </a:r>
            <a:r>
              <a:rPr dirty="0" err="1"/>
              <a:t>projet</a:t>
            </a:r>
            <a:r>
              <a:rPr dirty="0"/>
              <a:t> : un pipeline de </a:t>
            </a:r>
            <a:r>
              <a:rPr dirty="0" err="1"/>
              <a:t>synchronisation</a:t>
            </a:r>
            <a:r>
              <a:rPr dirty="0"/>
              <a:t> de </a:t>
            </a:r>
            <a:r>
              <a:rPr dirty="0" err="1"/>
              <a:t>produits</a:t>
            </a:r>
            <a:r>
              <a:rPr dirty="0"/>
              <a:t> avec </a:t>
            </a:r>
            <a:r>
              <a:rPr dirty="0" err="1"/>
              <a:t>Dagster</a:t>
            </a:r>
            <a:r>
              <a:rPr dirty="0"/>
              <a:t>, Python, PostgreSQL et Express.js, </a:t>
            </a:r>
            <a:r>
              <a:rPr dirty="0" err="1"/>
              <a:t>realise</a:t>
            </a:r>
            <a:r>
              <a:rPr dirty="0"/>
              <a:t> pour </a:t>
            </a:r>
            <a:r>
              <a:rPr dirty="0" err="1"/>
              <a:t>l'exercice</a:t>
            </a:r>
            <a:r>
              <a:rPr dirty="0"/>
              <a:t> 16 du module Developpement a base de </a:t>
            </a:r>
            <a:r>
              <a:rPr dirty="0" err="1"/>
              <a:t>composants</a:t>
            </a:r>
            <a:r>
              <a:rPr dirty="0"/>
              <a:t> et services web.</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t>Voici les cinq membres du groupe 2 qui ont travaille sur ce projet.</a:t>
            </a:r>
          </a:p>
        </p:txBody>
      </p:sp>
    </p:spTree>
    <p:extLst>
      <p:ext uri="{BB962C8B-B14F-4D97-AF65-F5344CB8AC3E}">
        <p14:creationId xmlns:p14="http://schemas.microsoft.com/office/powerpoint/2010/main" val="1944743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Voici le plan de notre presentation : le contexte et l'architecture, l'installation et l'execution du pipeline, les tests et les resultats obtenus, puis la conclusion.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Un export de ventes brut n'est jamais directement utilisable. L'exercice 16 demande de le transformer en un catalogue fiable dans PostgreSQL, consultable par API, avec la garantie qu'une relance ne duplique rien, même après une coupure en cours d'exécution.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Première partie : le contexte, la problématique et les exigences.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 fichier contient sept familles d'anomalies. Il faut un traitement qui nettoie, valide, et conserve une trace de ce qui est rejeté et pourquoi.</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Question centrale et trois sous-questions : fiabiliser, garantir, résister. Tout le reste de la présentation répond à ces trois points.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L'énoncé de l'exercice 16 liste sept travaux demandés. Le dépôt Git public avec README, tests et installation reproductible complète les exigences.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Un accès direct à PostgreSQL oblige à distribuer des identifiants et fige le schéma. L'API sépare la consultation du stockage et n'expose que quatre routes en lecture.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Deuxième partie : l'architecture et les garanties de fiabilité.</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 fichier CSV passe par trois étapes Dagster puis arrive dans PostgreSQL. L'API Express.js lit PostgreSQL sans jamais l'exposer directement. En cas d'erreur transitoire, seule l'étape de chargement est rejouée.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Chaque outil a un rôle précis. Docker Compose garantit une installation identique sur Windows, macOS et Linux ; GitHub Actions rejoue les tests à chaque push.</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Lire, valider, écrire : trois responsabilités, chacune avec ses erreurs possibles. Les séparer permet de tester chaque étape isolément et d'en corriger une sans toucher aux deux autres.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 dépôt est organisé par responsabilité : données, SQL, pipeline Python, API, tests, documentation et intégration continue.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Dagster exécute les trois étapes dans l'ordre, offre une interface web locale sur le port 3001 et rejoue automatiquement l'étape de chargement en cas d'erreur PostgreSQL transitoire.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C'est la contrainte centrale du sujet. Relancer le même fichier, une ou dix fois, doit produire exactement le même catalogue. Trois mécanismes : l'UPSERT sur la clé primaire, la mise à jour conditionnelle et l'identifiant d'exécution stable.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Les écritures sont atomiques : tout ou rien. La règle « faut-il rejouer cette erreur ? » est isolée dans etl/erreurs.py et testée sans provoquer de vraie coupure. Les erreurs transitoires sont rejouées, les erreurs permanentes jamais.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 cas le plus délicat : la transaction est validée mais la confirmation est perdue à cause d'une coupure réseau. Dagster rejoue avec le même execution_id ; le traitement retrouve le bilan et le renvoie sans refaire les écritures.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Six motifs de rejet sont gérés. Deux sont présents naturellement dans l'export d'origine (descriptions vides et prix négatifs). Pour les quatre autres, 100 lignes ont été ajoutées, 25 par motif, pour que tous soient représentés dans le fichier réellement traité.</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Troisième partie : installer et exécuter le projet sur une machine neuve.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 projet s'installe sur une machine neuve en suivant la documentation. Prérequis : Docker et Docker Compose v2, Python 3.10+, Node.js 18+. Le mot de passe PostgreSQL est défini une seule fois dans .env.</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Une seule commande démarre PostgreSQL. Au premier démarrage, la base etl_produits est créée et les scripts SQL créent les trois tables. Aux démarrages suivants, les scripts ne sont pas rejoués et les données sont conservées.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Un environnement virtuel Python isolé contient Dagster et psycopg. L'API Node.js installe ses dépendances figées avec npm ci : 80 paquets, 0 vulnérabilité.</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Dagster écrit l'historique des exécutions et les copies du CSV dans un dossier d'état .dagster/ indiqué par DAGSTER_HOME. La commande dagster dev démarre l'interface web sur le port 3001.</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 job apparaît dans l'interface Dagster. Les trois étapes s'exécutent dans l'ordre et affichent le statut SUCCESS.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 catalogue se consulte directement en base avec psql, et le bilan JSON de la dernière exécution est conservé dans etl_executions. Statut AVEC_REJETS : le chargement a réussi, des lignes ont été rejetées.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Quatrième partie : l'API, les tests et les résultats obtenus.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Quatre routes en lecture. Le contrat OpenAPI 3.0 est servi par l'API elle-même en Swagger UI, sans outil externe. Le code 503 signifie que PostgreSQL est temporairement indisponible ; l'API retrouve une connexion sans redémarrage.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Démarrage de l'API avec node server.js dans le dossier api. GET /sante répond 200 quand l'API et PostgreSQL fonctionnent ; GET /produits renvoie une page de produits avec le total de 3 958.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GET /produits/:reference renvoie un produit précis. GET /controles/dernier renvoie le bilan du dernier chargement : c'est l'exigence 6 du sujet, exposer les données et le dernier résultat de contrôle.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L'API renvoie des codes HTTP précis : 404 pour un produit inexistant, 400 pour une pagination invalide, 503 quand PostgreSQL est indisponible. Le 503 est démontré dans le scénario de bout en bout.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Onze tests unittest : quatre sur la transformation, un sur le chargement (insertion, modification, relance inchangée, reprise sur le même execution_id) et six sur la classification des erreurs PostgreSQL.</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Six tests côté API vérifient la classification des erreurs PostgreSQL : indisponibilité (503) ou erreur interne (500). L'intégration continue rejoue tous les tests à chaque git push sur une machine neuve.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 scénario complet, observé sur la machine de développement, enchaîne installation, pipeline, API, idempotence et reprise après coupure de PostgreSQL. Les six étapes sont réussies.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Sur la source fournie : 542 009 lignes extraites, 540 453 valides, 1 556 rejetées, 3 958 produits retenus. Une relance donne 0 insertion, 0 modification et 3 958 produits inchangés.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Trois problèmes fréquents d'installation, avec leur cause et leur solution, documentés dans le rapport.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Limites constatées dans le projet et pistes d'amélioration possibles. Les pistes sont des propositions du groupe, non implémentées.</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 projet répond aux sept points du sujet. Le jeu de données réel a été complété au minimum pour prouver les six motifs de rejet. L'ensemble est rejoué automatiquement par intégration continue.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Merci pour votre attention, nous sommes disponibles pour repondre a vos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545187" y="2539113"/>
            <a:ext cx="2909077" cy="2909077"/>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10;p2"/>
          <p:cNvSpPr/>
          <p:nvPr/>
        </p:nvSpPr>
        <p:spPr>
          <a:xfrm>
            <a:off x="7073900" y="4334213"/>
            <a:ext cx="2909077" cy="2909077"/>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11;p2"/>
          <p:cNvSpPr/>
          <p:nvPr/>
        </p:nvSpPr>
        <p:spPr>
          <a:xfrm>
            <a:off x="-90650" y="-73963"/>
            <a:ext cx="2085177" cy="901987"/>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12;p2"/>
          <p:cNvSpPr/>
          <p:nvPr/>
        </p:nvSpPr>
        <p:spPr>
          <a:xfrm>
            <a:off x="8488469" y="990668"/>
            <a:ext cx="2306972" cy="2306972"/>
          </a:xfrm>
          <a:custGeom>
            <a:avLst/>
            <a:gdLst/>
            <a:ahLst/>
            <a:cxnLst/>
            <a:rect l="l" t="t" r="r" b="b"/>
            <a:pathLst>
              <a:path w="2306972" h="2306972" extrusionOk="0">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3;p2"/>
          <p:cNvSpPr/>
          <p:nvPr/>
        </p:nvSpPr>
        <p:spPr>
          <a:xfrm>
            <a:off x="431847" y="3177967"/>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p2"/>
          <p:cNvSpPr/>
          <p:nvPr/>
        </p:nvSpPr>
        <p:spPr>
          <a:xfrm rot="-2700000">
            <a:off x="8734960" y="342095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5;p2"/>
          <p:cNvSpPr/>
          <p:nvPr/>
        </p:nvSpPr>
        <p:spPr>
          <a:xfrm rot="-2700000">
            <a:off x="8734956" y="470861"/>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6;p2"/>
          <p:cNvSpPr/>
          <p:nvPr/>
        </p:nvSpPr>
        <p:spPr>
          <a:xfrm rot="-2700000">
            <a:off x="3258027" y="294804"/>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7;p2"/>
          <p:cNvSpPr/>
          <p:nvPr/>
        </p:nvSpPr>
        <p:spPr>
          <a:xfrm rot="-2700000">
            <a:off x="2091794" y="4654300"/>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p2"/>
          <p:cNvSpPr/>
          <p:nvPr/>
        </p:nvSpPr>
        <p:spPr>
          <a:xfrm rot="-2700000">
            <a:off x="266135" y="189449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9;p2"/>
          <p:cNvSpPr/>
          <p:nvPr/>
        </p:nvSpPr>
        <p:spPr>
          <a:xfrm>
            <a:off x="6495722" y="171242"/>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20;p2"/>
          <p:cNvSpPr/>
          <p:nvPr/>
        </p:nvSpPr>
        <p:spPr>
          <a:xfrm>
            <a:off x="5548472" y="4814317"/>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21;p2"/>
          <p:cNvSpPr txBox="1">
            <a:spLocks noGrp="1"/>
          </p:cNvSpPr>
          <p:nvPr>
            <p:ph type="ctrTitle"/>
          </p:nvPr>
        </p:nvSpPr>
        <p:spPr>
          <a:xfrm>
            <a:off x="1814850" y="1577788"/>
            <a:ext cx="5514300" cy="17439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Clr>
                <a:srgbClr val="191919"/>
              </a:buClr>
              <a:buSzPts val="5200"/>
              <a:buNone/>
              <a:defRPr sz="6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2" name="Google Shape;22;p2"/>
          <p:cNvSpPr txBox="1">
            <a:spLocks noGrp="1"/>
          </p:cNvSpPr>
          <p:nvPr>
            <p:ph type="subTitle" idx="1"/>
          </p:nvPr>
        </p:nvSpPr>
        <p:spPr>
          <a:xfrm>
            <a:off x="2430150" y="3547500"/>
            <a:ext cx="4283700" cy="450000"/>
          </a:xfrm>
          <a:prstGeom prst="rect">
            <a:avLst/>
          </a:prstGeom>
          <a:solidFill>
            <a:schemeClr val="dk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23" name="Google Shape;23;p2"/>
          <p:cNvSpPr txBox="1">
            <a:spLocks noGrp="1"/>
          </p:cNvSpPr>
          <p:nvPr>
            <p:ph type="ctrTitle" idx="2"/>
          </p:nvPr>
        </p:nvSpPr>
        <p:spPr>
          <a:xfrm>
            <a:off x="6938575" y="552675"/>
            <a:ext cx="1492200" cy="4500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rgbClr val="191919"/>
              </a:buClr>
              <a:buSzPts val="1800"/>
              <a:buNone/>
              <a:defRPr sz="2400"/>
            </a:lvl1pPr>
            <a:lvl2pPr lvl="1" algn="ctr" rtl="0">
              <a:spcBef>
                <a:spcPts val="0"/>
              </a:spcBef>
              <a:spcAft>
                <a:spcPts val="0"/>
              </a:spcAft>
              <a:buClr>
                <a:srgbClr val="191919"/>
              </a:buClr>
              <a:buSzPts val="1800"/>
              <a:buNone/>
              <a:defRPr sz="1800">
                <a:solidFill>
                  <a:srgbClr val="191919"/>
                </a:solidFill>
              </a:defRPr>
            </a:lvl2pPr>
            <a:lvl3pPr lvl="2" algn="ctr" rtl="0">
              <a:spcBef>
                <a:spcPts val="0"/>
              </a:spcBef>
              <a:spcAft>
                <a:spcPts val="0"/>
              </a:spcAft>
              <a:buClr>
                <a:srgbClr val="191919"/>
              </a:buClr>
              <a:buSzPts val="1800"/>
              <a:buNone/>
              <a:defRPr sz="1800">
                <a:solidFill>
                  <a:srgbClr val="191919"/>
                </a:solidFill>
              </a:defRPr>
            </a:lvl3pPr>
            <a:lvl4pPr lvl="3" algn="ctr" rtl="0">
              <a:spcBef>
                <a:spcPts val="0"/>
              </a:spcBef>
              <a:spcAft>
                <a:spcPts val="0"/>
              </a:spcAft>
              <a:buClr>
                <a:srgbClr val="191919"/>
              </a:buClr>
              <a:buSzPts val="1800"/>
              <a:buNone/>
              <a:defRPr sz="1800">
                <a:solidFill>
                  <a:srgbClr val="191919"/>
                </a:solidFill>
              </a:defRPr>
            </a:lvl4pPr>
            <a:lvl5pPr lvl="4" algn="ctr" rtl="0">
              <a:spcBef>
                <a:spcPts val="0"/>
              </a:spcBef>
              <a:spcAft>
                <a:spcPts val="0"/>
              </a:spcAft>
              <a:buClr>
                <a:srgbClr val="191919"/>
              </a:buClr>
              <a:buSzPts val="1800"/>
              <a:buNone/>
              <a:defRPr sz="1800">
                <a:solidFill>
                  <a:srgbClr val="191919"/>
                </a:solidFill>
              </a:defRPr>
            </a:lvl5pPr>
            <a:lvl6pPr lvl="5" algn="ctr" rtl="0">
              <a:spcBef>
                <a:spcPts val="0"/>
              </a:spcBef>
              <a:spcAft>
                <a:spcPts val="0"/>
              </a:spcAft>
              <a:buClr>
                <a:srgbClr val="191919"/>
              </a:buClr>
              <a:buSzPts val="1800"/>
              <a:buNone/>
              <a:defRPr sz="1800">
                <a:solidFill>
                  <a:srgbClr val="191919"/>
                </a:solidFill>
              </a:defRPr>
            </a:lvl6pPr>
            <a:lvl7pPr lvl="6" algn="ctr" rtl="0">
              <a:spcBef>
                <a:spcPts val="0"/>
              </a:spcBef>
              <a:spcAft>
                <a:spcPts val="0"/>
              </a:spcAft>
              <a:buClr>
                <a:srgbClr val="191919"/>
              </a:buClr>
              <a:buSzPts val="1800"/>
              <a:buNone/>
              <a:defRPr sz="1800">
                <a:solidFill>
                  <a:srgbClr val="191919"/>
                </a:solidFill>
              </a:defRPr>
            </a:lvl7pPr>
            <a:lvl8pPr lvl="7" algn="ctr" rtl="0">
              <a:spcBef>
                <a:spcPts val="0"/>
              </a:spcBef>
              <a:spcAft>
                <a:spcPts val="0"/>
              </a:spcAft>
              <a:buClr>
                <a:srgbClr val="191919"/>
              </a:buClr>
              <a:buSzPts val="1800"/>
              <a:buNone/>
              <a:defRPr sz="1800">
                <a:solidFill>
                  <a:srgbClr val="191919"/>
                </a:solidFill>
              </a:defRPr>
            </a:lvl8pPr>
            <a:lvl9pPr lvl="8" algn="ctr" rtl="0">
              <a:spcBef>
                <a:spcPts val="0"/>
              </a:spcBef>
              <a:spcAft>
                <a:spcPts val="0"/>
              </a:spcAft>
              <a:buClr>
                <a:srgbClr val="191919"/>
              </a:buClr>
              <a:buSzPts val="1800"/>
              <a:buNone/>
              <a:defRPr sz="1800">
                <a:solidFill>
                  <a:srgbClr val="191919"/>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3"/>
          <p:cNvSpPr/>
          <p:nvPr/>
        </p:nvSpPr>
        <p:spPr>
          <a:xfrm>
            <a:off x="-1626298" y="2598094"/>
            <a:ext cx="3114423" cy="3114423"/>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6;p3"/>
          <p:cNvSpPr/>
          <p:nvPr/>
        </p:nvSpPr>
        <p:spPr>
          <a:xfrm>
            <a:off x="7191750" y="-13688"/>
            <a:ext cx="2085177" cy="901987"/>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p3"/>
          <p:cNvSpPr/>
          <p:nvPr/>
        </p:nvSpPr>
        <p:spPr>
          <a:xfrm>
            <a:off x="359972" y="743455"/>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8;p3"/>
          <p:cNvSpPr/>
          <p:nvPr/>
        </p:nvSpPr>
        <p:spPr>
          <a:xfrm rot="-2700000">
            <a:off x="4446660" y="204122"/>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7CE1C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p3"/>
          <p:cNvSpPr/>
          <p:nvPr/>
        </p:nvSpPr>
        <p:spPr>
          <a:xfrm rot="-2700000">
            <a:off x="8603477" y="2503104"/>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30;p3"/>
          <p:cNvSpPr/>
          <p:nvPr/>
        </p:nvSpPr>
        <p:spPr>
          <a:xfrm rot="-2700000">
            <a:off x="2404760" y="476165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31;p3"/>
          <p:cNvSpPr/>
          <p:nvPr/>
        </p:nvSpPr>
        <p:spPr>
          <a:xfrm rot="-2700000">
            <a:off x="6853619" y="4632436"/>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32;p3"/>
          <p:cNvSpPr/>
          <p:nvPr/>
        </p:nvSpPr>
        <p:spPr>
          <a:xfrm>
            <a:off x="8848072" y="4396730"/>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3;p3"/>
          <p:cNvSpPr txBox="1">
            <a:spLocks noGrp="1"/>
          </p:cNvSpPr>
          <p:nvPr>
            <p:ph type="title"/>
          </p:nvPr>
        </p:nvSpPr>
        <p:spPr>
          <a:xfrm>
            <a:off x="3151900" y="1636350"/>
            <a:ext cx="4150500" cy="1302300"/>
          </a:xfrm>
          <a:prstGeom prst="rect">
            <a:avLst/>
          </a:prstGeom>
          <a:ln>
            <a:noFill/>
          </a:ln>
        </p:spPr>
        <p:txBody>
          <a:bodyPr spcFirstLastPara="1" wrap="square" lIns="91425" tIns="91425" rIns="91425" bIns="91425" anchor="b"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4" name="Google Shape;34;p3"/>
          <p:cNvSpPr txBox="1">
            <a:spLocks noGrp="1"/>
          </p:cNvSpPr>
          <p:nvPr>
            <p:ph type="title" idx="2" hasCustomPrompt="1"/>
          </p:nvPr>
        </p:nvSpPr>
        <p:spPr>
          <a:xfrm>
            <a:off x="1475300" y="1690000"/>
            <a:ext cx="1294500" cy="908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48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5" name="Google Shape;35;p3"/>
          <p:cNvSpPr txBox="1">
            <a:spLocks noGrp="1"/>
          </p:cNvSpPr>
          <p:nvPr>
            <p:ph type="subTitle" idx="1"/>
          </p:nvPr>
        </p:nvSpPr>
        <p:spPr>
          <a:xfrm>
            <a:off x="3151900" y="3080475"/>
            <a:ext cx="3124800" cy="693000"/>
          </a:xfrm>
          <a:prstGeom prst="rect">
            <a:avLst/>
          </a:prstGeom>
          <a:solidFill>
            <a:schemeClr val="dk2"/>
          </a:solidFill>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8" name="Google Shape;38;p4"/>
          <p:cNvSpPr txBox="1">
            <a:spLocks noGrp="1"/>
          </p:cNvSpPr>
          <p:nvPr>
            <p:ph type="body" idx="1"/>
          </p:nvPr>
        </p:nvSpPr>
        <p:spPr>
          <a:xfrm>
            <a:off x="720000" y="1090525"/>
            <a:ext cx="7704000" cy="422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chemeClr val="accent1"/>
              </a:buClr>
              <a:buSzPts val="1800"/>
              <a:buFont typeface="Darker Grotesque SemiBold"/>
              <a:buChar char="●"/>
              <a:defRPr/>
            </a:lvl1pPr>
            <a:lvl2pPr marL="914400" lvl="1" indent="-317500"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371600" lvl="2" indent="-317500"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1828800" lvl="3" indent="-317500"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2286000" lvl="4" indent="-317500"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2743200" lvl="5" indent="-317500"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3200400" lvl="6" indent="-317500"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3657600" lvl="7" indent="-317500"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4114800" lvl="8" indent="-3175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endParaRPr/>
          </a:p>
        </p:txBody>
      </p:sp>
      <p:sp>
        <p:nvSpPr>
          <p:cNvPr id="39" name="Google Shape;39;p4"/>
          <p:cNvSpPr/>
          <p:nvPr/>
        </p:nvSpPr>
        <p:spPr>
          <a:xfrm>
            <a:off x="7869273" y="-1426102"/>
            <a:ext cx="2352930" cy="2352930"/>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40;p4"/>
          <p:cNvSpPr/>
          <p:nvPr/>
        </p:nvSpPr>
        <p:spPr>
          <a:xfrm rot="-5400000">
            <a:off x="-659310" y="4179469"/>
            <a:ext cx="1686418" cy="729495"/>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1" name="Google Shape;41;p4"/>
          <p:cNvGrpSpPr/>
          <p:nvPr/>
        </p:nvGrpSpPr>
        <p:grpSpPr>
          <a:xfrm>
            <a:off x="7522021" y="-362459"/>
            <a:ext cx="901968" cy="901968"/>
            <a:chOff x="1350404" y="-3124999"/>
            <a:chExt cx="1570279" cy="1570279"/>
          </a:xfrm>
        </p:grpSpPr>
        <p:sp>
          <p:nvSpPr>
            <p:cNvPr id="42" name="Google Shape;42;p4"/>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43;p4"/>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44;p4"/>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45;p4"/>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6" name="Google Shape;46;p4"/>
          <p:cNvSpPr/>
          <p:nvPr/>
        </p:nvSpPr>
        <p:spPr>
          <a:xfrm rot="-2700000">
            <a:off x="222460" y="1983532"/>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47;p4"/>
          <p:cNvSpPr/>
          <p:nvPr/>
        </p:nvSpPr>
        <p:spPr>
          <a:xfrm rot="-2700000">
            <a:off x="2415394" y="4841061"/>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48;p4"/>
          <p:cNvSpPr/>
          <p:nvPr/>
        </p:nvSpPr>
        <p:spPr>
          <a:xfrm rot="-2700000">
            <a:off x="4455852" y="138829"/>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49;p4"/>
          <p:cNvSpPr/>
          <p:nvPr/>
        </p:nvSpPr>
        <p:spPr>
          <a:xfrm>
            <a:off x="215272" y="268180"/>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50;p4"/>
          <p:cNvSpPr/>
          <p:nvPr/>
        </p:nvSpPr>
        <p:spPr>
          <a:xfrm rot="-2700000">
            <a:off x="8781469" y="2116186"/>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8"/>
        <p:cNvGrpSpPr/>
        <p:nvPr/>
      </p:nvGrpSpPr>
      <p:grpSpPr>
        <a:xfrm>
          <a:off x="0" y="0"/>
          <a:ext cx="0" cy="0"/>
          <a:chOff x="0" y="0"/>
          <a:chExt cx="0" cy="0"/>
        </a:xfrm>
      </p:grpSpPr>
      <p:sp>
        <p:nvSpPr>
          <p:cNvPr id="69" name="Google Shape;69;p6"/>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0" name="Google Shape;70;p6"/>
          <p:cNvSpPr/>
          <p:nvPr/>
        </p:nvSpPr>
        <p:spPr>
          <a:xfrm>
            <a:off x="8098375" y="-3463"/>
            <a:ext cx="2085177" cy="901987"/>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71;p6"/>
          <p:cNvSpPr/>
          <p:nvPr/>
        </p:nvSpPr>
        <p:spPr>
          <a:xfrm rot="-2700000">
            <a:off x="233547" y="141709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7CE1C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72;p6"/>
          <p:cNvSpPr/>
          <p:nvPr/>
        </p:nvSpPr>
        <p:spPr>
          <a:xfrm rot="-2700000">
            <a:off x="2722381" y="146500"/>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BD0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 name="Google Shape;73;p6"/>
          <p:cNvSpPr/>
          <p:nvPr/>
        </p:nvSpPr>
        <p:spPr>
          <a:xfrm rot="-2700000">
            <a:off x="8554690" y="4827704"/>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 name="Google Shape;74;p6"/>
          <p:cNvSpPr/>
          <p:nvPr/>
        </p:nvSpPr>
        <p:spPr>
          <a:xfrm rot="-2700000">
            <a:off x="8674698" y="203390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 name="Google Shape;75;p6"/>
          <p:cNvSpPr/>
          <p:nvPr/>
        </p:nvSpPr>
        <p:spPr>
          <a:xfrm rot="-2700000">
            <a:off x="4347506" y="5021861"/>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 name="Google Shape;76;p6"/>
          <p:cNvSpPr/>
          <p:nvPr/>
        </p:nvSpPr>
        <p:spPr>
          <a:xfrm>
            <a:off x="2012760" y="4873730"/>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77;p6"/>
          <p:cNvSpPr/>
          <p:nvPr/>
        </p:nvSpPr>
        <p:spPr>
          <a:xfrm>
            <a:off x="-1783369" y="2199618"/>
            <a:ext cx="2306972" cy="2306972"/>
          </a:xfrm>
          <a:custGeom>
            <a:avLst/>
            <a:gdLst/>
            <a:ahLst/>
            <a:cxnLst/>
            <a:rect l="l" t="t" r="r" b="b"/>
            <a:pathLst>
              <a:path w="2306972" h="2306972" extrusionOk="0">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8"/>
        <p:cNvGrpSpPr/>
        <p:nvPr/>
      </p:nvGrpSpPr>
      <p:grpSpPr>
        <a:xfrm>
          <a:off x="0" y="0"/>
          <a:ext cx="0" cy="0"/>
          <a:chOff x="0" y="0"/>
          <a:chExt cx="0" cy="0"/>
        </a:xfrm>
      </p:grpSpPr>
      <p:sp>
        <p:nvSpPr>
          <p:cNvPr id="79" name="Google Shape;79;p7"/>
          <p:cNvSpPr/>
          <p:nvPr/>
        </p:nvSpPr>
        <p:spPr>
          <a:xfrm>
            <a:off x="-752503" y="-740378"/>
            <a:ext cx="2087690" cy="2087690"/>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80;p7"/>
          <p:cNvSpPr/>
          <p:nvPr/>
        </p:nvSpPr>
        <p:spPr>
          <a:xfrm rot="5400000">
            <a:off x="7832550" y="4153000"/>
            <a:ext cx="2085177" cy="901987"/>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81;p7"/>
          <p:cNvSpPr/>
          <p:nvPr/>
        </p:nvSpPr>
        <p:spPr>
          <a:xfrm rot="-2700000">
            <a:off x="8650260" y="50555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 name="Google Shape;82;p7"/>
          <p:cNvSpPr/>
          <p:nvPr/>
        </p:nvSpPr>
        <p:spPr>
          <a:xfrm rot="-2700000">
            <a:off x="8806494" y="3136661"/>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 name="Google Shape;83;p7"/>
          <p:cNvSpPr/>
          <p:nvPr/>
        </p:nvSpPr>
        <p:spPr>
          <a:xfrm>
            <a:off x="227347" y="2684605"/>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84;p7"/>
          <p:cNvSpPr/>
          <p:nvPr/>
        </p:nvSpPr>
        <p:spPr>
          <a:xfrm rot="-2700000">
            <a:off x="1901219" y="4834000"/>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BD0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85;p7"/>
          <p:cNvSpPr/>
          <p:nvPr/>
        </p:nvSpPr>
        <p:spPr>
          <a:xfrm rot="-2700000">
            <a:off x="4190627" y="216179"/>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86;p7"/>
          <p:cNvSpPr txBox="1">
            <a:spLocks noGrp="1"/>
          </p:cNvSpPr>
          <p:nvPr>
            <p:ph type="title"/>
          </p:nvPr>
        </p:nvSpPr>
        <p:spPr>
          <a:xfrm>
            <a:off x="4280550" y="826000"/>
            <a:ext cx="3936300" cy="1158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7" name="Google Shape;87;p7"/>
          <p:cNvSpPr txBox="1">
            <a:spLocks noGrp="1"/>
          </p:cNvSpPr>
          <p:nvPr>
            <p:ph type="body" idx="1"/>
          </p:nvPr>
        </p:nvSpPr>
        <p:spPr>
          <a:xfrm>
            <a:off x="4280550" y="2093200"/>
            <a:ext cx="3936300" cy="2224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lnSpc>
                <a:spcPct val="115000"/>
              </a:lnSpc>
              <a:spcBef>
                <a:spcPts val="160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88" name="Google Shape;88;p7"/>
          <p:cNvSpPr>
            <a:spLocks noGrp="1"/>
          </p:cNvSpPr>
          <p:nvPr>
            <p:ph type="pic" idx="2"/>
          </p:nvPr>
        </p:nvSpPr>
        <p:spPr>
          <a:xfrm>
            <a:off x="726450" y="539500"/>
            <a:ext cx="3232800" cy="4064400"/>
          </a:xfrm>
          <a:prstGeom prst="round1Rect">
            <a:avLst>
              <a:gd name="adj" fmla="val 24250"/>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9"/>
        <p:cNvGrpSpPr/>
        <p:nvPr/>
      </p:nvGrpSpPr>
      <p:grpSpPr>
        <a:xfrm>
          <a:off x="0" y="0"/>
          <a:ext cx="0" cy="0"/>
          <a:chOff x="0" y="0"/>
          <a:chExt cx="0" cy="0"/>
        </a:xfrm>
      </p:grpSpPr>
      <p:sp>
        <p:nvSpPr>
          <p:cNvPr id="90" name="Google Shape;90;p8"/>
          <p:cNvSpPr txBox="1">
            <a:spLocks noGrp="1"/>
          </p:cNvSpPr>
          <p:nvPr>
            <p:ph type="title"/>
          </p:nvPr>
        </p:nvSpPr>
        <p:spPr>
          <a:xfrm>
            <a:off x="895850" y="1517700"/>
            <a:ext cx="4740900" cy="2108100"/>
          </a:xfrm>
          <a:prstGeom prst="rect">
            <a:avLst/>
          </a:prstGeom>
          <a:ln>
            <a:noFill/>
          </a:ln>
        </p:spPr>
        <p:txBody>
          <a:bodyPr spcFirstLastPara="1" wrap="square" lIns="91425" tIns="91425" rIns="91425" bIns="91425" anchor="ctr" anchorCtr="0">
            <a:noAutofit/>
          </a:bodyPr>
          <a:lstStyle>
            <a:lvl1pPr lvl="0">
              <a:spcBef>
                <a:spcPts val="0"/>
              </a:spcBef>
              <a:spcAft>
                <a:spcPts val="0"/>
              </a:spcAft>
              <a:buSzPts val="6000"/>
              <a:buNone/>
              <a:defRPr sz="5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91" name="Google Shape;91;p8"/>
          <p:cNvSpPr/>
          <p:nvPr/>
        </p:nvSpPr>
        <p:spPr>
          <a:xfrm>
            <a:off x="6985175" y="3093975"/>
            <a:ext cx="2823515" cy="2823515"/>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 name="Google Shape;92;p8"/>
          <p:cNvSpPr/>
          <p:nvPr/>
        </p:nvSpPr>
        <p:spPr>
          <a:xfrm>
            <a:off x="-1120800" y="-666912"/>
            <a:ext cx="2412822" cy="2412822"/>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 name="Google Shape;93;p8"/>
          <p:cNvSpPr/>
          <p:nvPr/>
        </p:nvSpPr>
        <p:spPr>
          <a:xfrm>
            <a:off x="150782" y="4603993"/>
            <a:ext cx="2306972" cy="2306972"/>
          </a:xfrm>
          <a:custGeom>
            <a:avLst/>
            <a:gdLst/>
            <a:ahLst/>
            <a:cxnLst/>
            <a:rect l="l" t="t" r="r" b="b"/>
            <a:pathLst>
              <a:path w="2306972" h="2306972" extrusionOk="0">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4" name="Google Shape;94;p8"/>
          <p:cNvGrpSpPr/>
          <p:nvPr/>
        </p:nvGrpSpPr>
        <p:grpSpPr>
          <a:xfrm>
            <a:off x="971933" y="-362459"/>
            <a:ext cx="901968" cy="901968"/>
            <a:chOff x="1350404" y="-3124999"/>
            <a:chExt cx="1570279" cy="1570279"/>
          </a:xfrm>
        </p:grpSpPr>
        <p:sp>
          <p:nvSpPr>
            <p:cNvPr id="95" name="Google Shape;95;p8"/>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 name="Google Shape;96;p8"/>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 name="Google Shape;97;p8"/>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 name="Google Shape;98;p8"/>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99" name="Google Shape;99;p8"/>
          <p:cNvSpPr/>
          <p:nvPr/>
        </p:nvSpPr>
        <p:spPr>
          <a:xfrm rot="-2700000">
            <a:off x="6424797" y="4701822"/>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7CE1C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 name="Google Shape;100;p8"/>
          <p:cNvSpPr/>
          <p:nvPr/>
        </p:nvSpPr>
        <p:spPr>
          <a:xfrm rot="-2700000">
            <a:off x="253681" y="2719075"/>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BD0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 name="Google Shape;101;p8"/>
          <p:cNvSpPr/>
          <p:nvPr/>
        </p:nvSpPr>
        <p:spPr>
          <a:xfrm rot="-2700000">
            <a:off x="4685702" y="201779"/>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 name="Google Shape;102;p8"/>
          <p:cNvSpPr/>
          <p:nvPr/>
        </p:nvSpPr>
        <p:spPr>
          <a:xfrm rot="-2700000">
            <a:off x="8557898" y="47085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 name="Google Shape;103;p8"/>
          <p:cNvSpPr/>
          <p:nvPr/>
        </p:nvSpPr>
        <p:spPr>
          <a:xfrm rot="-2700000">
            <a:off x="2831331" y="4799061"/>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 name="Google Shape;104;p8"/>
          <p:cNvSpPr/>
          <p:nvPr/>
        </p:nvSpPr>
        <p:spPr>
          <a:xfrm>
            <a:off x="8723635" y="2387705"/>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 name="Google Shape;105;p8"/>
          <p:cNvSpPr/>
          <p:nvPr/>
        </p:nvSpPr>
        <p:spPr>
          <a:xfrm>
            <a:off x="5982401" y="-1443476"/>
            <a:ext cx="1810973" cy="1810973"/>
          </a:xfrm>
          <a:custGeom>
            <a:avLst/>
            <a:gdLst/>
            <a:ahLst/>
            <a:cxnLst/>
            <a:rect l="l" t="t" r="r" b="b"/>
            <a:pathLst>
              <a:path w="2306972" h="2306972" extrusionOk="0">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0"/>
        <p:cNvGrpSpPr/>
        <p:nvPr/>
      </p:nvGrpSpPr>
      <p:grpSpPr>
        <a:xfrm>
          <a:off x="0" y="0"/>
          <a:ext cx="0" cy="0"/>
          <a:chOff x="0" y="0"/>
          <a:chExt cx="0" cy="0"/>
        </a:xfrm>
      </p:grpSpPr>
      <p:sp>
        <p:nvSpPr>
          <p:cNvPr id="121" name="Google Shape;121;p11"/>
          <p:cNvSpPr txBox="1">
            <a:spLocks noGrp="1"/>
          </p:cNvSpPr>
          <p:nvPr>
            <p:ph type="title" hasCustomPrompt="1"/>
          </p:nvPr>
        </p:nvSpPr>
        <p:spPr>
          <a:xfrm>
            <a:off x="4811950" y="1776350"/>
            <a:ext cx="3095400" cy="1024200"/>
          </a:xfrm>
          <a:prstGeom prst="rect">
            <a:avLst/>
          </a:prstGeom>
        </p:spPr>
        <p:txBody>
          <a:bodyPr spcFirstLastPara="1" wrap="square" lIns="91425" tIns="91425" rIns="91425" bIns="91425" anchor="ctr" anchorCtr="0">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2" name="Google Shape;122;p11"/>
          <p:cNvSpPr txBox="1">
            <a:spLocks noGrp="1"/>
          </p:cNvSpPr>
          <p:nvPr>
            <p:ph type="subTitle" idx="1"/>
          </p:nvPr>
        </p:nvSpPr>
        <p:spPr>
          <a:xfrm>
            <a:off x="4811950" y="2864350"/>
            <a:ext cx="3095400" cy="502800"/>
          </a:xfrm>
          <a:prstGeom prst="rect">
            <a:avLst/>
          </a:prstGeom>
          <a:solidFill>
            <a:schemeClr val="dk2"/>
          </a:solidFill>
          <a:ln>
            <a:noFill/>
          </a:ln>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23" name="Google Shape;123;p11"/>
          <p:cNvSpPr/>
          <p:nvPr/>
        </p:nvSpPr>
        <p:spPr>
          <a:xfrm>
            <a:off x="-858351" y="1447575"/>
            <a:ext cx="2352930" cy="2352930"/>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 name="Google Shape;124;p11"/>
          <p:cNvSpPr/>
          <p:nvPr/>
        </p:nvSpPr>
        <p:spPr>
          <a:xfrm rot="10800000">
            <a:off x="5910838" y="4241512"/>
            <a:ext cx="2085177" cy="901987"/>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 name="Google Shape;125;p11"/>
          <p:cNvSpPr/>
          <p:nvPr/>
        </p:nvSpPr>
        <p:spPr>
          <a:xfrm>
            <a:off x="2888113" y="12"/>
            <a:ext cx="2085177" cy="901987"/>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 name="Google Shape;126;p11"/>
          <p:cNvSpPr/>
          <p:nvPr/>
        </p:nvSpPr>
        <p:spPr>
          <a:xfrm>
            <a:off x="7996032" y="-1493732"/>
            <a:ext cx="2306972" cy="2306972"/>
          </a:xfrm>
          <a:custGeom>
            <a:avLst/>
            <a:gdLst/>
            <a:ahLst/>
            <a:cxnLst/>
            <a:rect l="l" t="t" r="r" b="b"/>
            <a:pathLst>
              <a:path w="2306972" h="2306972" extrusionOk="0">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 name="Google Shape;127;p11"/>
          <p:cNvSpPr/>
          <p:nvPr/>
        </p:nvSpPr>
        <p:spPr>
          <a:xfrm>
            <a:off x="-1137174" y="539498"/>
            <a:ext cx="1666787" cy="1666787"/>
          </a:xfrm>
          <a:custGeom>
            <a:avLst/>
            <a:gdLst/>
            <a:ahLst/>
            <a:cxnLst/>
            <a:rect l="l" t="t" r="r" b="b"/>
            <a:pathLst>
              <a:path w="2306972" h="2306972" extrusionOk="0">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 name="Google Shape;128;p11"/>
          <p:cNvSpPr/>
          <p:nvPr/>
        </p:nvSpPr>
        <p:spPr>
          <a:xfrm rot="-2700000">
            <a:off x="1710897" y="21904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7CE1C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 name="Google Shape;129;p11"/>
          <p:cNvSpPr/>
          <p:nvPr/>
        </p:nvSpPr>
        <p:spPr>
          <a:xfrm rot="-2700000">
            <a:off x="3529106" y="4758000"/>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BD0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 name="Google Shape;130;p11"/>
          <p:cNvSpPr/>
          <p:nvPr/>
        </p:nvSpPr>
        <p:spPr>
          <a:xfrm rot="-2700000">
            <a:off x="8797665" y="2634829"/>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 name="Google Shape;131;p11"/>
          <p:cNvSpPr/>
          <p:nvPr/>
        </p:nvSpPr>
        <p:spPr>
          <a:xfrm rot="-2700000">
            <a:off x="313323" y="4438282"/>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 name="Google Shape;132;p11"/>
          <p:cNvSpPr/>
          <p:nvPr/>
        </p:nvSpPr>
        <p:spPr>
          <a:xfrm rot="-2700000">
            <a:off x="6748206" y="219061"/>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 name="Google Shape;133;p11"/>
          <p:cNvSpPr/>
          <p:nvPr/>
        </p:nvSpPr>
        <p:spPr>
          <a:xfrm>
            <a:off x="8528260" y="4632655"/>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34"/>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
  <p:cSld name="CUSTOM_1">
    <p:spTree>
      <p:nvGrpSpPr>
        <p:cNvPr id="1" name="Shape 203"/>
        <p:cNvGrpSpPr/>
        <p:nvPr/>
      </p:nvGrpSpPr>
      <p:grpSpPr>
        <a:xfrm>
          <a:off x="0" y="0"/>
          <a:ext cx="0" cy="0"/>
          <a:chOff x="0" y="0"/>
          <a:chExt cx="0" cy="0"/>
        </a:xfrm>
      </p:grpSpPr>
      <p:sp>
        <p:nvSpPr>
          <p:cNvPr id="204" name="Google Shape;204;p19"/>
          <p:cNvSpPr txBox="1">
            <a:spLocks noGrp="1"/>
          </p:cNvSpPr>
          <p:nvPr>
            <p:ph type="subTitle" idx="1"/>
          </p:nvPr>
        </p:nvSpPr>
        <p:spPr>
          <a:xfrm>
            <a:off x="4938050" y="2727754"/>
            <a:ext cx="3346200" cy="867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205" name="Google Shape;205;p19"/>
          <p:cNvSpPr txBox="1">
            <a:spLocks noGrp="1"/>
          </p:cNvSpPr>
          <p:nvPr>
            <p:ph type="title"/>
          </p:nvPr>
        </p:nvSpPr>
        <p:spPr>
          <a:xfrm>
            <a:off x="7151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r" rtl="0">
              <a:spcBef>
                <a:spcPts val="0"/>
              </a:spcBef>
              <a:spcAft>
                <a:spcPts val="0"/>
              </a:spcAft>
              <a:buSzPts val="3500"/>
              <a:buNone/>
              <a:defRPr/>
            </a:lvl2pPr>
            <a:lvl3pPr lvl="2" algn="r" rtl="0">
              <a:spcBef>
                <a:spcPts val="0"/>
              </a:spcBef>
              <a:spcAft>
                <a:spcPts val="0"/>
              </a:spcAft>
              <a:buSzPts val="3500"/>
              <a:buNone/>
              <a:defRPr/>
            </a:lvl3pPr>
            <a:lvl4pPr lvl="3" algn="r" rtl="0">
              <a:spcBef>
                <a:spcPts val="0"/>
              </a:spcBef>
              <a:spcAft>
                <a:spcPts val="0"/>
              </a:spcAft>
              <a:buSzPts val="3500"/>
              <a:buNone/>
              <a:defRPr/>
            </a:lvl4pPr>
            <a:lvl5pPr lvl="4" algn="r" rtl="0">
              <a:spcBef>
                <a:spcPts val="0"/>
              </a:spcBef>
              <a:spcAft>
                <a:spcPts val="0"/>
              </a:spcAft>
              <a:buSzPts val="3500"/>
              <a:buNone/>
              <a:defRPr/>
            </a:lvl5pPr>
            <a:lvl6pPr lvl="5" algn="r" rtl="0">
              <a:spcBef>
                <a:spcPts val="0"/>
              </a:spcBef>
              <a:spcAft>
                <a:spcPts val="0"/>
              </a:spcAft>
              <a:buSzPts val="3500"/>
              <a:buNone/>
              <a:defRPr/>
            </a:lvl6pPr>
            <a:lvl7pPr lvl="6" algn="r" rtl="0">
              <a:spcBef>
                <a:spcPts val="0"/>
              </a:spcBef>
              <a:spcAft>
                <a:spcPts val="0"/>
              </a:spcAft>
              <a:buSzPts val="3500"/>
              <a:buNone/>
              <a:defRPr/>
            </a:lvl7pPr>
            <a:lvl8pPr lvl="7" algn="r" rtl="0">
              <a:spcBef>
                <a:spcPts val="0"/>
              </a:spcBef>
              <a:spcAft>
                <a:spcPts val="0"/>
              </a:spcAft>
              <a:buSzPts val="3500"/>
              <a:buNone/>
              <a:defRPr/>
            </a:lvl8pPr>
            <a:lvl9pPr lvl="8" algn="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03"/>
        <p:cNvGrpSpPr/>
        <p:nvPr/>
      </p:nvGrpSpPr>
      <p:grpSpPr>
        <a:xfrm>
          <a:off x="0" y="0"/>
          <a:ext cx="0" cy="0"/>
          <a:chOff x="0" y="0"/>
          <a:chExt cx="0" cy="0"/>
        </a:xfrm>
      </p:grpSpPr>
      <p:sp>
        <p:nvSpPr>
          <p:cNvPr id="304" name="Google Shape;304;p25"/>
          <p:cNvSpPr txBox="1">
            <a:spLocks noGrp="1"/>
          </p:cNvSpPr>
          <p:nvPr>
            <p:ph type="title"/>
          </p:nvPr>
        </p:nvSpPr>
        <p:spPr>
          <a:xfrm>
            <a:off x="2347950" y="1147088"/>
            <a:ext cx="4448100" cy="1176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7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5" name="Google Shape;305;p25"/>
          <p:cNvSpPr txBox="1">
            <a:spLocks noGrp="1"/>
          </p:cNvSpPr>
          <p:nvPr>
            <p:ph type="subTitle" idx="1"/>
          </p:nvPr>
        </p:nvSpPr>
        <p:spPr>
          <a:xfrm>
            <a:off x="2347900" y="2503800"/>
            <a:ext cx="4448100" cy="112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6" name="Google Shape;306;p25"/>
          <p:cNvSpPr/>
          <p:nvPr/>
        </p:nvSpPr>
        <p:spPr>
          <a:xfrm>
            <a:off x="-1019876" y="1643250"/>
            <a:ext cx="2293037" cy="2293037"/>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 name="Google Shape;307;p25"/>
          <p:cNvSpPr/>
          <p:nvPr/>
        </p:nvSpPr>
        <p:spPr>
          <a:xfrm>
            <a:off x="7311550" y="-1003500"/>
            <a:ext cx="2455603" cy="2455603"/>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 name="Google Shape;308;p25"/>
          <p:cNvSpPr/>
          <p:nvPr/>
        </p:nvSpPr>
        <p:spPr>
          <a:xfrm rot="10800000">
            <a:off x="7044900" y="4330787"/>
            <a:ext cx="2085177" cy="901987"/>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 name="Google Shape;309;p25"/>
          <p:cNvSpPr/>
          <p:nvPr/>
        </p:nvSpPr>
        <p:spPr>
          <a:xfrm>
            <a:off x="-691818" y="-1638807"/>
            <a:ext cx="2306972" cy="2306972"/>
          </a:xfrm>
          <a:custGeom>
            <a:avLst/>
            <a:gdLst/>
            <a:ahLst/>
            <a:cxnLst/>
            <a:rect l="l" t="t" r="r" b="b"/>
            <a:pathLst>
              <a:path w="2306972" h="2306972" extrusionOk="0">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 name="Google Shape;310;p25"/>
          <p:cNvSpPr/>
          <p:nvPr/>
        </p:nvSpPr>
        <p:spPr>
          <a:xfrm>
            <a:off x="8454632" y="3783118"/>
            <a:ext cx="2306972" cy="2306972"/>
          </a:xfrm>
          <a:custGeom>
            <a:avLst/>
            <a:gdLst/>
            <a:ahLst/>
            <a:cxnLst/>
            <a:rect l="l" t="t" r="r" b="b"/>
            <a:pathLst>
              <a:path w="2306972" h="2306972" extrusionOk="0">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 name="Google Shape;311;p25"/>
          <p:cNvSpPr/>
          <p:nvPr/>
        </p:nvSpPr>
        <p:spPr>
          <a:xfrm rot="-2700000">
            <a:off x="1860872" y="231772"/>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7CE1C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 name="Google Shape;312;p25"/>
          <p:cNvSpPr/>
          <p:nvPr/>
        </p:nvSpPr>
        <p:spPr>
          <a:xfrm rot="-2700000">
            <a:off x="6009081" y="155650"/>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BD0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25"/>
          <p:cNvSpPr/>
          <p:nvPr/>
        </p:nvSpPr>
        <p:spPr>
          <a:xfrm rot="-2700000">
            <a:off x="6676290" y="4713129"/>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25"/>
          <p:cNvSpPr/>
          <p:nvPr/>
        </p:nvSpPr>
        <p:spPr>
          <a:xfrm rot="-2700000">
            <a:off x="2182223" y="481110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25"/>
          <p:cNvSpPr/>
          <p:nvPr/>
        </p:nvSpPr>
        <p:spPr>
          <a:xfrm rot="-2700000">
            <a:off x="8738506" y="2026886"/>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25"/>
          <p:cNvSpPr/>
          <p:nvPr/>
        </p:nvSpPr>
        <p:spPr>
          <a:xfrm>
            <a:off x="401822" y="4544155"/>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25"/>
          <p:cNvSpPr txBox="1"/>
          <p:nvPr/>
        </p:nvSpPr>
        <p:spPr>
          <a:xfrm>
            <a:off x="2099100" y="3774575"/>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a:solidFill>
                  <a:schemeClr val="dk1"/>
                </a:solidFill>
                <a:latin typeface="Inter"/>
                <a:ea typeface="Inter"/>
                <a:cs typeface="Inter"/>
                <a:sym typeface="Inter"/>
              </a:rPr>
              <a:t>CREDITS: This presentation template was created by </a:t>
            </a:r>
            <a:r>
              <a:rPr lang="en" sz="1000" b="1" u="sng">
                <a:solidFill>
                  <a:schemeClr val="dk1"/>
                </a:solidFill>
                <a:latin typeface="Inter"/>
                <a:ea typeface="Inter"/>
                <a:cs typeface="Inter"/>
                <a:sym typeface="Inter"/>
                <a:hlinkClick r:id="rId2">
                  <a:extLst>
                    <a:ext uri="{A12FA001-AC4F-418D-AE19-62706E023703}">
                      <ahyp:hlinkClr xmlns:ahyp="http://schemas.microsoft.com/office/drawing/2018/hyperlinkcolor" val="tx"/>
                    </a:ext>
                  </a:extLst>
                </a:hlinkClick>
              </a:rPr>
              <a:t>Slidesgo</a:t>
            </a:r>
            <a:r>
              <a:rPr lang="en" sz="1000">
                <a:solidFill>
                  <a:schemeClr val="dk1"/>
                </a:solidFill>
                <a:latin typeface="Inter"/>
                <a:ea typeface="Inter"/>
                <a:cs typeface="Inter"/>
                <a:sym typeface="Inter"/>
              </a:rPr>
              <a:t>, and includes icons by </a:t>
            </a:r>
            <a:r>
              <a:rPr lang="en" sz="1000" b="1" u="sng">
                <a:solidFill>
                  <a:schemeClr val="dk1"/>
                </a:solidFill>
                <a:latin typeface="Inter"/>
                <a:ea typeface="Inter"/>
                <a:cs typeface="Inter"/>
                <a:sym typeface="Inter"/>
                <a:hlinkClick r:id="rId3">
                  <a:extLst>
                    <a:ext uri="{A12FA001-AC4F-418D-AE19-62706E023703}">
                      <ahyp:hlinkClr xmlns:ahyp="http://schemas.microsoft.com/office/drawing/2018/hyperlinkcolor" val="tx"/>
                    </a:ext>
                  </a:extLst>
                </a:hlinkClick>
              </a:rPr>
              <a:t>Flaticon</a:t>
            </a:r>
            <a:r>
              <a:rPr lang="en" sz="1000">
                <a:solidFill>
                  <a:schemeClr val="dk1"/>
                </a:solidFill>
                <a:latin typeface="Inter"/>
                <a:ea typeface="Inter"/>
                <a:cs typeface="Inter"/>
                <a:sym typeface="Inter"/>
              </a:rPr>
              <a:t>, and infographics &amp; images by </a:t>
            </a:r>
            <a:r>
              <a:rPr lang="en" sz="1000" b="1" u="sng">
                <a:solidFill>
                  <a:schemeClr val="dk1"/>
                </a:solidFill>
                <a:latin typeface="Inter"/>
                <a:ea typeface="Inter"/>
                <a:cs typeface="Inter"/>
                <a:sym typeface="Inter"/>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Inter"/>
                <a:ea typeface="Inter"/>
                <a:cs typeface="Inter"/>
                <a:sym typeface="Inter"/>
              </a:rPr>
              <a:t> </a:t>
            </a:r>
            <a:endParaRPr sz="1000" u="sng">
              <a:solidFill>
                <a:schemeClr val="dk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18"/>
        <p:cNvGrpSpPr/>
        <p:nvPr/>
      </p:nvGrpSpPr>
      <p:grpSpPr>
        <a:xfrm>
          <a:off x="0" y="0"/>
          <a:ext cx="0" cy="0"/>
          <a:chOff x="0" y="0"/>
          <a:chExt cx="0" cy="0"/>
        </a:xfrm>
      </p:grpSpPr>
      <p:sp>
        <p:nvSpPr>
          <p:cNvPr id="319" name="Google Shape;319;p26"/>
          <p:cNvSpPr/>
          <p:nvPr/>
        </p:nvSpPr>
        <p:spPr>
          <a:xfrm>
            <a:off x="-753977" y="3910975"/>
            <a:ext cx="2489827" cy="2489827"/>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20" name="Google Shape;320;p26"/>
          <p:cNvGrpSpPr/>
          <p:nvPr/>
        </p:nvGrpSpPr>
        <p:grpSpPr>
          <a:xfrm>
            <a:off x="295975" y="4188655"/>
            <a:ext cx="1694813" cy="830678"/>
            <a:chOff x="-215300" y="3851305"/>
            <a:chExt cx="1694813" cy="830678"/>
          </a:xfrm>
        </p:grpSpPr>
        <p:sp>
          <p:nvSpPr>
            <p:cNvPr id="321" name="Google Shape;321;p26"/>
            <p:cNvSpPr/>
            <p:nvPr/>
          </p:nvSpPr>
          <p:spPr>
            <a:xfrm>
              <a:off x="861887" y="3947362"/>
              <a:ext cx="215345" cy="42222"/>
            </a:xfrm>
            <a:custGeom>
              <a:avLst/>
              <a:gdLst/>
              <a:ahLst/>
              <a:cxnLst/>
              <a:rect l="l" t="t" r="r" b="b"/>
              <a:pathLst>
                <a:path w="386269" h="75734" extrusionOk="0">
                  <a:moveTo>
                    <a:pt x="0" y="0"/>
                  </a:moveTo>
                  <a:lnTo>
                    <a:pt x="386270" y="0"/>
                  </a:lnTo>
                  <a:lnTo>
                    <a:pt x="386270" y="75735"/>
                  </a:lnTo>
                  <a:lnTo>
                    <a:pt x="0" y="7573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22" name="Google Shape;322;p26"/>
            <p:cNvGrpSpPr/>
            <p:nvPr/>
          </p:nvGrpSpPr>
          <p:grpSpPr>
            <a:xfrm>
              <a:off x="861887" y="4031521"/>
              <a:ext cx="137882" cy="60495"/>
              <a:chOff x="1949580" y="3551527"/>
              <a:chExt cx="247410" cy="108551"/>
            </a:xfrm>
          </p:grpSpPr>
          <p:sp>
            <p:nvSpPr>
              <p:cNvPr id="323" name="Google Shape;323;p26"/>
              <p:cNvSpPr/>
              <p:nvPr/>
            </p:nvSpPr>
            <p:spPr>
              <a:xfrm>
                <a:off x="1949580" y="3551527"/>
                <a:ext cx="247410" cy="7596"/>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 name="Google Shape;324;p26"/>
              <p:cNvSpPr/>
              <p:nvPr/>
            </p:nvSpPr>
            <p:spPr>
              <a:xfrm>
                <a:off x="1949580" y="3601966"/>
                <a:ext cx="247410" cy="7596"/>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 name="Google Shape;325;p26"/>
              <p:cNvSpPr/>
              <p:nvPr/>
            </p:nvSpPr>
            <p:spPr>
              <a:xfrm>
                <a:off x="1949580" y="3652482"/>
                <a:ext cx="247410" cy="7596"/>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26" name="Google Shape;326;p26"/>
            <p:cNvSpPr/>
            <p:nvPr/>
          </p:nvSpPr>
          <p:spPr>
            <a:xfrm>
              <a:off x="-85801" y="4070172"/>
              <a:ext cx="105745" cy="611734"/>
            </a:xfrm>
            <a:custGeom>
              <a:avLst/>
              <a:gdLst/>
              <a:ahLst/>
              <a:cxnLst/>
              <a:rect l="l" t="t" r="r" b="b"/>
              <a:pathLst>
                <a:path w="189678" h="1097280" extrusionOk="0">
                  <a:moveTo>
                    <a:pt x="0" y="0"/>
                  </a:moveTo>
                  <a:lnTo>
                    <a:pt x="189679" y="0"/>
                  </a:lnTo>
                  <a:lnTo>
                    <a:pt x="189679" y="1097280"/>
                  </a:lnTo>
                  <a:lnTo>
                    <a:pt x="0" y="1097280"/>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26"/>
            <p:cNvSpPr/>
            <p:nvPr/>
          </p:nvSpPr>
          <p:spPr>
            <a:xfrm>
              <a:off x="104109" y="4375950"/>
              <a:ext cx="105745" cy="305846"/>
            </a:xfrm>
            <a:custGeom>
              <a:avLst/>
              <a:gdLst/>
              <a:ahLst/>
              <a:cxnLst/>
              <a:rect l="l" t="t" r="r" b="b"/>
              <a:pathLst>
                <a:path w="189678" h="548602" extrusionOk="0">
                  <a:moveTo>
                    <a:pt x="0" y="0"/>
                  </a:moveTo>
                  <a:lnTo>
                    <a:pt x="189679" y="0"/>
                  </a:lnTo>
                  <a:lnTo>
                    <a:pt x="189679" y="548602"/>
                  </a:lnTo>
                  <a:lnTo>
                    <a:pt x="0" y="54860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26"/>
            <p:cNvSpPr/>
            <p:nvPr/>
          </p:nvSpPr>
          <p:spPr>
            <a:xfrm>
              <a:off x="294020" y="4210340"/>
              <a:ext cx="105745" cy="471557"/>
            </a:xfrm>
            <a:custGeom>
              <a:avLst/>
              <a:gdLst/>
              <a:ahLst/>
              <a:cxnLst/>
              <a:rect l="l" t="t" r="r" b="b"/>
              <a:pathLst>
                <a:path w="189678" h="845843" extrusionOk="0">
                  <a:moveTo>
                    <a:pt x="0" y="0"/>
                  </a:moveTo>
                  <a:lnTo>
                    <a:pt x="189679" y="0"/>
                  </a:lnTo>
                  <a:lnTo>
                    <a:pt x="189679" y="845844"/>
                  </a:lnTo>
                  <a:lnTo>
                    <a:pt x="0" y="845844"/>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26"/>
            <p:cNvSpPr/>
            <p:nvPr/>
          </p:nvSpPr>
          <p:spPr>
            <a:xfrm>
              <a:off x="483972" y="4070172"/>
              <a:ext cx="105745" cy="611734"/>
            </a:xfrm>
            <a:custGeom>
              <a:avLst/>
              <a:gdLst/>
              <a:ahLst/>
              <a:cxnLst/>
              <a:rect l="l" t="t" r="r" b="b"/>
              <a:pathLst>
                <a:path w="189678" h="1097280" extrusionOk="0">
                  <a:moveTo>
                    <a:pt x="0" y="0"/>
                  </a:moveTo>
                  <a:lnTo>
                    <a:pt x="189679" y="0"/>
                  </a:lnTo>
                  <a:lnTo>
                    <a:pt x="189679" y="1097280"/>
                  </a:lnTo>
                  <a:lnTo>
                    <a:pt x="0" y="1097280"/>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 name="Google Shape;330;p26"/>
            <p:cNvSpPr/>
            <p:nvPr/>
          </p:nvSpPr>
          <p:spPr>
            <a:xfrm>
              <a:off x="673882" y="4070172"/>
              <a:ext cx="105745" cy="611734"/>
            </a:xfrm>
            <a:custGeom>
              <a:avLst/>
              <a:gdLst/>
              <a:ahLst/>
              <a:cxnLst/>
              <a:rect l="l" t="t" r="r" b="b"/>
              <a:pathLst>
                <a:path w="189678" h="1097280" extrusionOk="0">
                  <a:moveTo>
                    <a:pt x="0" y="0"/>
                  </a:moveTo>
                  <a:lnTo>
                    <a:pt x="189679" y="0"/>
                  </a:lnTo>
                  <a:lnTo>
                    <a:pt x="189679" y="1097280"/>
                  </a:lnTo>
                  <a:lnTo>
                    <a:pt x="0" y="109728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 name="Google Shape;331;p26"/>
            <p:cNvSpPr/>
            <p:nvPr/>
          </p:nvSpPr>
          <p:spPr>
            <a:xfrm>
              <a:off x="863835" y="4347926"/>
              <a:ext cx="105745" cy="333923"/>
            </a:xfrm>
            <a:custGeom>
              <a:avLst/>
              <a:gdLst/>
              <a:ahLst/>
              <a:cxnLst/>
              <a:rect l="l" t="t" r="r" b="b"/>
              <a:pathLst>
                <a:path w="189678" h="598965" extrusionOk="0">
                  <a:moveTo>
                    <a:pt x="0" y="0"/>
                  </a:moveTo>
                  <a:lnTo>
                    <a:pt x="189679" y="0"/>
                  </a:lnTo>
                  <a:lnTo>
                    <a:pt x="189679" y="598965"/>
                  </a:lnTo>
                  <a:lnTo>
                    <a:pt x="0" y="59896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26"/>
            <p:cNvSpPr/>
            <p:nvPr/>
          </p:nvSpPr>
          <p:spPr>
            <a:xfrm>
              <a:off x="1053745" y="4472133"/>
              <a:ext cx="105745" cy="209628"/>
            </a:xfrm>
            <a:custGeom>
              <a:avLst/>
              <a:gdLst/>
              <a:ahLst/>
              <a:cxnLst/>
              <a:rect l="l" t="t" r="r" b="b"/>
              <a:pathLst>
                <a:path w="189678" h="376014" extrusionOk="0">
                  <a:moveTo>
                    <a:pt x="0" y="0"/>
                  </a:moveTo>
                  <a:lnTo>
                    <a:pt x="189679" y="0"/>
                  </a:lnTo>
                  <a:lnTo>
                    <a:pt x="189679" y="376015"/>
                  </a:lnTo>
                  <a:lnTo>
                    <a:pt x="0" y="37601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 name="Google Shape;333;p26"/>
            <p:cNvSpPr/>
            <p:nvPr/>
          </p:nvSpPr>
          <p:spPr>
            <a:xfrm>
              <a:off x="1243698" y="4070172"/>
              <a:ext cx="105745" cy="611734"/>
            </a:xfrm>
            <a:custGeom>
              <a:avLst/>
              <a:gdLst/>
              <a:ahLst/>
              <a:cxnLst/>
              <a:rect l="l" t="t" r="r" b="b"/>
              <a:pathLst>
                <a:path w="189678" h="1097280" extrusionOk="0">
                  <a:moveTo>
                    <a:pt x="0" y="0"/>
                  </a:moveTo>
                  <a:lnTo>
                    <a:pt x="189679" y="0"/>
                  </a:lnTo>
                  <a:lnTo>
                    <a:pt x="189679" y="1097280"/>
                  </a:lnTo>
                  <a:lnTo>
                    <a:pt x="0" y="1097280"/>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 name="Google Shape;334;p26"/>
            <p:cNvSpPr/>
            <p:nvPr/>
          </p:nvSpPr>
          <p:spPr>
            <a:xfrm>
              <a:off x="-32968" y="4087783"/>
              <a:ext cx="1329975" cy="420315"/>
            </a:xfrm>
            <a:custGeom>
              <a:avLst/>
              <a:gdLst/>
              <a:ahLst/>
              <a:cxnLst/>
              <a:rect l="l" t="t" r="r" b="b"/>
              <a:pathLst>
                <a:path w="2385606" h="753929" extrusionOk="0">
                  <a:moveTo>
                    <a:pt x="0" y="0"/>
                  </a:moveTo>
                  <a:lnTo>
                    <a:pt x="340844" y="555135"/>
                  </a:lnTo>
                  <a:lnTo>
                    <a:pt x="681613" y="262147"/>
                  </a:lnTo>
                  <a:lnTo>
                    <a:pt x="1022381" y="0"/>
                  </a:lnTo>
                  <a:lnTo>
                    <a:pt x="1363225" y="0"/>
                  </a:lnTo>
                  <a:lnTo>
                    <a:pt x="1703993" y="517077"/>
                  </a:lnTo>
                  <a:lnTo>
                    <a:pt x="2044838" y="753929"/>
                  </a:lnTo>
                  <a:lnTo>
                    <a:pt x="2385606"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26"/>
            <p:cNvSpPr/>
            <p:nvPr/>
          </p:nvSpPr>
          <p:spPr>
            <a:xfrm>
              <a:off x="-61417" y="4059335"/>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26"/>
            <p:cNvSpPr/>
            <p:nvPr/>
          </p:nvSpPr>
          <p:spPr>
            <a:xfrm>
              <a:off x="128536" y="4354614"/>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26"/>
            <p:cNvSpPr/>
            <p:nvPr/>
          </p:nvSpPr>
          <p:spPr>
            <a:xfrm>
              <a:off x="318446" y="4189385"/>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 name="Google Shape;338;p26"/>
            <p:cNvSpPr/>
            <p:nvPr/>
          </p:nvSpPr>
          <p:spPr>
            <a:xfrm>
              <a:off x="508356" y="4059335"/>
              <a:ext cx="56917" cy="56917"/>
            </a:xfrm>
            <a:custGeom>
              <a:avLst/>
              <a:gdLst/>
              <a:ahLst/>
              <a:cxnLst/>
              <a:rect l="l" t="t" r="r" b="b"/>
              <a:pathLst>
                <a:path w="102093" h="102093" extrusionOk="0">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 name="Google Shape;339;p26"/>
            <p:cNvSpPr/>
            <p:nvPr/>
          </p:nvSpPr>
          <p:spPr>
            <a:xfrm>
              <a:off x="698309" y="4059335"/>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 name="Google Shape;340;p26"/>
            <p:cNvSpPr/>
            <p:nvPr/>
          </p:nvSpPr>
          <p:spPr>
            <a:xfrm>
              <a:off x="893172" y="4336368"/>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 name="Google Shape;341;p26"/>
            <p:cNvSpPr/>
            <p:nvPr/>
          </p:nvSpPr>
          <p:spPr>
            <a:xfrm>
              <a:off x="1078172" y="4457909"/>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 name="Google Shape;342;p26"/>
            <p:cNvSpPr/>
            <p:nvPr/>
          </p:nvSpPr>
          <p:spPr>
            <a:xfrm>
              <a:off x="1268082" y="4046253"/>
              <a:ext cx="56917" cy="56917"/>
            </a:xfrm>
            <a:custGeom>
              <a:avLst/>
              <a:gdLst/>
              <a:ahLst/>
              <a:cxnLst/>
              <a:rect l="l" t="t" r="r" b="b"/>
              <a:pathLst>
                <a:path w="102093" h="102093" extrusionOk="0">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 name="Google Shape;343;p26"/>
            <p:cNvSpPr/>
            <p:nvPr/>
          </p:nvSpPr>
          <p:spPr>
            <a:xfrm>
              <a:off x="-215300" y="3851305"/>
              <a:ext cx="1694813" cy="830678"/>
            </a:xfrm>
            <a:custGeom>
              <a:avLst/>
              <a:gdLst/>
              <a:ahLst/>
              <a:cxnLst/>
              <a:rect l="l" t="t" r="r" b="b"/>
              <a:pathLst>
                <a:path w="3040023" h="1490006" extrusionOk="0">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44" name="Google Shape;344;p26"/>
          <p:cNvSpPr/>
          <p:nvPr/>
        </p:nvSpPr>
        <p:spPr>
          <a:xfrm rot="-2700000">
            <a:off x="7679247" y="18329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7CE1C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5" name="Google Shape;345;p26"/>
          <p:cNvSpPr/>
          <p:nvPr/>
        </p:nvSpPr>
        <p:spPr>
          <a:xfrm rot="-2700000">
            <a:off x="422294" y="567925"/>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BD0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6" name="Google Shape;346;p26"/>
          <p:cNvSpPr/>
          <p:nvPr/>
        </p:nvSpPr>
        <p:spPr>
          <a:xfrm rot="-2700000">
            <a:off x="8760102" y="3593879"/>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7" name="Google Shape;347;p26"/>
          <p:cNvSpPr/>
          <p:nvPr/>
        </p:nvSpPr>
        <p:spPr>
          <a:xfrm rot="-2700000">
            <a:off x="228123" y="304080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8" name="Google Shape;348;p26"/>
          <p:cNvSpPr/>
          <p:nvPr/>
        </p:nvSpPr>
        <p:spPr>
          <a:xfrm rot="-2700000">
            <a:off x="4242256" y="4746111"/>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9" name="Google Shape;349;p26"/>
          <p:cNvSpPr/>
          <p:nvPr/>
        </p:nvSpPr>
        <p:spPr>
          <a:xfrm>
            <a:off x="3199535" y="192105"/>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50" name="Google Shape;350;p26"/>
          <p:cNvGrpSpPr/>
          <p:nvPr/>
        </p:nvGrpSpPr>
        <p:grpSpPr>
          <a:xfrm>
            <a:off x="8430783" y="1741366"/>
            <a:ext cx="901968" cy="901968"/>
            <a:chOff x="1350404" y="-3124999"/>
            <a:chExt cx="1570279" cy="1570279"/>
          </a:xfrm>
        </p:grpSpPr>
        <p:sp>
          <p:nvSpPr>
            <p:cNvPr id="351" name="Google Shape;351;p26"/>
            <p:cNvSpPr/>
            <p:nvPr/>
          </p:nvSpPr>
          <p:spPr>
            <a:xfrm>
              <a:off x="2135530" y="-3124999"/>
              <a:ext cx="2889" cy="1570279"/>
            </a:xfrm>
            <a:custGeom>
              <a:avLst/>
              <a:gdLst/>
              <a:ahLst/>
              <a:cxnLst/>
              <a:rect l="l" t="t" r="r" b="b"/>
              <a:pathLst>
                <a:path w="2889" h="1570279" extrusionOk="0">
                  <a:moveTo>
                    <a:pt x="0" y="0"/>
                  </a:moveTo>
                  <a:lnTo>
                    <a:pt x="0" y="157028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2" name="Google Shape;352;p26"/>
            <p:cNvSpPr/>
            <p:nvPr/>
          </p:nvSpPr>
          <p:spPr>
            <a:xfrm>
              <a:off x="1350404" y="-2339874"/>
              <a:ext cx="1570279" cy="2889"/>
            </a:xfrm>
            <a:custGeom>
              <a:avLst/>
              <a:gdLst/>
              <a:ahLst/>
              <a:cxnLst/>
              <a:rect l="l" t="t" r="r" b="b"/>
              <a:pathLst>
                <a:path w="1570279" h="2889" extrusionOk="0">
                  <a:moveTo>
                    <a:pt x="1570280" y="0"/>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3" name="Google Shape;353;p26"/>
            <p:cNvSpPr/>
            <p:nvPr/>
          </p:nvSpPr>
          <p:spPr>
            <a:xfrm>
              <a:off x="1580345" y="-2895030"/>
              <a:ext cx="1110370" cy="1110341"/>
            </a:xfrm>
            <a:custGeom>
              <a:avLst/>
              <a:gdLst/>
              <a:ahLst/>
              <a:cxnLst/>
              <a:rect l="l" t="t" r="r" b="b"/>
              <a:pathLst>
                <a:path w="1110370" h="1110341" extrusionOk="0">
                  <a:moveTo>
                    <a:pt x="1110371" y="0"/>
                  </a:moveTo>
                  <a:lnTo>
                    <a:pt x="0" y="111034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4" name="Google Shape;354;p26"/>
            <p:cNvSpPr/>
            <p:nvPr/>
          </p:nvSpPr>
          <p:spPr>
            <a:xfrm>
              <a:off x="1580345" y="-2895030"/>
              <a:ext cx="1110370" cy="1110341"/>
            </a:xfrm>
            <a:custGeom>
              <a:avLst/>
              <a:gdLst/>
              <a:ahLst/>
              <a:cxnLst/>
              <a:rect l="l" t="t" r="r" b="b"/>
              <a:pathLst>
                <a:path w="1110370" h="1110341" extrusionOk="0">
                  <a:moveTo>
                    <a:pt x="1110371" y="1110342"/>
                  </a:moveTo>
                  <a:lnTo>
                    <a:pt x="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55" name="Google Shape;355;p26"/>
          <p:cNvSpPr/>
          <p:nvPr/>
        </p:nvSpPr>
        <p:spPr>
          <a:xfrm>
            <a:off x="4407973" y="-1942300"/>
            <a:ext cx="2489827" cy="2489827"/>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6" name="Google Shape;356;p26"/>
          <p:cNvSpPr/>
          <p:nvPr/>
        </p:nvSpPr>
        <p:spPr>
          <a:xfrm>
            <a:off x="8146410" y="4754905"/>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57"/>
        <p:cNvGrpSpPr/>
        <p:nvPr/>
      </p:nvGrpSpPr>
      <p:grpSpPr>
        <a:xfrm>
          <a:off x="0" y="0"/>
          <a:ext cx="0" cy="0"/>
          <a:chOff x="0" y="0"/>
          <a:chExt cx="0" cy="0"/>
        </a:xfrm>
      </p:grpSpPr>
      <p:sp>
        <p:nvSpPr>
          <p:cNvPr id="358" name="Google Shape;358;p27"/>
          <p:cNvSpPr/>
          <p:nvPr/>
        </p:nvSpPr>
        <p:spPr>
          <a:xfrm>
            <a:off x="7128375" y="0"/>
            <a:ext cx="2517166" cy="1088852"/>
          </a:xfrm>
          <a:custGeom>
            <a:avLst/>
            <a:gdLst/>
            <a:ahLst/>
            <a:cxnLst/>
            <a:rect l="l" t="t" r="r" b="b"/>
            <a:pathLst>
              <a:path w="3322991" h="1437429" extrusionOk="0">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59" name="Google Shape;359;p27"/>
          <p:cNvGrpSpPr/>
          <p:nvPr/>
        </p:nvGrpSpPr>
        <p:grpSpPr>
          <a:xfrm>
            <a:off x="7650716" y="539506"/>
            <a:ext cx="1022136" cy="829949"/>
            <a:chOff x="7329141" y="362469"/>
            <a:chExt cx="1022136" cy="829949"/>
          </a:xfrm>
        </p:grpSpPr>
        <p:sp>
          <p:nvSpPr>
            <p:cNvPr id="360" name="Google Shape;360;p27"/>
            <p:cNvSpPr/>
            <p:nvPr/>
          </p:nvSpPr>
          <p:spPr>
            <a:xfrm>
              <a:off x="7329141" y="362469"/>
              <a:ext cx="1022136" cy="829949"/>
            </a:xfrm>
            <a:custGeom>
              <a:avLst/>
              <a:gdLst/>
              <a:ahLst/>
              <a:cxnLst/>
              <a:rect l="l" t="t" r="r" b="b"/>
              <a:pathLst>
                <a:path w="1901648" h="1544092" extrusionOk="0">
                  <a:moveTo>
                    <a:pt x="1770840" y="1544092"/>
                  </a:moveTo>
                  <a:lnTo>
                    <a:pt x="130807" y="1544092"/>
                  </a:lnTo>
                  <a:cubicBezTo>
                    <a:pt x="58567" y="1544092"/>
                    <a:pt x="0" y="1485525"/>
                    <a:pt x="0" y="1413285"/>
                  </a:cubicBezTo>
                  <a:lnTo>
                    <a:pt x="0" y="130808"/>
                  </a:lnTo>
                  <a:cubicBezTo>
                    <a:pt x="0" y="58567"/>
                    <a:pt x="58567" y="0"/>
                    <a:pt x="130807" y="0"/>
                  </a:cubicBezTo>
                  <a:lnTo>
                    <a:pt x="1770840" y="0"/>
                  </a:lnTo>
                  <a:cubicBezTo>
                    <a:pt x="1843081" y="0"/>
                    <a:pt x="1901648" y="58567"/>
                    <a:pt x="1901648" y="130808"/>
                  </a:cubicBezTo>
                  <a:lnTo>
                    <a:pt x="1901648" y="1413285"/>
                  </a:lnTo>
                  <a:cubicBezTo>
                    <a:pt x="1901648" y="1485449"/>
                    <a:pt x="1843081" y="1544092"/>
                    <a:pt x="1770840" y="1544092"/>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1" name="Google Shape;361;p27"/>
            <p:cNvSpPr/>
            <p:nvPr/>
          </p:nvSpPr>
          <p:spPr>
            <a:xfrm>
              <a:off x="7479397" y="507863"/>
              <a:ext cx="275724" cy="489918"/>
            </a:xfrm>
            <a:custGeom>
              <a:avLst/>
              <a:gdLst/>
              <a:ahLst/>
              <a:cxnLst/>
              <a:rect l="l" t="t" r="r" b="b"/>
              <a:pathLst>
                <a:path w="512975" h="911475" extrusionOk="0">
                  <a:moveTo>
                    <a:pt x="512976" y="0"/>
                  </a:moveTo>
                  <a:cubicBezTo>
                    <a:pt x="229635" y="0"/>
                    <a:pt x="0" y="229635"/>
                    <a:pt x="0" y="512976"/>
                  </a:cubicBezTo>
                  <a:cubicBezTo>
                    <a:pt x="0" y="673864"/>
                    <a:pt x="74064" y="817434"/>
                    <a:pt x="189983" y="911476"/>
                  </a:cubicBezTo>
                  <a:lnTo>
                    <a:pt x="512976" y="512976"/>
                  </a:lnTo>
                  <a:lnTo>
                    <a:pt x="51297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62" name="Google Shape;362;p27"/>
            <p:cNvGrpSpPr/>
            <p:nvPr/>
          </p:nvGrpSpPr>
          <p:grpSpPr>
            <a:xfrm>
              <a:off x="7581570" y="507863"/>
              <a:ext cx="449624" cy="551756"/>
              <a:chOff x="6727477" y="1096947"/>
              <a:chExt cx="836044" cy="1025951"/>
            </a:xfrm>
          </p:grpSpPr>
          <p:sp>
            <p:nvSpPr>
              <p:cNvPr id="363" name="Google Shape;363;p27"/>
              <p:cNvSpPr/>
              <p:nvPr/>
            </p:nvSpPr>
            <p:spPr>
              <a:xfrm>
                <a:off x="7050546" y="1096947"/>
                <a:ext cx="512975" cy="1014176"/>
              </a:xfrm>
              <a:custGeom>
                <a:avLst/>
                <a:gdLst/>
                <a:ahLst/>
                <a:cxnLst/>
                <a:rect l="l" t="t" r="r" b="b"/>
                <a:pathLst>
                  <a:path w="512975" h="1014176" extrusionOk="0">
                    <a:moveTo>
                      <a:pt x="512976" y="512976"/>
                    </a:moveTo>
                    <a:cubicBezTo>
                      <a:pt x="512976" y="229635"/>
                      <a:pt x="283341" y="0"/>
                      <a:pt x="0" y="0"/>
                    </a:cubicBezTo>
                    <a:lnTo>
                      <a:pt x="0" y="512976"/>
                    </a:lnTo>
                    <a:lnTo>
                      <a:pt x="109538" y="1014177"/>
                    </a:lnTo>
                    <a:cubicBezTo>
                      <a:pt x="340161" y="963966"/>
                      <a:pt x="512976" y="758639"/>
                      <a:pt x="512976" y="51297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4" name="Google Shape;364;p27"/>
              <p:cNvSpPr/>
              <p:nvPr/>
            </p:nvSpPr>
            <p:spPr>
              <a:xfrm>
                <a:off x="6727477" y="1609923"/>
                <a:ext cx="432531" cy="512975"/>
              </a:xfrm>
              <a:custGeom>
                <a:avLst/>
                <a:gdLst/>
                <a:ahLst/>
                <a:cxnLst/>
                <a:rect l="l" t="t" r="r" b="b"/>
                <a:pathLst>
                  <a:path w="432531" h="512975" extrusionOk="0">
                    <a:moveTo>
                      <a:pt x="0" y="398500"/>
                    </a:moveTo>
                    <a:cubicBezTo>
                      <a:pt x="88192" y="470057"/>
                      <a:pt x="200617" y="512976"/>
                      <a:pt x="322993" y="512976"/>
                    </a:cubicBezTo>
                    <a:cubicBezTo>
                      <a:pt x="360594" y="512976"/>
                      <a:pt x="397208" y="508874"/>
                      <a:pt x="432531" y="501201"/>
                    </a:cubicBezTo>
                    <a:lnTo>
                      <a:pt x="322993" y="0"/>
                    </a:lnTo>
                    <a:lnTo>
                      <a:pt x="0" y="39850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65" name="Google Shape;365;p27"/>
            <p:cNvSpPr/>
            <p:nvPr/>
          </p:nvSpPr>
          <p:spPr>
            <a:xfrm>
              <a:off x="7755275" y="507863"/>
              <a:ext cx="222278" cy="438881"/>
            </a:xfrm>
            <a:custGeom>
              <a:avLst/>
              <a:gdLst/>
              <a:ahLst/>
              <a:cxnLst/>
              <a:rect l="l" t="t" r="r" b="b"/>
              <a:pathLst>
                <a:path w="413540" h="816522" extrusionOk="0">
                  <a:moveTo>
                    <a:pt x="0" y="0"/>
                  </a:moveTo>
                  <a:lnTo>
                    <a:pt x="0" y="512976"/>
                  </a:lnTo>
                  <a:lnTo>
                    <a:pt x="413541" y="816522"/>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6" name="Google Shape;366;p27"/>
            <p:cNvSpPr/>
            <p:nvPr/>
          </p:nvSpPr>
          <p:spPr>
            <a:xfrm>
              <a:off x="7918481" y="577354"/>
              <a:ext cx="207620" cy="40707"/>
            </a:xfrm>
            <a:custGeom>
              <a:avLst/>
              <a:gdLst/>
              <a:ahLst/>
              <a:cxnLst/>
              <a:rect l="l" t="t" r="r" b="b"/>
              <a:pathLst>
                <a:path w="386269" h="75734" extrusionOk="0">
                  <a:moveTo>
                    <a:pt x="0" y="0"/>
                  </a:moveTo>
                  <a:lnTo>
                    <a:pt x="386270" y="0"/>
                  </a:lnTo>
                  <a:lnTo>
                    <a:pt x="386270" y="75735"/>
                  </a:lnTo>
                  <a:lnTo>
                    <a:pt x="0" y="7573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7" name="Google Shape;367;p27"/>
            <p:cNvSpPr/>
            <p:nvPr/>
          </p:nvSpPr>
          <p:spPr>
            <a:xfrm>
              <a:off x="7986379" y="855683"/>
              <a:ext cx="207620" cy="40707"/>
            </a:xfrm>
            <a:custGeom>
              <a:avLst/>
              <a:gdLst/>
              <a:ahLst/>
              <a:cxnLst/>
              <a:rect l="l" t="t" r="r" b="b"/>
              <a:pathLst>
                <a:path w="386269" h="75734" extrusionOk="0">
                  <a:moveTo>
                    <a:pt x="0" y="0"/>
                  </a:moveTo>
                  <a:lnTo>
                    <a:pt x="386270" y="0"/>
                  </a:lnTo>
                  <a:lnTo>
                    <a:pt x="386270" y="75735"/>
                  </a:lnTo>
                  <a:lnTo>
                    <a:pt x="0" y="7573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8" name="Google Shape;368;p27"/>
            <p:cNvSpPr/>
            <p:nvPr/>
          </p:nvSpPr>
          <p:spPr>
            <a:xfrm>
              <a:off x="8078706" y="664248"/>
              <a:ext cx="132983" cy="4083"/>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9" name="Google Shape;369;p27"/>
            <p:cNvSpPr/>
            <p:nvPr/>
          </p:nvSpPr>
          <p:spPr>
            <a:xfrm>
              <a:off x="8078706" y="691415"/>
              <a:ext cx="132983" cy="4083"/>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0" name="Google Shape;370;p27"/>
            <p:cNvSpPr/>
            <p:nvPr/>
          </p:nvSpPr>
          <p:spPr>
            <a:xfrm>
              <a:off x="8078706" y="718541"/>
              <a:ext cx="132983" cy="4083"/>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 name="Google Shape;371;p27"/>
            <p:cNvSpPr/>
            <p:nvPr/>
          </p:nvSpPr>
          <p:spPr>
            <a:xfrm>
              <a:off x="8078706" y="946989"/>
              <a:ext cx="132983" cy="4083"/>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2" name="Google Shape;372;p27"/>
            <p:cNvSpPr/>
            <p:nvPr/>
          </p:nvSpPr>
          <p:spPr>
            <a:xfrm>
              <a:off x="8078706" y="974156"/>
              <a:ext cx="132983" cy="4083"/>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 name="Google Shape;373;p27"/>
            <p:cNvSpPr/>
            <p:nvPr/>
          </p:nvSpPr>
          <p:spPr>
            <a:xfrm>
              <a:off x="8078706" y="1001323"/>
              <a:ext cx="132983" cy="4083"/>
            </a:xfrm>
            <a:custGeom>
              <a:avLst/>
              <a:gdLst/>
              <a:ahLst/>
              <a:cxnLst/>
              <a:rect l="l" t="t" r="r" b="b"/>
              <a:pathLst>
                <a:path w="247410" h="7596" extrusionOk="0">
                  <a:moveTo>
                    <a:pt x="0" y="0"/>
                  </a:moveTo>
                  <a:lnTo>
                    <a:pt x="247410" y="0"/>
                  </a:lnTo>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74" name="Google Shape;374;p27"/>
          <p:cNvSpPr/>
          <p:nvPr/>
        </p:nvSpPr>
        <p:spPr>
          <a:xfrm>
            <a:off x="6005759" y="4604009"/>
            <a:ext cx="2087690" cy="2087690"/>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 name="Google Shape;375;p27"/>
          <p:cNvSpPr/>
          <p:nvPr/>
        </p:nvSpPr>
        <p:spPr>
          <a:xfrm rot="-2700000">
            <a:off x="547497" y="240572"/>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7CE1C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 name="Google Shape;376;p27"/>
          <p:cNvSpPr/>
          <p:nvPr/>
        </p:nvSpPr>
        <p:spPr>
          <a:xfrm rot="-2700000">
            <a:off x="3740631" y="4706475"/>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BD0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 name="Google Shape;377;p27"/>
          <p:cNvSpPr/>
          <p:nvPr/>
        </p:nvSpPr>
        <p:spPr>
          <a:xfrm rot="-2700000">
            <a:off x="4869215" y="240579"/>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A9D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 name="Google Shape;378;p27"/>
          <p:cNvSpPr/>
          <p:nvPr/>
        </p:nvSpPr>
        <p:spPr>
          <a:xfrm rot="-2700000">
            <a:off x="249023" y="4193007"/>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FC81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9" name="Google Shape;379;p27"/>
          <p:cNvSpPr/>
          <p:nvPr/>
        </p:nvSpPr>
        <p:spPr>
          <a:xfrm rot="-2700000">
            <a:off x="8701281" y="2057586"/>
            <a:ext cx="137292" cy="137292"/>
          </a:xfrm>
          <a:custGeom>
            <a:avLst/>
            <a:gdLst/>
            <a:ahLst/>
            <a:cxnLst/>
            <a:rect l="l" t="t" r="r" b="b"/>
            <a:pathLst>
              <a:path w="171066" h="171066" extrusionOk="0">
                <a:moveTo>
                  <a:pt x="0" y="0"/>
                </a:moveTo>
                <a:lnTo>
                  <a:pt x="171066" y="0"/>
                </a:lnTo>
                <a:lnTo>
                  <a:pt x="171066" y="171066"/>
                </a:lnTo>
                <a:lnTo>
                  <a:pt x="0" y="171066"/>
                </a:lnTo>
                <a:close/>
              </a:path>
            </a:pathLst>
          </a:custGeom>
          <a:solidFill>
            <a:srgbClr val="6E6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0" name="Google Shape;380;p27"/>
          <p:cNvSpPr/>
          <p:nvPr/>
        </p:nvSpPr>
        <p:spPr>
          <a:xfrm>
            <a:off x="8370935" y="4715280"/>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1" name="Google Shape;381;p27"/>
          <p:cNvSpPr/>
          <p:nvPr/>
        </p:nvSpPr>
        <p:spPr>
          <a:xfrm>
            <a:off x="-141118" y="4603993"/>
            <a:ext cx="2306972" cy="2306972"/>
          </a:xfrm>
          <a:custGeom>
            <a:avLst/>
            <a:gdLst/>
            <a:ahLst/>
            <a:cxnLst/>
            <a:rect l="l" t="t" r="r" b="b"/>
            <a:pathLst>
              <a:path w="2306972" h="2306972" extrusionOk="0">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27"/>
          <p:cNvSpPr/>
          <p:nvPr/>
        </p:nvSpPr>
        <p:spPr>
          <a:xfrm>
            <a:off x="-1383791" y="1516059"/>
            <a:ext cx="2087690" cy="2087690"/>
          </a:xfrm>
          <a:custGeom>
            <a:avLst/>
            <a:gdLst/>
            <a:ahLst/>
            <a:cxnLst/>
            <a:rect l="l" t="t" r="r" b="b"/>
            <a:pathLst>
              <a:path w="3422443" h="3422443" extrusionOk="0">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 name="Google Shape;383;p27"/>
          <p:cNvSpPr/>
          <p:nvPr/>
        </p:nvSpPr>
        <p:spPr>
          <a:xfrm>
            <a:off x="1442285" y="183230"/>
            <a:ext cx="119689" cy="119689"/>
          </a:xfrm>
          <a:custGeom>
            <a:avLst/>
            <a:gdLst/>
            <a:ahLst/>
            <a:cxnLst/>
            <a:rect l="l" t="t" r="r" b="b"/>
            <a:pathLst>
              <a:path w="194616" h="194616" extrusionOk="0">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assion One"/>
              <a:buNone/>
              <a:defRPr sz="3000">
                <a:solidFill>
                  <a:schemeClr val="dk1"/>
                </a:solidFill>
                <a:latin typeface="Passion One"/>
                <a:ea typeface="Passion One"/>
                <a:cs typeface="Passion One"/>
                <a:sym typeface="Passion One"/>
              </a:defRPr>
            </a:lvl1pPr>
            <a:lvl2pPr lvl="1"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2pPr>
            <a:lvl3pPr lvl="2"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3pPr>
            <a:lvl4pPr lvl="3"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4pPr>
            <a:lvl5pPr lvl="4"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5pPr>
            <a:lvl6pPr lvl="5"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6pPr>
            <a:lvl7pPr lvl="6"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7pPr>
            <a:lvl8pPr lvl="7"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8pPr>
            <a:lvl9pPr lvl="8"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1pPr>
            <a:lvl2pPr marL="914400" lvl="1"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marL="1371600" lvl="2"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marL="1828800" lvl="3"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marL="2286000" lvl="4"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marL="2743200" lvl="5"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marL="3200400" lvl="6"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marL="3657600" lvl="7"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marL="4114800" lvl="8"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7" r:id="rId7"/>
    <p:sldLayoutId id="2147483658" r:id="rId8"/>
    <p:sldLayoutId id="2147483665" r:id="rId9"/>
    <p:sldLayoutId id="2147483671" r:id="rId10"/>
    <p:sldLayoutId id="2147483672" r:id="rId11"/>
    <p:sldLayoutId id="2147483673"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3740" y="2509451"/>
            <a:ext cx="6216519" cy="1636712"/>
          </a:xfrm>
          <a:prstGeom prst="roundRect">
            <a:avLst/>
          </a:prstGeom>
          <a:solidFill>
            <a:schemeClr val="bg2"/>
          </a:solidFill>
        </p:spPr>
        <p:txBody>
          <a:bodyPr/>
          <a:lstStyle/>
          <a:p>
            <a:pPr marL="457200" marR="0" lvl="0" indent="-317500" algn="ctr" defTabSz="914400" rtl="0" eaLnBrk="1" fontAlgn="auto" latinLnBrk="0" hangingPunct="1">
              <a:lnSpc>
                <a:spcPct val="100000"/>
              </a:lnSpc>
              <a:spcBef>
                <a:spcPts val="0"/>
              </a:spcBef>
              <a:spcAft>
                <a:spcPts val="0"/>
              </a:spcAft>
              <a:buClr>
                <a:srgbClr val="17175A"/>
              </a:buClr>
              <a:buSzPts val="1400"/>
              <a:buFont typeface="Inter"/>
              <a:buNone/>
              <a:tabLst/>
              <a:defRPr/>
            </a:pPr>
            <a:r>
              <a:rPr sz="2800" dirty="0"/>
              <a:t>Synchronisation de produits avec Dagster, Python, PostgreSQL et Express.js</a:t>
            </a:r>
            <a:endParaRPr sz="2800" dirty="0">
              <a:latin typeface="Passion One" panose="020B0604020202020204" charset="0"/>
            </a:endParaRPr>
          </a:p>
        </p:txBody>
      </p:sp>
      <p:sp>
        <p:nvSpPr>
          <p:cNvPr id="4" name="Title 3"/>
          <p:cNvSpPr>
            <a:spLocks noGrp="1"/>
          </p:cNvSpPr>
          <p:nvPr>
            <p:ph type="ctrTitle" idx="2"/>
          </p:nvPr>
        </p:nvSpPr>
        <p:spPr>
          <a:xfrm>
            <a:off x="3485706" y="1544232"/>
            <a:ext cx="2172588" cy="450000"/>
          </a:xfrm>
          <a:noFill/>
          <a:ln>
            <a:noFill/>
          </a:ln>
        </p:spPr>
        <p:txBody>
          <a:bodyPr/>
          <a:lstStyle/>
          <a:p>
            <a:r>
              <a:rPr dirty="0"/>
              <a:t>IBAM – UJKZ</a:t>
            </a:r>
          </a:p>
        </p:txBody>
      </p:sp>
      <p:pic>
        <p:nvPicPr>
          <p:cNvPr id="6" name="Image 5">
            <a:extLst>
              <a:ext uri="{FF2B5EF4-FFF2-40B4-BE49-F238E27FC236}">
                <a16:creationId xmlns:a16="http://schemas.microsoft.com/office/drawing/2014/main" id="{7BCA7C16-DC35-CF36-58D3-D872172766C8}"/>
              </a:ext>
            </a:extLst>
          </p:cNvPr>
          <p:cNvPicPr>
            <a:picLocks noChangeAspect="1"/>
          </p:cNvPicPr>
          <p:nvPr/>
        </p:nvPicPr>
        <p:blipFill>
          <a:blip r:embed="rId3"/>
          <a:stretch>
            <a:fillRect/>
          </a:stretch>
        </p:blipFill>
        <p:spPr>
          <a:xfrm>
            <a:off x="3813002" y="0"/>
            <a:ext cx="1517996" cy="1534354"/>
          </a:xfrm>
          <a:prstGeom prst="rect">
            <a:avLst/>
          </a:prstGeom>
        </p:spPr>
      </p:pic>
      <p:sp>
        <p:nvSpPr>
          <p:cNvPr id="9" name="Text Placeholder 2">
            <a:extLst>
              <a:ext uri="{FF2B5EF4-FFF2-40B4-BE49-F238E27FC236}">
                <a16:creationId xmlns:a16="http://schemas.microsoft.com/office/drawing/2014/main" id="{35FEEDFC-43DB-EDC7-2B9C-B41828CBB454}"/>
              </a:ext>
            </a:extLst>
          </p:cNvPr>
          <p:cNvSpPr txBox="1">
            <a:spLocks/>
          </p:cNvSpPr>
          <p:nvPr/>
        </p:nvSpPr>
        <p:spPr>
          <a:xfrm>
            <a:off x="2722199" y="4485352"/>
            <a:ext cx="3699600" cy="51679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accent1"/>
              </a:buClr>
              <a:buSzPts val="1800"/>
              <a:buFont typeface="Darker Grotesque SemiBold"/>
              <a:buChar char="●"/>
              <a:defRPr sz="1400" b="0" i="0" u="none" strike="noStrike" cap="none">
                <a:solidFill>
                  <a:schemeClr val="dk1"/>
                </a:solidFill>
                <a:latin typeface="Inter"/>
                <a:ea typeface="Inter"/>
                <a:cs typeface="Inter"/>
                <a:sym typeface="Inter"/>
              </a:defRPr>
            </a:lvl1pPr>
            <a:lvl2pPr marL="914400" marR="0" lvl="1"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2pPr>
            <a:lvl3pPr marL="1371600" marR="0" lvl="2"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3pPr>
            <a:lvl4pPr marL="1828800" marR="0" lvl="3"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4pPr>
            <a:lvl5pPr marL="2286000" marR="0" lvl="4"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5pPr>
            <a:lvl6pPr marL="2743200" marR="0" lvl="5"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6pPr>
            <a:lvl7pPr marL="3200400" marR="0" lvl="6"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7pPr>
            <a:lvl8pPr marL="3657600" marR="0" lvl="7"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8pPr>
            <a:lvl9pPr marL="4114800" marR="0" lvl="8"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9pPr>
          </a:lstStyle>
          <a:p>
            <a:pPr marL="114300" indent="0">
              <a:buNone/>
            </a:pPr>
            <a:r>
              <a:rPr lang="fr-FR" dirty="0"/>
              <a:t>Professeur : KY FADEL OUMAR</a:t>
            </a:r>
          </a:p>
        </p:txBody>
      </p:sp>
      <p:sp>
        <p:nvSpPr>
          <p:cNvPr id="10" name="Text Placeholder 2">
            <a:extLst>
              <a:ext uri="{FF2B5EF4-FFF2-40B4-BE49-F238E27FC236}">
                <a16:creationId xmlns:a16="http://schemas.microsoft.com/office/drawing/2014/main" id="{40D3EAC6-D7DC-F20D-358C-ABA18112F2BA}"/>
              </a:ext>
            </a:extLst>
          </p:cNvPr>
          <p:cNvSpPr txBox="1">
            <a:spLocks/>
          </p:cNvSpPr>
          <p:nvPr/>
        </p:nvSpPr>
        <p:spPr>
          <a:xfrm>
            <a:off x="2748456" y="1911863"/>
            <a:ext cx="3673343" cy="51679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accent1"/>
              </a:buClr>
              <a:buSzPts val="1800"/>
              <a:buFont typeface="Darker Grotesque SemiBold"/>
              <a:buChar char="●"/>
              <a:defRPr sz="1400" b="0" i="0" u="none" strike="noStrike" cap="none">
                <a:solidFill>
                  <a:schemeClr val="dk1"/>
                </a:solidFill>
                <a:latin typeface="Inter"/>
                <a:ea typeface="Inter"/>
                <a:cs typeface="Inter"/>
                <a:sym typeface="Inter"/>
              </a:defRPr>
            </a:lvl1pPr>
            <a:lvl2pPr marL="914400" marR="0" lvl="1"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2pPr>
            <a:lvl3pPr marL="1371600" marR="0" lvl="2"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3pPr>
            <a:lvl4pPr marL="1828800" marR="0" lvl="3"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4pPr>
            <a:lvl5pPr marL="2286000" marR="0" lvl="4"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5pPr>
            <a:lvl6pPr marL="2743200" marR="0" lvl="5"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6pPr>
            <a:lvl7pPr marL="3200400" marR="0" lvl="6"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7pPr>
            <a:lvl8pPr marL="3657600" marR="0" lvl="7"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8pPr>
            <a:lvl9pPr marL="4114800" marR="0" lvl="8"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Inter"/>
                <a:ea typeface="Inter"/>
                <a:cs typeface="Inter"/>
                <a:sym typeface="Inter"/>
              </a:defRPr>
            </a:lvl9pPr>
          </a:lstStyle>
          <a:p>
            <a:pPr marL="114300" indent="0" algn="ctr">
              <a:buNone/>
            </a:pPr>
            <a:r>
              <a:rPr lang="fr-FR" dirty="0"/>
              <a:t>Développement à base de composants et services web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4154A6F-66B9-3F60-48FB-48CEBBDA7C79}"/>
              </a:ext>
            </a:extLst>
          </p:cNvPr>
          <p:cNvSpPr>
            <a:spLocks noGrp="1"/>
          </p:cNvSpPr>
          <p:nvPr>
            <p:ph type="title"/>
          </p:nvPr>
        </p:nvSpPr>
        <p:spPr>
          <a:xfrm>
            <a:off x="720000" y="445025"/>
            <a:ext cx="7704000" cy="572700"/>
          </a:xfrm>
        </p:spPr>
        <p:txBody>
          <a:bodyPr/>
          <a:lstStyle/>
          <a:p>
            <a:r>
              <a:rPr lang="fr-FR" dirty="0"/>
              <a:t>Membres du groupe N°2</a:t>
            </a:r>
            <a:endParaRPr dirty="0"/>
          </a:p>
        </p:txBody>
      </p:sp>
      <p:sp>
        <p:nvSpPr>
          <p:cNvPr id="5" name="Text Placeholder 2">
            <a:extLst>
              <a:ext uri="{FF2B5EF4-FFF2-40B4-BE49-F238E27FC236}">
                <a16:creationId xmlns:a16="http://schemas.microsoft.com/office/drawing/2014/main" id="{CD354E93-76A9-702B-C3A4-5C60D2A336A3}"/>
              </a:ext>
            </a:extLst>
          </p:cNvPr>
          <p:cNvSpPr>
            <a:spLocks noGrp="1"/>
          </p:cNvSpPr>
          <p:nvPr>
            <p:ph type="body" idx="1"/>
          </p:nvPr>
        </p:nvSpPr>
        <p:spPr>
          <a:xfrm>
            <a:off x="712788" y="1535141"/>
            <a:ext cx="4481174" cy="2290239"/>
          </a:xfrm>
        </p:spPr>
        <p:txBody>
          <a:bodyPr wrap="square"/>
          <a:lstStyle/>
          <a:p>
            <a:pPr>
              <a:lnSpc>
                <a:spcPct val="150000"/>
              </a:lnSpc>
            </a:pPr>
            <a:r>
              <a:rPr sz="1800" dirty="0"/>
              <a:t>KY Laodou Othniela</a:t>
            </a:r>
          </a:p>
          <a:p>
            <a:pPr>
              <a:lnSpc>
                <a:spcPct val="150000"/>
              </a:lnSpc>
            </a:pPr>
            <a:r>
              <a:rPr sz="1800" dirty="0"/>
              <a:t>OUÉDRAOGO Abdoul Razack</a:t>
            </a:r>
          </a:p>
          <a:p>
            <a:pPr>
              <a:lnSpc>
                <a:spcPct val="150000"/>
              </a:lnSpc>
            </a:pPr>
            <a:r>
              <a:rPr sz="1800" dirty="0"/>
              <a:t>TIEMTORÉ Styve Guy Anderson</a:t>
            </a:r>
          </a:p>
          <a:p>
            <a:pPr>
              <a:lnSpc>
                <a:spcPct val="150000"/>
              </a:lnSpc>
            </a:pPr>
            <a:r>
              <a:rPr sz="1800" dirty="0"/>
              <a:t>KONATÉ Pierre</a:t>
            </a:r>
          </a:p>
          <a:p>
            <a:pPr>
              <a:lnSpc>
                <a:spcPct val="150000"/>
              </a:lnSpc>
            </a:pPr>
            <a:r>
              <a:rPr sz="1800" dirty="0"/>
              <a:t>SAWADOGO Ahmad Moussa</a:t>
            </a:r>
          </a:p>
        </p:txBody>
      </p:sp>
    </p:spTree>
    <p:extLst>
      <p:ext uri="{BB962C8B-B14F-4D97-AF65-F5344CB8AC3E}">
        <p14:creationId xmlns:p14="http://schemas.microsoft.com/office/powerpoint/2010/main" val="1647707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500"/>
                                        <p:tgtEl>
                                          <p:spTgt spid="5">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500"/>
                                        <p:tgtEl>
                                          <p:spTgt spid="5">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fade">
                                      <p:cBhvr>
                                        <p:cTn id="23" dur="500"/>
                                        <p:tgtEl>
                                          <p:spTgt spid="5">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Sommaire</a:t>
            </a:r>
            <a:endParaRPr dirty="0"/>
          </a:p>
        </p:txBody>
      </p:sp>
      <p:sp>
        <p:nvSpPr>
          <p:cNvPr id="3" name="Text Placeholder 2"/>
          <p:cNvSpPr>
            <a:spLocks noGrp="1"/>
          </p:cNvSpPr>
          <p:nvPr>
            <p:ph type="body" idx="1"/>
          </p:nvPr>
        </p:nvSpPr>
        <p:spPr>
          <a:xfrm>
            <a:off x="720000" y="1439214"/>
            <a:ext cx="7704000" cy="3383280"/>
          </a:xfrm>
        </p:spPr>
        <p:txBody>
          <a:bodyPr wrap="square"/>
          <a:lstStyle/>
          <a:p>
            <a:pPr>
              <a:lnSpc>
                <a:spcPct val="150000"/>
              </a:lnSpc>
            </a:pPr>
            <a:r>
              <a:rPr sz="1800" dirty="0"/>
              <a:t>Introduction</a:t>
            </a:r>
            <a:endParaRPr lang="fr-FR" sz="1800" dirty="0"/>
          </a:p>
          <a:p>
            <a:pPr>
              <a:lnSpc>
                <a:spcPct val="150000"/>
              </a:lnSpc>
            </a:pPr>
            <a:r>
              <a:rPr lang="fr-FR" sz="1800" dirty="0"/>
              <a:t>I. Contexte et problématique</a:t>
            </a:r>
          </a:p>
          <a:p>
            <a:pPr>
              <a:lnSpc>
                <a:spcPct val="150000"/>
              </a:lnSpc>
            </a:pPr>
            <a:r>
              <a:rPr sz="1800" dirty="0"/>
              <a:t>II. Architecture et fiabilité</a:t>
            </a:r>
          </a:p>
          <a:p>
            <a:pPr>
              <a:lnSpc>
                <a:spcPct val="150000"/>
              </a:lnSpc>
            </a:pPr>
            <a:r>
              <a:rPr sz="1800" dirty="0"/>
              <a:t>III. Installation et exécution</a:t>
            </a:r>
          </a:p>
          <a:p>
            <a:pPr>
              <a:lnSpc>
                <a:spcPct val="150000"/>
              </a:lnSpc>
            </a:pPr>
            <a:r>
              <a:rPr sz="1800" dirty="0"/>
              <a:t>IV. API, tests et résultats</a:t>
            </a:r>
          </a:p>
          <a:p>
            <a:pPr>
              <a:lnSpc>
                <a:spcPct val="150000"/>
              </a:lnSpc>
            </a:pPr>
            <a:r>
              <a:rPr sz="1800" dirty="0"/>
              <a:t>Conclusion et livrables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Introduction</a:t>
            </a:r>
          </a:p>
        </p:txBody>
      </p:sp>
      <p:sp>
        <p:nvSpPr>
          <p:cNvPr id="3" name="TextBox 2"/>
          <p:cNvSpPr txBox="1"/>
          <p:nvPr/>
        </p:nvSpPr>
        <p:spPr>
          <a:xfrm>
            <a:off x="868680" y="1051560"/>
            <a:ext cx="4297680" cy="3566160"/>
          </a:xfrm>
          <a:prstGeom prst="rect">
            <a:avLst/>
          </a:prstGeom>
          <a:noFill/>
        </p:spPr>
        <p:txBody>
          <a:bodyPr wrap="square" lIns="0" tIns="0" rIns="0" bIns="0" anchor="t">
            <a:spAutoFit/>
          </a:bodyPr>
          <a:lstStyle/>
          <a:p>
            <a:pPr marL="171450" indent="-171450">
              <a:lnSpc>
                <a:spcPct val="120000"/>
              </a:lnSpc>
              <a:spcAft>
                <a:spcPts val="900"/>
              </a:spcAft>
              <a:buClr>
                <a:srgbClr val="FA9D02"/>
              </a:buClr>
              <a:buSzPct val="80000"/>
              <a:buFont typeface="Arial"/>
              <a:buChar char="●"/>
            </a:pPr>
            <a:r>
              <a:rPr sz="1300" b="0" i="0">
                <a:solidFill>
                  <a:srgbClr val="17175A"/>
                </a:solidFill>
                <a:latin typeface="Inter"/>
              </a:rPr>
              <a:t>product_dataset.csv : export brut de 542 009 lignes de ventes, avec doublons et données invalides</a:t>
            </a:r>
          </a:p>
          <a:p>
            <a:pPr marL="171450" indent="-171450">
              <a:lnSpc>
                <a:spcPct val="120000"/>
              </a:lnSpc>
              <a:spcAft>
                <a:spcPts val="900"/>
              </a:spcAft>
              <a:buClr>
                <a:srgbClr val="FA9D02"/>
              </a:buClr>
              <a:buSzPct val="80000"/>
              <a:buFont typeface="Arial"/>
              <a:buChar char="●"/>
            </a:pPr>
            <a:r>
              <a:rPr sz="1300" b="0" i="0">
                <a:solidFill>
                  <a:srgbClr val="17175A"/>
                </a:solidFill>
                <a:latin typeface="Inter"/>
              </a:rPr>
              <a:t>Un tel fichier n'est pas utilisable tel quel par une application</a:t>
            </a:r>
          </a:p>
          <a:p>
            <a:pPr marL="171450" indent="-171450">
              <a:lnSpc>
                <a:spcPct val="120000"/>
              </a:lnSpc>
              <a:spcAft>
                <a:spcPts val="900"/>
              </a:spcAft>
              <a:buClr>
                <a:srgbClr val="FA9D02"/>
              </a:buClr>
              <a:buSzPct val="80000"/>
              <a:buFont typeface="Arial"/>
              <a:buChar char="●"/>
            </a:pPr>
            <a:r>
              <a:rPr sz="1300" b="0" i="0">
                <a:solidFill>
                  <a:srgbClr val="17175A"/>
                </a:solidFill>
                <a:latin typeface="Inter"/>
              </a:rPr>
              <a:t>Objectif : un pipeline ETL idempotent, orchestré par Dagster, avec reprise automatique</a:t>
            </a:r>
          </a:p>
          <a:p>
            <a:pPr marL="171450" indent="-171450">
              <a:lnSpc>
                <a:spcPct val="120000"/>
              </a:lnSpc>
              <a:spcAft>
                <a:spcPts val="900"/>
              </a:spcAft>
              <a:buClr>
                <a:srgbClr val="FA9D02"/>
              </a:buClr>
              <a:buSzPct val="80000"/>
              <a:buFont typeface="Arial"/>
              <a:buChar char="●"/>
            </a:pPr>
            <a:r>
              <a:rPr sz="1300" b="0" i="0">
                <a:solidFill>
                  <a:srgbClr val="17175A"/>
                </a:solidFill>
                <a:latin typeface="Inter"/>
              </a:rPr>
              <a:t>Résultat exposé par une API Express.js documentée (OpenAPI)</a:t>
            </a:r>
          </a:p>
          <a:p>
            <a:pPr marL="171450" indent="-171450">
              <a:lnSpc>
                <a:spcPct val="120000"/>
              </a:lnSpc>
              <a:spcAft>
                <a:spcPts val="900"/>
              </a:spcAft>
              <a:buClr>
                <a:srgbClr val="FA9D02"/>
              </a:buClr>
              <a:buSzPct val="80000"/>
              <a:buFont typeface="Arial"/>
              <a:buChar char="●"/>
            </a:pPr>
            <a:r>
              <a:rPr sz="1300" b="0" i="0">
                <a:solidFill>
                  <a:srgbClr val="17175A"/>
                </a:solidFill>
                <a:latin typeface="Inter"/>
              </a:rPr>
              <a:t>Garantie : relancer ne duplique jamais rien, même après une coupure en pleine exécution</a:t>
            </a:r>
          </a:p>
        </p:txBody>
      </p:sp>
      <p:sp>
        <p:nvSpPr>
          <p:cNvPr id="4" name="Rounded Rectangle 3"/>
          <p:cNvSpPr/>
          <p:nvPr/>
        </p:nvSpPr>
        <p:spPr>
          <a:xfrm>
            <a:off x="5440680" y="1143000"/>
            <a:ext cx="3063240" cy="100584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577840" y="1143000"/>
            <a:ext cx="1463040" cy="1005840"/>
          </a:xfrm>
          <a:prstGeom prst="rect">
            <a:avLst/>
          </a:prstGeom>
          <a:noFill/>
        </p:spPr>
        <p:txBody>
          <a:bodyPr wrap="square" lIns="0" tIns="0" rIns="0" bIns="0" anchor="ctr">
            <a:spAutoFit/>
          </a:bodyPr>
          <a:lstStyle/>
          <a:p>
            <a:pPr>
              <a:spcAft>
                <a:spcPts val="300"/>
              </a:spcAft>
            </a:pPr>
            <a:r>
              <a:rPr sz="2000" b="1" i="0">
                <a:solidFill>
                  <a:srgbClr val="17175A"/>
                </a:solidFill>
                <a:latin typeface="Inter"/>
              </a:rPr>
              <a:t>542 009</a:t>
            </a:r>
          </a:p>
        </p:txBody>
      </p:sp>
      <p:sp>
        <p:nvSpPr>
          <p:cNvPr id="6" name="TextBox 5"/>
          <p:cNvSpPr txBox="1"/>
          <p:nvPr/>
        </p:nvSpPr>
        <p:spPr>
          <a:xfrm>
            <a:off x="7040880" y="1143000"/>
            <a:ext cx="1371600" cy="1005840"/>
          </a:xfrm>
          <a:prstGeom prst="rect">
            <a:avLst/>
          </a:prstGeom>
          <a:noFill/>
        </p:spPr>
        <p:txBody>
          <a:bodyPr wrap="square" lIns="0" tIns="0" rIns="0" bIns="0" anchor="ctr">
            <a:spAutoFit/>
          </a:bodyPr>
          <a:lstStyle/>
          <a:p>
            <a:pPr>
              <a:spcAft>
                <a:spcPts val="300"/>
              </a:spcAft>
            </a:pPr>
            <a:r>
              <a:rPr sz="1050" b="0" i="0">
                <a:solidFill>
                  <a:srgbClr val="17175A"/>
                </a:solidFill>
                <a:latin typeface="Inter"/>
              </a:rPr>
              <a:t>lignes brutes dans product_dataset.csv</a:t>
            </a:r>
          </a:p>
        </p:txBody>
      </p:sp>
      <p:sp>
        <p:nvSpPr>
          <p:cNvPr id="7" name="Rounded Rectangle 6"/>
          <p:cNvSpPr/>
          <p:nvPr/>
        </p:nvSpPr>
        <p:spPr>
          <a:xfrm>
            <a:off x="5440680" y="2331720"/>
            <a:ext cx="3063240" cy="100584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577840" y="2331720"/>
            <a:ext cx="1463040" cy="1005840"/>
          </a:xfrm>
          <a:prstGeom prst="rect">
            <a:avLst/>
          </a:prstGeom>
          <a:noFill/>
        </p:spPr>
        <p:txBody>
          <a:bodyPr wrap="square" lIns="0" tIns="0" rIns="0" bIns="0" anchor="ctr">
            <a:spAutoFit/>
          </a:bodyPr>
          <a:lstStyle/>
          <a:p>
            <a:pPr>
              <a:spcAft>
                <a:spcPts val="300"/>
              </a:spcAft>
            </a:pPr>
            <a:r>
              <a:rPr sz="2000" b="1" i="0">
                <a:solidFill>
                  <a:srgbClr val="D93F45"/>
                </a:solidFill>
                <a:latin typeface="Inter"/>
              </a:rPr>
              <a:t>1 556</a:t>
            </a:r>
          </a:p>
        </p:txBody>
      </p:sp>
      <p:sp>
        <p:nvSpPr>
          <p:cNvPr id="9" name="TextBox 8"/>
          <p:cNvSpPr txBox="1"/>
          <p:nvPr/>
        </p:nvSpPr>
        <p:spPr>
          <a:xfrm>
            <a:off x="7040880" y="2331720"/>
            <a:ext cx="1371600" cy="1005840"/>
          </a:xfrm>
          <a:prstGeom prst="rect">
            <a:avLst/>
          </a:prstGeom>
          <a:noFill/>
        </p:spPr>
        <p:txBody>
          <a:bodyPr wrap="square" lIns="0" tIns="0" rIns="0" bIns="0" anchor="ctr">
            <a:spAutoFit/>
          </a:bodyPr>
          <a:lstStyle/>
          <a:p>
            <a:pPr>
              <a:spcAft>
                <a:spcPts val="300"/>
              </a:spcAft>
            </a:pPr>
            <a:r>
              <a:rPr sz="1050" b="0" i="0">
                <a:solidFill>
                  <a:srgbClr val="17175A"/>
                </a:solidFill>
                <a:latin typeface="Inter"/>
              </a:rPr>
              <a:t>lignes rejetées, tracées avec leur motif</a:t>
            </a:r>
          </a:p>
        </p:txBody>
      </p:sp>
      <p:sp>
        <p:nvSpPr>
          <p:cNvPr id="10" name="Rounded Rectangle 9"/>
          <p:cNvSpPr/>
          <p:nvPr/>
        </p:nvSpPr>
        <p:spPr>
          <a:xfrm>
            <a:off x="5440680" y="3520440"/>
            <a:ext cx="3063240" cy="100584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577840" y="3520440"/>
            <a:ext cx="1463040" cy="1005840"/>
          </a:xfrm>
          <a:prstGeom prst="rect">
            <a:avLst/>
          </a:prstGeom>
          <a:noFill/>
        </p:spPr>
        <p:txBody>
          <a:bodyPr wrap="square" lIns="0" tIns="0" rIns="0" bIns="0" anchor="ctr">
            <a:spAutoFit/>
          </a:bodyPr>
          <a:lstStyle/>
          <a:p>
            <a:pPr>
              <a:spcAft>
                <a:spcPts val="300"/>
              </a:spcAft>
            </a:pPr>
            <a:r>
              <a:rPr sz="2000" b="1" i="0">
                <a:solidFill>
                  <a:srgbClr val="1FA58F"/>
                </a:solidFill>
                <a:latin typeface="Inter"/>
              </a:rPr>
              <a:t>3 958</a:t>
            </a:r>
          </a:p>
        </p:txBody>
      </p:sp>
      <p:sp>
        <p:nvSpPr>
          <p:cNvPr id="12" name="TextBox 11"/>
          <p:cNvSpPr txBox="1"/>
          <p:nvPr/>
        </p:nvSpPr>
        <p:spPr>
          <a:xfrm>
            <a:off x="7040880" y="3520440"/>
            <a:ext cx="1371600" cy="1005840"/>
          </a:xfrm>
          <a:prstGeom prst="rect">
            <a:avLst/>
          </a:prstGeom>
          <a:noFill/>
        </p:spPr>
        <p:txBody>
          <a:bodyPr wrap="square" lIns="0" tIns="0" rIns="0" bIns="0" anchor="ctr">
            <a:spAutoFit/>
          </a:bodyPr>
          <a:lstStyle/>
          <a:p>
            <a:pPr>
              <a:spcAft>
                <a:spcPts val="300"/>
              </a:spcAft>
            </a:pPr>
            <a:r>
              <a:rPr sz="1050" b="0" i="0">
                <a:solidFill>
                  <a:srgbClr val="17175A"/>
                </a:solidFill>
                <a:latin typeface="Inter"/>
              </a:rPr>
              <a:t>produits fiables dans le catalogue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Contexte et problématique</a:t>
            </a:r>
          </a:p>
        </p:txBody>
      </p:sp>
      <p:sp>
        <p:nvSpPr>
          <p:cNvPr id="3" name="Title 2"/>
          <p:cNvSpPr>
            <a:spLocks noGrp="1"/>
          </p:cNvSpPr>
          <p:nvPr>
            <p:ph type="title" idx="2"/>
          </p:nvPr>
        </p:nvSpPr>
        <p:spPr/>
        <p:txBody>
          <a:bodyPr/>
          <a:lstStyle/>
          <a:p>
            <a:r>
              <a:t>01.</a:t>
            </a:r>
          </a:p>
        </p:txBody>
      </p:sp>
      <p:sp>
        <p:nvSpPr>
          <p:cNvPr id="4" name="Subtitle 3"/>
          <p:cNvSpPr>
            <a:spLocks noGrp="1"/>
          </p:cNvSpPr>
          <p:nvPr>
            <p:ph type="subTitle" idx="1"/>
          </p:nvPr>
        </p:nvSpPr>
        <p:spPr/>
        <p:txBody>
          <a:bodyPr/>
          <a:lstStyle/>
          <a:p>
            <a:r>
              <a:rPr sz="1300"/>
              <a:t>Un export brut, une question centrale, les exigences du sujet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 Contexte et problématique</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a. Le problème : un export brut</a:t>
            </a:r>
          </a:p>
        </p:txBody>
      </p:sp>
      <p:sp>
        <p:nvSpPr>
          <p:cNvPr id="4" name="Rounded Rectangle 3"/>
          <p:cNvSpPr/>
          <p:nvPr/>
        </p:nvSpPr>
        <p:spPr>
          <a:xfrm>
            <a:off x="822960" y="1325880"/>
            <a:ext cx="1783080" cy="13258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960120" y="1444752"/>
            <a:ext cx="384048" cy="384048"/>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aCopy.png"/>
          <p:cNvPicPr>
            <a:picLocks noChangeAspect="1"/>
          </p:cNvPicPr>
          <p:nvPr/>
        </p:nvPicPr>
        <p:blipFill>
          <a:blip r:embed="rId3"/>
          <a:stretch>
            <a:fillRect/>
          </a:stretch>
        </p:blipFill>
        <p:spPr>
          <a:xfrm>
            <a:off x="1052291" y="1536923"/>
            <a:ext cx="199704" cy="199704"/>
          </a:xfrm>
          <a:prstGeom prst="rect">
            <a:avLst/>
          </a:prstGeom>
        </p:spPr>
      </p:pic>
      <p:sp>
        <p:nvSpPr>
          <p:cNvPr id="7" name="TextBox 6"/>
          <p:cNvSpPr txBox="1"/>
          <p:nvPr/>
        </p:nvSpPr>
        <p:spPr>
          <a:xfrm>
            <a:off x="960120" y="1892807"/>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Doublons</a:t>
            </a:r>
          </a:p>
        </p:txBody>
      </p:sp>
      <p:sp>
        <p:nvSpPr>
          <p:cNvPr id="8" name="TextBox 7"/>
          <p:cNvSpPr txBox="1"/>
          <p:nvPr/>
        </p:nvSpPr>
        <p:spPr>
          <a:xfrm>
            <a:off x="960120" y="2148840"/>
            <a:ext cx="1554480" cy="4572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Observations répétées d'un même produit</a:t>
            </a:r>
          </a:p>
        </p:txBody>
      </p:sp>
      <p:sp>
        <p:nvSpPr>
          <p:cNvPr id="9" name="Rounded Rectangle 8"/>
          <p:cNvSpPr/>
          <p:nvPr/>
        </p:nvSpPr>
        <p:spPr>
          <a:xfrm>
            <a:off x="2743200" y="1325880"/>
            <a:ext cx="1783080" cy="13258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2880360" y="1444752"/>
            <a:ext cx="384048" cy="384048"/>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FaMinusCircle.png"/>
          <p:cNvPicPr>
            <a:picLocks noChangeAspect="1"/>
          </p:cNvPicPr>
          <p:nvPr/>
        </p:nvPicPr>
        <p:blipFill>
          <a:blip r:embed="rId4"/>
          <a:stretch>
            <a:fillRect/>
          </a:stretch>
        </p:blipFill>
        <p:spPr>
          <a:xfrm>
            <a:off x="2972531" y="1536923"/>
            <a:ext cx="199704" cy="199704"/>
          </a:xfrm>
          <a:prstGeom prst="rect">
            <a:avLst/>
          </a:prstGeom>
        </p:spPr>
      </p:pic>
      <p:sp>
        <p:nvSpPr>
          <p:cNvPr id="12" name="TextBox 11"/>
          <p:cNvSpPr txBox="1"/>
          <p:nvPr/>
        </p:nvSpPr>
        <p:spPr>
          <a:xfrm>
            <a:off x="2880360" y="1892807"/>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Prix négatifs</a:t>
            </a:r>
          </a:p>
        </p:txBody>
      </p:sp>
      <p:sp>
        <p:nvSpPr>
          <p:cNvPr id="13" name="TextBox 12"/>
          <p:cNvSpPr txBox="1"/>
          <p:nvPr/>
        </p:nvSpPr>
        <p:spPr>
          <a:xfrm>
            <a:off x="2880360" y="2148840"/>
            <a:ext cx="1554480" cy="4572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Valeur impossible pour un prix unitaire</a:t>
            </a:r>
          </a:p>
        </p:txBody>
      </p:sp>
      <p:sp>
        <p:nvSpPr>
          <p:cNvPr id="14" name="Rounded Rectangle 13"/>
          <p:cNvSpPr/>
          <p:nvPr/>
        </p:nvSpPr>
        <p:spPr>
          <a:xfrm>
            <a:off x="4663440" y="1325880"/>
            <a:ext cx="1783080" cy="13258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800600" y="1444752"/>
            <a:ext cx="384048" cy="384048"/>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FaFileAlt.png"/>
          <p:cNvPicPr>
            <a:picLocks noChangeAspect="1"/>
          </p:cNvPicPr>
          <p:nvPr/>
        </p:nvPicPr>
        <p:blipFill>
          <a:blip r:embed="rId5"/>
          <a:stretch>
            <a:fillRect/>
          </a:stretch>
        </p:blipFill>
        <p:spPr>
          <a:xfrm>
            <a:off x="4892771" y="1536923"/>
            <a:ext cx="199704" cy="199704"/>
          </a:xfrm>
          <a:prstGeom prst="rect">
            <a:avLst/>
          </a:prstGeom>
        </p:spPr>
      </p:pic>
      <p:sp>
        <p:nvSpPr>
          <p:cNvPr id="17" name="TextBox 16"/>
          <p:cNvSpPr txBox="1"/>
          <p:nvPr/>
        </p:nvSpPr>
        <p:spPr>
          <a:xfrm>
            <a:off x="4800600" y="1892807"/>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Descriptions vides</a:t>
            </a:r>
          </a:p>
        </p:txBody>
      </p:sp>
      <p:sp>
        <p:nvSpPr>
          <p:cNvPr id="18" name="TextBox 17"/>
          <p:cNvSpPr txBox="1"/>
          <p:nvPr/>
        </p:nvSpPr>
        <p:spPr>
          <a:xfrm>
            <a:off x="4800600" y="2148840"/>
            <a:ext cx="1554480" cy="4572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Produit sans libellé exploitable</a:t>
            </a:r>
          </a:p>
        </p:txBody>
      </p:sp>
      <p:sp>
        <p:nvSpPr>
          <p:cNvPr id="19" name="Rounded Rectangle 18"/>
          <p:cNvSpPr/>
          <p:nvPr/>
        </p:nvSpPr>
        <p:spPr>
          <a:xfrm>
            <a:off x="6583680" y="1325880"/>
            <a:ext cx="1783080" cy="13258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720840" y="1444752"/>
            <a:ext cx="384048" cy="384048"/>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FaKey.png"/>
          <p:cNvPicPr>
            <a:picLocks noChangeAspect="1"/>
          </p:cNvPicPr>
          <p:nvPr/>
        </p:nvPicPr>
        <p:blipFill>
          <a:blip r:embed="rId6"/>
          <a:stretch>
            <a:fillRect/>
          </a:stretch>
        </p:blipFill>
        <p:spPr>
          <a:xfrm>
            <a:off x="6813011" y="1536923"/>
            <a:ext cx="199704" cy="199704"/>
          </a:xfrm>
          <a:prstGeom prst="rect">
            <a:avLst/>
          </a:prstGeom>
        </p:spPr>
      </p:pic>
      <p:sp>
        <p:nvSpPr>
          <p:cNvPr id="22" name="TextBox 21"/>
          <p:cNvSpPr txBox="1"/>
          <p:nvPr/>
        </p:nvSpPr>
        <p:spPr>
          <a:xfrm>
            <a:off x="6720840" y="1892807"/>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Références vides</a:t>
            </a:r>
          </a:p>
        </p:txBody>
      </p:sp>
      <p:sp>
        <p:nvSpPr>
          <p:cNvPr id="23" name="TextBox 22"/>
          <p:cNvSpPr txBox="1"/>
          <p:nvPr/>
        </p:nvSpPr>
        <p:spPr>
          <a:xfrm>
            <a:off x="6720840" y="2148840"/>
            <a:ext cx="1554480" cy="4572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Aucune clé pour identifier le produit</a:t>
            </a:r>
          </a:p>
        </p:txBody>
      </p:sp>
      <p:sp>
        <p:nvSpPr>
          <p:cNvPr id="24" name="Rounded Rectangle 23"/>
          <p:cNvSpPr/>
          <p:nvPr/>
        </p:nvSpPr>
        <p:spPr>
          <a:xfrm>
            <a:off x="822960" y="2788920"/>
            <a:ext cx="1783080" cy="13258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60120" y="2907791"/>
            <a:ext cx="384048" cy="384048"/>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FaQuestion.png"/>
          <p:cNvPicPr>
            <a:picLocks noChangeAspect="1"/>
          </p:cNvPicPr>
          <p:nvPr/>
        </p:nvPicPr>
        <p:blipFill>
          <a:blip r:embed="rId7"/>
          <a:stretch>
            <a:fillRect/>
          </a:stretch>
        </p:blipFill>
        <p:spPr>
          <a:xfrm>
            <a:off x="1052291" y="2999963"/>
            <a:ext cx="199704" cy="199704"/>
          </a:xfrm>
          <a:prstGeom prst="rect">
            <a:avLst/>
          </a:prstGeom>
        </p:spPr>
      </p:pic>
      <p:sp>
        <p:nvSpPr>
          <p:cNvPr id="27" name="TextBox 26"/>
          <p:cNvSpPr txBox="1"/>
          <p:nvPr/>
        </p:nvSpPr>
        <p:spPr>
          <a:xfrm>
            <a:off x="960120" y="3355848"/>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Prix non numériques</a:t>
            </a:r>
          </a:p>
        </p:txBody>
      </p:sp>
      <p:sp>
        <p:nvSpPr>
          <p:cNvPr id="28" name="TextBox 27"/>
          <p:cNvSpPr txBox="1"/>
          <p:nvPr/>
        </p:nvSpPr>
        <p:spPr>
          <a:xfrm>
            <a:off x="960120" y="3611879"/>
            <a:ext cx="1554480" cy="4572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Du texte (ex. N/A) à la place du montant</a:t>
            </a:r>
          </a:p>
        </p:txBody>
      </p:sp>
      <p:sp>
        <p:nvSpPr>
          <p:cNvPr id="29" name="Rounded Rectangle 28"/>
          <p:cNvSpPr/>
          <p:nvPr/>
        </p:nvSpPr>
        <p:spPr>
          <a:xfrm>
            <a:off x="2743200" y="2788920"/>
            <a:ext cx="1783080" cy="13258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2880360" y="2907791"/>
            <a:ext cx="384048" cy="384048"/>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Picture 30" descr="FaCalendarTimes.png"/>
          <p:cNvPicPr>
            <a:picLocks noChangeAspect="1"/>
          </p:cNvPicPr>
          <p:nvPr/>
        </p:nvPicPr>
        <p:blipFill>
          <a:blip r:embed="rId8"/>
          <a:stretch>
            <a:fillRect/>
          </a:stretch>
        </p:blipFill>
        <p:spPr>
          <a:xfrm>
            <a:off x="2972531" y="2999963"/>
            <a:ext cx="199704" cy="199704"/>
          </a:xfrm>
          <a:prstGeom prst="rect">
            <a:avLst/>
          </a:prstGeom>
        </p:spPr>
      </p:pic>
      <p:sp>
        <p:nvSpPr>
          <p:cNvPr id="32" name="TextBox 31"/>
          <p:cNvSpPr txBox="1"/>
          <p:nvPr/>
        </p:nvSpPr>
        <p:spPr>
          <a:xfrm>
            <a:off x="2880360" y="3355848"/>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Dates invalides</a:t>
            </a:r>
          </a:p>
        </p:txBody>
      </p:sp>
      <p:sp>
        <p:nvSpPr>
          <p:cNvPr id="33" name="TextBox 32"/>
          <p:cNvSpPr txBox="1"/>
          <p:nvPr/>
        </p:nvSpPr>
        <p:spPr>
          <a:xfrm>
            <a:off x="2880360" y="3611879"/>
            <a:ext cx="1554480" cy="4572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Date d'observation impossible à lire</a:t>
            </a:r>
          </a:p>
        </p:txBody>
      </p:sp>
      <p:sp>
        <p:nvSpPr>
          <p:cNvPr id="34" name="Rounded Rectangle 33"/>
          <p:cNvSpPr/>
          <p:nvPr/>
        </p:nvSpPr>
        <p:spPr>
          <a:xfrm>
            <a:off x="4663440" y="2788920"/>
            <a:ext cx="1783080" cy="13258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4800600" y="2907791"/>
            <a:ext cx="384048" cy="384048"/>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FaCut.png"/>
          <p:cNvPicPr>
            <a:picLocks noChangeAspect="1"/>
          </p:cNvPicPr>
          <p:nvPr/>
        </p:nvPicPr>
        <p:blipFill>
          <a:blip r:embed="rId9"/>
          <a:stretch>
            <a:fillRect/>
          </a:stretch>
        </p:blipFill>
        <p:spPr>
          <a:xfrm>
            <a:off x="4892771" y="2999963"/>
            <a:ext cx="199704" cy="199704"/>
          </a:xfrm>
          <a:prstGeom prst="rect">
            <a:avLst/>
          </a:prstGeom>
        </p:spPr>
      </p:pic>
      <p:sp>
        <p:nvSpPr>
          <p:cNvPr id="37" name="TextBox 36"/>
          <p:cNvSpPr txBox="1"/>
          <p:nvPr/>
        </p:nvSpPr>
        <p:spPr>
          <a:xfrm>
            <a:off x="4800600" y="3355848"/>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Lignes tronquées</a:t>
            </a:r>
          </a:p>
        </p:txBody>
      </p:sp>
      <p:sp>
        <p:nvSpPr>
          <p:cNvPr id="38" name="TextBox 37"/>
          <p:cNvSpPr txBox="1"/>
          <p:nvPr/>
        </p:nvSpPr>
        <p:spPr>
          <a:xfrm>
            <a:off x="4800600" y="3611879"/>
            <a:ext cx="1554480" cy="4572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Colonnes manquantes en fin de ligne</a:t>
            </a:r>
          </a:p>
        </p:txBody>
      </p:sp>
      <p:sp>
        <p:nvSpPr>
          <p:cNvPr id="39" name="Rounded Rectangle 38"/>
          <p:cNvSpPr/>
          <p:nvPr/>
        </p:nvSpPr>
        <p:spPr>
          <a:xfrm>
            <a:off x="6583680" y="2788920"/>
            <a:ext cx="1783080" cy="1325880"/>
          </a:xfrm>
          <a:prstGeom prst="roundRect">
            <a:avLst>
              <a:gd name="adj" fmla="val 8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720840" y="2898648"/>
            <a:ext cx="1554480" cy="228600"/>
          </a:xfrm>
          <a:prstGeom prst="rect">
            <a:avLst/>
          </a:prstGeom>
          <a:noFill/>
        </p:spPr>
        <p:txBody>
          <a:bodyPr wrap="square" lIns="0" tIns="0" rIns="0" bIns="0" anchor="t">
            <a:spAutoFit/>
          </a:bodyPr>
          <a:lstStyle/>
          <a:p>
            <a:pPr>
              <a:spcAft>
                <a:spcPts val="300"/>
              </a:spcAft>
            </a:pPr>
            <a:r>
              <a:rPr sz="900" b="1" i="0">
                <a:solidFill>
                  <a:srgbClr val="FCBD0E"/>
                </a:solidFill>
                <a:latin typeface="Inter"/>
              </a:rPr>
              <a:t>CIBLE</a:t>
            </a:r>
          </a:p>
        </p:txBody>
      </p:sp>
      <p:sp>
        <p:nvSpPr>
          <p:cNvPr id="41" name="TextBox 40"/>
          <p:cNvSpPr txBox="1"/>
          <p:nvPr/>
        </p:nvSpPr>
        <p:spPr>
          <a:xfrm>
            <a:off x="6720840" y="3172968"/>
            <a:ext cx="1554480" cy="914400"/>
          </a:xfrm>
          <a:prstGeom prst="rect">
            <a:avLst/>
          </a:prstGeom>
          <a:noFill/>
        </p:spPr>
        <p:txBody>
          <a:bodyPr wrap="square" lIns="0" tIns="0" rIns="0" bIns="0" anchor="t">
            <a:spAutoFit/>
          </a:bodyPr>
          <a:lstStyle/>
          <a:p>
            <a:pPr>
              <a:spcAft>
                <a:spcPts val="300"/>
              </a:spcAft>
            </a:pPr>
            <a:r>
              <a:rPr sz="1200" b="1" i="0">
                <a:solidFill>
                  <a:srgbClr val="FFFFFF"/>
                </a:solidFill>
                <a:latin typeface="Inter"/>
              </a:rPr>
              <a:t>Un catalogue fiable et la trace de chaque rejet</a:t>
            </a:r>
          </a:p>
        </p:txBody>
      </p:sp>
      <p:sp>
        <p:nvSpPr>
          <p:cNvPr id="42" name="TextBox 41"/>
          <p:cNvSpPr txBox="1"/>
          <p:nvPr/>
        </p:nvSpPr>
        <p:spPr>
          <a:xfrm>
            <a:off x="868680" y="4251960"/>
            <a:ext cx="7589520" cy="457200"/>
          </a:xfrm>
          <a:prstGeom prst="rect">
            <a:avLst/>
          </a:prstGeom>
          <a:noFill/>
        </p:spPr>
        <p:txBody>
          <a:bodyPr wrap="square" lIns="0" tIns="0" rIns="0" bIns="0" anchor="t">
            <a:spAutoFit/>
          </a:bodyPr>
          <a:lstStyle/>
          <a:p>
            <a:pPr>
              <a:spcAft>
                <a:spcPts val="300"/>
              </a:spcAft>
            </a:pPr>
            <a:r>
              <a:rPr sz="1200" b="0" i="1">
                <a:solidFill>
                  <a:srgbClr val="17175A"/>
                </a:solidFill>
                <a:latin typeface="Inter"/>
              </a:rPr>
              <a:t>Un tel fichier ne peut pas être utilisé tel quel : il faut le nettoyer, le valider, et savoir ce qui a été écarté.</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 Contexte et problématique</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b. La problématique</a:t>
            </a:r>
          </a:p>
        </p:txBody>
      </p:sp>
      <p:sp>
        <p:nvSpPr>
          <p:cNvPr id="4" name="Rounded Rectangle 3"/>
          <p:cNvSpPr/>
          <p:nvPr/>
        </p:nvSpPr>
        <p:spPr>
          <a:xfrm>
            <a:off x="868680" y="1280160"/>
            <a:ext cx="7635240" cy="13258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51560" y="1280160"/>
            <a:ext cx="7269480" cy="1325880"/>
          </a:xfrm>
          <a:prstGeom prst="rect">
            <a:avLst/>
          </a:prstGeom>
          <a:noFill/>
        </p:spPr>
        <p:txBody>
          <a:bodyPr wrap="square" lIns="0" tIns="0" rIns="0" bIns="0" anchor="ctr">
            <a:spAutoFit/>
          </a:bodyPr>
          <a:lstStyle/>
          <a:p>
            <a:pPr>
              <a:lnSpc>
                <a:spcPct val="115000"/>
              </a:lnSpc>
              <a:spcAft>
                <a:spcPts val="300"/>
              </a:spcAft>
            </a:pPr>
            <a:r>
              <a:rPr sz="1400" b="1" i="0">
                <a:solidFill>
                  <a:srgbClr val="17175A"/>
                </a:solidFill>
                <a:latin typeface="Inter"/>
              </a:rPr>
              <a:t>Comment transformer un export brut de 542 009 lignes en un catalogue de produits fiable, consultable par API, tout en garantissant qu'une relance ne duplique rien, même après une coupure en pleine exécution ?</a:t>
            </a:r>
          </a:p>
        </p:txBody>
      </p:sp>
      <p:sp>
        <p:nvSpPr>
          <p:cNvPr id="6" name="Rounded Rectangle 5"/>
          <p:cNvSpPr/>
          <p:nvPr/>
        </p:nvSpPr>
        <p:spPr>
          <a:xfrm>
            <a:off x="868680" y="2834640"/>
            <a:ext cx="2468880" cy="1783080"/>
          </a:xfrm>
          <a:prstGeom prst="roundRect">
            <a:avLst>
              <a:gd name="adj" fmla="val 8000"/>
            </a:avLst>
          </a:prstGeom>
          <a:solidFill>
            <a:srgbClr val="FFFFFF"/>
          </a:solidFill>
          <a:ln w="19050">
            <a:solidFill>
              <a:srgbClr val="FCBD0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05839" y="2971800"/>
            <a:ext cx="365760" cy="365760"/>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05839" y="2971800"/>
            <a:ext cx="365760" cy="365760"/>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1</a:t>
            </a:r>
          </a:p>
        </p:txBody>
      </p:sp>
      <p:sp>
        <p:nvSpPr>
          <p:cNvPr id="9" name="TextBox 8"/>
          <p:cNvSpPr txBox="1"/>
          <p:nvPr/>
        </p:nvSpPr>
        <p:spPr>
          <a:xfrm>
            <a:off x="1463040" y="2971800"/>
            <a:ext cx="1783080" cy="365760"/>
          </a:xfrm>
          <a:prstGeom prst="rect">
            <a:avLst/>
          </a:prstGeom>
          <a:noFill/>
        </p:spPr>
        <p:txBody>
          <a:bodyPr wrap="square" lIns="0" tIns="0" rIns="0" bIns="0" anchor="ctr">
            <a:spAutoFit/>
          </a:bodyPr>
          <a:lstStyle/>
          <a:p>
            <a:pPr>
              <a:spcAft>
                <a:spcPts val="300"/>
              </a:spcAft>
            </a:pPr>
            <a:r>
              <a:rPr sz="1300" b="1" i="0">
                <a:solidFill>
                  <a:srgbClr val="17175A"/>
                </a:solidFill>
                <a:latin typeface="Inter"/>
              </a:rPr>
              <a:t>Fiabiliser</a:t>
            </a:r>
          </a:p>
        </p:txBody>
      </p:sp>
      <p:sp>
        <p:nvSpPr>
          <p:cNvPr id="10" name="TextBox 9"/>
          <p:cNvSpPr txBox="1"/>
          <p:nvPr/>
        </p:nvSpPr>
        <p:spPr>
          <a:xfrm>
            <a:off x="1005839" y="3474720"/>
            <a:ext cx="2194560" cy="1097280"/>
          </a:xfrm>
          <a:prstGeom prst="rect">
            <a:avLst/>
          </a:prstGeom>
          <a:noFill/>
        </p:spPr>
        <p:txBody>
          <a:bodyPr wrap="square" lIns="0" tIns="0" rIns="0" bIns="0" anchor="t">
            <a:spAutoFit/>
          </a:bodyPr>
          <a:lstStyle/>
          <a:p>
            <a:pPr>
              <a:lnSpc>
                <a:spcPct val="110000"/>
              </a:lnSpc>
              <a:spcAft>
                <a:spcPts val="300"/>
              </a:spcAft>
            </a:pPr>
            <a:r>
              <a:rPr sz="1100" b="0" i="0">
                <a:solidFill>
                  <a:srgbClr val="17175A"/>
                </a:solidFill>
                <a:latin typeface="Inter"/>
              </a:rPr>
              <a:t>Comment valider chaque ligne et tracer ce qui est rejeté, et pourquoi ?</a:t>
            </a:r>
          </a:p>
        </p:txBody>
      </p:sp>
      <p:sp>
        <p:nvSpPr>
          <p:cNvPr id="11" name="Rounded Rectangle 10"/>
          <p:cNvSpPr/>
          <p:nvPr/>
        </p:nvSpPr>
        <p:spPr>
          <a:xfrm>
            <a:off x="3447287" y="2834640"/>
            <a:ext cx="2468880" cy="1783080"/>
          </a:xfrm>
          <a:prstGeom prst="roundRect">
            <a:avLst>
              <a:gd name="adj" fmla="val 8000"/>
            </a:avLst>
          </a:prstGeom>
          <a:solidFill>
            <a:srgbClr val="FFFFFF"/>
          </a:solidFill>
          <a:ln w="19050">
            <a:solidFill>
              <a:srgbClr val="FC81F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3584447" y="2971800"/>
            <a:ext cx="365760" cy="365760"/>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584447" y="2971800"/>
            <a:ext cx="365760" cy="365760"/>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2</a:t>
            </a:r>
          </a:p>
        </p:txBody>
      </p:sp>
      <p:sp>
        <p:nvSpPr>
          <p:cNvPr id="14" name="TextBox 13"/>
          <p:cNvSpPr txBox="1"/>
          <p:nvPr/>
        </p:nvSpPr>
        <p:spPr>
          <a:xfrm>
            <a:off x="4041648" y="2971800"/>
            <a:ext cx="1783080" cy="365760"/>
          </a:xfrm>
          <a:prstGeom prst="rect">
            <a:avLst/>
          </a:prstGeom>
          <a:noFill/>
        </p:spPr>
        <p:txBody>
          <a:bodyPr wrap="square" lIns="0" tIns="0" rIns="0" bIns="0" anchor="ctr">
            <a:spAutoFit/>
          </a:bodyPr>
          <a:lstStyle/>
          <a:p>
            <a:pPr>
              <a:spcAft>
                <a:spcPts val="300"/>
              </a:spcAft>
            </a:pPr>
            <a:r>
              <a:rPr sz="1300" b="1" i="0">
                <a:solidFill>
                  <a:srgbClr val="17175A"/>
                </a:solidFill>
                <a:latin typeface="Inter"/>
              </a:rPr>
              <a:t>Garantir</a:t>
            </a:r>
          </a:p>
        </p:txBody>
      </p:sp>
      <p:sp>
        <p:nvSpPr>
          <p:cNvPr id="15" name="TextBox 14"/>
          <p:cNvSpPr txBox="1"/>
          <p:nvPr/>
        </p:nvSpPr>
        <p:spPr>
          <a:xfrm>
            <a:off x="3584447" y="3474720"/>
            <a:ext cx="2194560" cy="1097280"/>
          </a:xfrm>
          <a:prstGeom prst="rect">
            <a:avLst/>
          </a:prstGeom>
          <a:noFill/>
        </p:spPr>
        <p:txBody>
          <a:bodyPr wrap="square" lIns="0" tIns="0" rIns="0" bIns="0" anchor="t">
            <a:spAutoFit/>
          </a:bodyPr>
          <a:lstStyle/>
          <a:p>
            <a:pPr>
              <a:lnSpc>
                <a:spcPct val="110000"/>
              </a:lnSpc>
              <a:spcAft>
                <a:spcPts val="300"/>
              </a:spcAft>
            </a:pPr>
            <a:r>
              <a:rPr sz="1100" b="0" i="0">
                <a:solidFill>
                  <a:srgbClr val="17175A"/>
                </a:solidFill>
                <a:latin typeface="Inter"/>
              </a:rPr>
              <a:t>Comment assurer qu'une, dix ou cent relances produisent exactement le même catalogue ?</a:t>
            </a:r>
          </a:p>
        </p:txBody>
      </p:sp>
      <p:sp>
        <p:nvSpPr>
          <p:cNvPr id="16" name="Rounded Rectangle 15"/>
          <p:cNvSpPr/>
          <p:nvPr/>
        </p:nvSpPr>
        <p:spPr>
          <a:xfrm>
            <a:off x="6025896" y="2834640"/>
            <a:ext cx="2468880" cy="1783080"/>
          </a:xfrm>
          <a:prstGeom prst="roundRect">
            <a:avLst>
              <a:gd name="adj" fmla="val 8000"/>
            </a:avLst>
          </a:prstGeom>
          <a:solidFill>
            <a:srgbClr val="FFFFFF"/>
          </a:solidFill>
          <a:ln w="19050">
            <a:solidFill>
              <a:srgbClr val="7CE1C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6163056" y="2971800"/>
            <a:ext cx="365760" cy="365760"/>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163056" y="2971800"/>
            <a:ext cx="365760" cy="365760"/>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3</a:t>
            </a:r>
          </a:p>
        </p:txBody>
      </p:sp>
      <p:sp>
        <p:nvSpPr>
          <p:cNvPr id="19" name="TextBox 18"/>
          <p:cNvSpPr txBox="1"/>
          <p:nvPr/>
        </p:nvSpPr>
        <p:spPr>
          <a:xfrm>
            <a:off x="6620256" y="2971800"/>
            <a:ext cx="1783080" cy="365760"/>
          </a:xfrm>
          <a:prstGeom prst="rect">
            <a:avLst/>
          </a:prstGeom>
          <a:noFill/>
        </p:spPr>
        <p:txBody>
          <a:bodyPr wrap="square" lIns="0" tIns="0" rIns="0" bIns="0" anchor="ctr">
            <a:spAutoFit/>
          </a:bodyPr>
          <a:lstStyle/>
          <a:p>
            <a:pPr>
              <a:spcAft>
                <a:spcPts val="300"/>
              </a:spcAft>
            </a:pPr>
            <a:r>
              <a:rPr sz="1300" b="1" i="0">
                <a:solidFill>
                  <a:srgbClr val="17175A"/>
                </a:solidFill>
                <a:latin typeface="Inter"/>
              </a:rPr>
              <a:t>Résister</a:t>
            </a:r>
          </a:p>
        </p:txBody>
      </p:sp>
      <p:sp>
        <p:nvSpPr>
          <p:cNvPr id="20" name="TextBox 19"/>
          <p:cNvSpPr txBox="1"/>
          <p:nvPr/>
        </p:nvSpPr>
        <p:spPr>
          <a:xfrm>
            <a:off x="6163056" y="3474720"/>
            <a:ext cx="2194560" cy="1097280"/>
          </a:xfrm>
          <a:prstGeom prst="rect">
            <a:avLst/>
          </a:prstGeom>
          <a:noFill/>
        </p:spPr>
        <p:txBody>
          <a:bodyPr wrap="square" lIns="0" tIns="0" rIns="0" bIns="0" anchor="t">
            <a:spAutoFit/>
          </a:bodyPr>
          <a:lstStyle/>
          <a:p>
            <a:pPr>
              <a:lnSpc>
                <a:spcPct val="110000"/>
              </a:lnSpc>
              <a:spcAft>
                <a:spcPts val="300"/>
              </a:spcAft>
            </a:pPr>
            <a:r>
              <a:rPr sz="1100" b="0" i="0">
                <a:solidFill>
                  <a:srgbClr val="17175A"/>
                </a:solidFill>
                <a:latin typeface="Inter"/>
              </a:rPr>
              <a:t>Comment reprendre automatiquement après une coupure de PostgreSQL, sans intervention manuelle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 Contexte et problématique</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c. Les sept exigences du sujet</a:t>
            </a:r>
          </a:p>
        </p:txBody>
      </p:sp>
      <p:sp>
        <p:nvSpPr>
          <p:cNvPr id="4" name="Rounded Rectangle 3"/>
          <p:cNvSpPr/>
          <p:nvPr/>
        </p:nvSpPr>
        <p:spPr>
          <a:xfrm>
            <a:off x="822960" y="1325880"/>
            <a:ext cx="1783080" cy="15544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960120" y="1444752"/>
            <a:ext cx="347472" cy="347472"/>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60120" y="1444752"/>
            <a:ext cx="347472" cy="347472"/>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1</a:t>
            </a:r>
          </a:p>
        </p:txBody>
      </p:sp>
      <p:sp>
        <p:nvSpPr>
          <p:cNvPr id="7" name="TextBox 6"/>
          <p:cNvSpPr txBox="1"/>
          <p:nvPr/>
        </p:nvSpPr>
        <p:spPr>
          <a:xfrm>
            <a:off x="960120" y="1892807"/>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Jeu de données</a:t>
            </a:r>
          </a:p>
        </p:txBody>
      </p:sp>
      <p:sp>
        <p:nvSpPr>
          <p:cNvPr id="8" name="TextBox 7"/>
          <p:cNvSpPr txBox="1"/>
          <p:nvPr/>
        </p:nvSpPr>
        <p:spPr>
          <a:xfrm>
            <a:off x="960120" y="2167128"/>
            <a:ext cx="1554480" cy="6858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Définir un jeu de produits (ici : product_dataset.csv)</a:t>
            </a:r>
          </a:p>
        </p:txBody>
      </p:sp>
      <p:sp>
        <p:nvSpPr>
          <p:cNvPr id="9" name="Rounded Rectangle 8"/>
          <p:cNvSpPr/>
          <p:nvPr/>
        </p:nvSpPr>
        <p:spPr>
          <a:xfrm>
            <a:off x="2743200" y="1325880"/>
            <a:ext cx="1783080" cy="15544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2880360" y="1444752"/>
            <a:ext cx="347472" cy="347472"/>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880360" y="1444752"/>
            <a:ext cx="347472" cy="347472"/>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2</a:t>
            </a:r>
          </a:p>
        </p:txBody>
      </p:sp>
      <p:sp>
        <p:nvSpPr>
          <p:cNvPr id="12" name="TextBox 11"/>
          <p:cNvSpPr txBox="1"/>
          <p:nvPr/>
        </p:nvSpPr>
        <p:spPr>
          <a:xfrm>
            <a:off x="2880360" y="1892807"/>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ETL</a:t>
            </a:r>
          </a:p>
        </p:txBody>
      </p:sp>
      <p:sp>
        <p:nvSpPr>
          <p:cNvPr id="13" name="TextBox 12"/>
          <p:cNvSpPr txBox="1"/>
          <p:nvPr/>
        </p:nvSpPr>
        <p:spPr>
          <a:xfrm>
            <a:off x="2880360" y="2167128"/>
            <a:ext cx="1554480" cy="6858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Écrire l'extraction, la transformation et le chargement</a:t>
            </a:r>
          </a:p>
        </p:txBody>
      </p:sp>
      <p:sp>
        <p:nvSpPr>
          <p:cNvPr id="14" name="Rounded Rectangle 13"/>
          <p:cNvSpPr/>
          <p:nvPr/>
        </p:nvSpPr>
        <p:spPr>
          <a:xfrm>
            <a:off x="4663440" y="1325880"/>
            <a:ext cx="1783080" cy="15544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800600" y="1444752"/>
            <a:ext cx="347472" cy="347472"/>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800600" y="1444752"/>
            <a:ext cx="347472" cy="347472"/>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3</a:t>
            </a:r>
          </a:p>
        </p:txBody>
      </p:sp>
      <p:sp>
        <p:nvSpPr>
          <p:cNvPr id="17" name="TextBox 16"/>
          <p:cNvSpPr txBox="1"/>
          <p:nvPr/>
        </p:nvSpPr>
        <p:spPr>
          <a:xfrm>
            <a:off x="4800600" y="1892807"/>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Orchestration</a:t>
            </a:r>
          </a:p>
        </p:txBody>
      </p:sp>
      <p:sp>
        <p:nvSpPr>
          <p:cNvPr id="18" name="TextBox 17"/>
          <p:cNvSpPr txBox="1"/>
          <p:nvPr/>
        </p:nvSpPr>
        <p:spPr>
          <a:xfrm>
            <a:off x="4800600" y="2167128"/>
            <a:ext cx="1554480" cy="6858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Enchaîner les étapes avec Dagster</a:t>
            </a:r>
          </a:p>
        </p:txBody>
      </p:sp>
      <p:sp>
        <p:nvSpPr>
          <p:cNvPr id="19" name="Rounded Rectangle 18"/>
          <p:cNvSpPr/>
          <p:nvPr/>
        </p:nvSpPr>
        <p:spPr>
          <a:xfrm>
            <a:off x="6583680" y="1325880"/>
            <a:ext cx="1783080" cy="15544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720840" y="1444752"/>
            <a:ext cx="347472" cy="347472"/>
          </a:xfrm>
          <a:prstGeom prst="ellipse">
            <a:avLst/>
          </a:prstGeom>
          <a:solidFill>
            <a:srgbClr val="6E6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20840" y="1444752"/>
            <a:ext cx="347472" cy="347472"/>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4</a:t>
            </a:r>
          </a:p>
        </p:txBody>
      </p:sp>
      <p:sp>
        <p:nvSpPr>
          <p:cNvPr id="22" name="TextBox 21"/>
          <p:cNvSpPr txBox="1"/>
          <p:nvPr/>
        </p:nvSpPr>
        <p:spPr>
          <a:xfrm>
            <a:off x="6720840" y="1892807"/>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Idempotence</a:t>
            </a:r>
          </a:p>
        </p:txBody>
      </p:sp>
      <p:sp>
        <p:nvSpPr>
          <p:cNvPr id="23" name="TextBox 22"/>
          <p:cNvSpPr txBox="1"/>
          <p:nvPr/>
        </p:nvSpPr>
        <p:spPr>
          <a:xfrm>
            <a:off x="6720840" y="2167128"/>
            <a:ext cx="1554480" cy="6858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Garantir qu'une relance est sans effet, documenter la reprise</a:t>
            </a:r>
          </a:p>
        </p:txBody>
      </p:sp>
      <p:sp>
        <p:nvSpPr>
          <p:cNvPr id="24" name="Rounded Rectangle 23"/>
          <p:cNvSpPr/>
          <p:nvPr/>
        </p:nvSpPr>
        <p:spPr>
          <a:xfrm>
            <a:off x="822960" y="3017520"/>
            <a:ext cx="1783080" cy="15544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60120" y="3136391"/>
            <a:ext cx="347472" cy="347472"/>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60120" y="3136391"/>
            <a:ext cx="347472" cy="347472"/>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5</a:t>
            </a:r>
          </a:p>
        </p:txBody>
      </p:sp>
      <p:sp>
        <p:nvSpPr>
          <p:cNvPr id="27" name="TextBox 26"/>
          <p:cNvSpPr txBox="1"/>
          <p:nvPr/>
        </p:nvSpPr>
        <p:spPr>
          <a:xfrm>
            <a:off x="960120" y="3584448"/>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Mesure</a:t>
            </a:r>
          </a:p>
        </p:txBody>
      </p:sp>
      <p:sp>
        <p:nvSpPr>
          <p:cNvPr id="28" name="TextBox 27"/>
          <p:cNvSpPr txBox="1"/>
          <p:nvPr/>
        </p:nvSpPr>
        <p:spPr>
          <a:xfrm>
            <a:off x="960120" y="3858768"/>
            <a:ext cx="1554480" cy="6858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Compter lignes extraites, insérées, modifiées, rejetées</a:t>
            </a:r>
          </a:p>
        </p:txBody>
      </p:sp>
      <p:sp>
        <p:nvSpPr>
          <p:cNvPr id="29" name="Rounded Rectangle 28"/>
          <p:cNvSpPr/>
          <p:nvPr/>
        </p:nvSpPr>
        <p:spPr>
          <a:xfrm>
            <a:off x="2743200" y="3017520"/>
            <a:ext cx="1783080" cy="15544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2880360" y="3136391"/>
            <a:ext cx="347472" cy="347472"/>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2880360" y="3136391"/>
            <a:ext cx="347472" cy="347472"/>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6</a:t>
            </a:r>
          </a:p>
        </p:txBody>
      </p:sp>
      <p:sp>
        <p:nvSpPr>
          <p:cNvPr id="32" name="TextBox 31"/>
          <p:cNvSpPr txBox="1"/>
          <p:nvPr/>
        </p:nvSpPr>
        <p:spPr>
          <a:xfrm>
            <a:off x="2880360" y="3584448"/>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API Express.js</a:t>
            </a:r>
          </a:p>
        </p:txBody>
      </p:sp>
      <p:sp>
        <p:nvSpPr>
          <p:cNvPr id="33" name="TextBox 32"/>
          <p:cNvSpPr txBox="1"/>
          <p:nvPr/>
        </p:nvSpPr>
        <p:spPr>
          <a:xfrm>
            <a:off x="2880360" y="3858768"/>
            <a:ext cx="1554480" cy="6858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Exposer les données et le dernier résultat de contrôle</a:t>
            </a:r>
          </a:p>
        </p:txBody>
      </p:sp>
      <p:sp>
        <p:nvSpPr>
          <p:cNvPr id="34" name="Rounded Rectangle 33"/>
          <p:cNvSpPr/>
          <p:nvPr/>
        </p:nvSpPr>
        <p:spPr>
          <a:xfrm>
            <a:off x="4663440" y="3017520"/>
            <a:ext cx="1783080" cy="15544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4800600" y="3136391"/>
            <a:ext cx="347472" cy="347472"/>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800600" y="3136391"/>
            <a:ext cx="347472" cy="347472"/>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7</a:t>
            </a:r>
          </a:p>
        </p:txBody>
      </p:sp>
      <p:sp>
        <p:nvSpPr>
          <p:cNvPr id="37" name="TextBox 36"/>
          <p:cNvSpPr txBox="1"/>
          <p:nvPr/>
        </p:nvSpPr>
        <p:spPr>
          <a:xfrm>
            <a:off x="4800600" y="3584448"/>
            <a:ext cx="155448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Tests</a:t>
            </a:r>
          </a:p>
        </p:txBody>
      </p:sp>
      <p:sp>
        <p:nvSpPr>
          <p:cNvPr id="38" name="TextBox 37"/>
          <p:cNvSpPr txBox="1"/>
          <p:nvPr/>
        </p:nvSpPr>
        <p:spPr>
          <a:xfrm>
            <a:off x="4800600" y="3858768"/>
            <a:ext cx="1554480" cy="6858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Doublons, données invalides, indisponibilité temporaire de PostgreSQL</a:t>
            </a:r>
          </a:p>
        </p:txBody>
      </p:sp>
      <p:sp>
        <p:nvSpPr>
          <p:cNvPr id="39" name="Rounded Rectangle 38"/>
          <p:cNvSpPr/>
          <p:nvPr/>
        </p:nvSpPr>
        <p:spPr>
          <a:xfrm>
            <a:off x="6583680" y="3017520"/>
            <a:ext cx="1783080" cy="1554480"/>
          </a:xfrm>
          <a:prstGeom prst="roundRect">
            <a:avLst>
              <a:gd name="adj" fmla="val 8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720840" y="3127248"/>
            <a:ext cx="1554480" cy="228600"/>
          </a:xfrm>
          <a:prstGeom prst="rect">
            <a:avLst/>
          </a:prstGeom>
          <a:noFill/>
        </p:spPr>
        <p:txBody>
          <a:bodyPr wrap="square" lIns="0" tIns="0" rIns="0" bIns="0" anchor="t">
            <a:spAutoFit/>
          </a:bodyPr>
          <a:lstStyle/>
          <a:p>
            <a:pPr>
              <a:spcAft>
                <a:spcPts val="300"/>
              </a:spcAft>
            </a:pPr>
            <a:r>
              <a:rPr sz="900" b="1" i="0">
                <a:solidFill>
                  <a:srgbClr val="FCBD0E"/>
                </a:solidFill>
                <a:latin typeface="Inter"/>
              </a:rPr>
              <a:t>LIVRABLES</a:t>
            </a:r>
          </a:p>
        </p:txBody>
      </p:sp>
      <p:sp>
        <p:nvSpPr>
          <p:cNvPr id="41" name="TextBox 40"/>
          <p:cNvSpPr txBox="1"/>
          <p:nvPr/>
        </p:nvSpPr>
        <p:spPr>
          <a:xfrm>
            <a:off x="6720840" y="3429000"/>
            <a:ext cx="1554480" cy="1097280"/>
          </a:xfrm>
          <a:prstGeom prst="rect">
            <a:avLst/>
          </a:prstGeom>
          <a:noFill/>
        </p:spPr>
        <p:txBody>
          <a:bodyPr wrap="square" lIns="0" tIns="0" rIns="0" bIns="0" anchor="t">
            <a:spAutoFit/>
          </a:bodyPr>
          <a:lstStyle/>
          <a:p>
            <a:pPr>
              <a:spcAft>
                <a:spcPts val="300"/>
              </a:spcAft>
            </a:pPr>
            <a:r>
              <a:rPr sz="1050" b="0" i="0">
                <a:solidFill>
                  <a:srgbClr val="FFFFFF"/>
                </a:solidFill>
                <a:latin typeface="Inter"/>
              </a:rPr>
              <a:t>Dépôt Git public, README, tests, installation reproductible, présentation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 Contexte et problématique</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d. Pourquoi une API plutôt qu'un accès direct</a:t>
            </a:r>
          </a:p>
        </p:txBody>
      </p:sp>
      <p:sp>
        <p:nvSpPr>
          <p:cNvPr id="4" name="Rounded Rectangle 3"/>
          <p:cNvSpPr/>
          <p:nvPr/>
        </p:nvSpPr>
        <p:spPr>
          <a:xfrm>
            <a:off x="868680" y="1280160"/>
            <a:ext cx="3749039" cy="2514600"/>
          </a:xfrm>
          <a:prstGeom prst="roundRect">
            <a:avLst>
              <a:gd name="adj" fmla="val 8000"/>
            </a:avLst>
          </a:prstGeom>
          <a:solidFill>
            <a:srgbClr val="FB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FaTimesCircle.png"/>
          <p:cNvPicPr>
            <a:picLocks noChangeAspect="1"/>
          </p:cNvPicPr>
          <p:nvPr/>
        </p:nvPicPr>
        <p:blipFill>
          <a:blip r:embed="rId3"/>
          <a:stretch>
            <a:fillRect/>
          </a:stretch>
        </p:blipFill>
        <p:spPr>
          <a:xfrm>
            <a:off x="1051560" y="1417320"/>
            <a:ext cx="347472" cy="347472"/>
          </a:xfrm>
          <a:prstGeom prst="rect">
            <a:avLst/>
          </a:prstGeom>
        </p:spPr>
      </p:pic>
      <p:sp>
        <p:nvSpPr>
          <p:cNvPr id="6" name="TextBox 5"/>
          <p:cNvSpPr txBox="1"/>
          <p:nvPr/>
        </p:nvSpPr>
        <p:spPr>
          <a:xfrm>
            <a:off x="1508760" y="1417320"/>
            <a:ext cx="3017520" cy="347472"/>
          </a:xfrm>
          <a:prstGeom prst="rect">
            <a:avLst/>
          </a:prstGeom>
          <a:noFill/>
        </p:spPr>
        <p:txBody>
          <a:bodyPr wrap="square" lIns="0" tIns="0" rIns="0" bIns="0" anchor="ctr">
            <a:spAutoFit/>
          </a:bodyPr>
          <a:lstStyle/>
          <a:p>
            <a:pPr>
              <a:spcAft>
                <a:spcPts val="300"/>
              </a:spcAft>
            </a:pPr>
            <a:r>
              <a:rPr sz="1300" b="1" i="0">
                <a:solidFill>
                  <a:srgbClr val="17175A"/>
                </a:solidFill>
                <a:latin typeface="Inter"/>
              </a:rPr>
              <a:t>Accès direct à PostgreSQL</a:t>
            </a:r>
          </a:p>
        </p:txBody>
      </p:sp>
      <p:sp>
        <p:nvSpPr>
          <p:cNvPr id="7" name="TextBox 6"/>
          <p:cNvSpPr txBox="1"/>
          <p:nvPr/>
        </p:nvSpPr>
        <p:spPr>
          <a:xfrm>
            <a:off x="1097280" y="2011680"/>
            <a:ext cx="3383280" cy="1737360"/>
          </a:xfrm>
          <a:prstGeom prst="rect">
            <a:avLst/>
          </a:prstGeom>
          <a:noFill/>
        </p:spPr>
        <p:txBody>
          <a:bodyPr wrap="square" lIns="0" tIns="0" rIns="0" bIns="0" anchor="t">
            <a:spAutoFit/>
          </a:bodyPr>
          <a:lstStyle/>
          <a:p>
            <a:pPr marL="171450" indent="-171450">
              <a:lnSpc>
                <a:spcPct val="115000"/>
              </a:lnSpc>
              <a:spcAft>
                <a:spcPts val="900"/>
              </a:spcAft>
              <a:buClr>
                <a:srgbClr val="FA9D02"/>
              </a:buClr>
              <a:buSzPct val="80000"/>
              <a:buFont typeface="Arial"/>
              <a:buChar char="●"/>
            </a:pPr>
            <a:r>
              <a:rPr sz="1200" b="0" i="0">
                <a:solidFill>
                  <a:srgbClr val="17175A"/>
                </a:solidFill>
                <a:latin typeface="Inter"/>
              </a:rPr>
              <a:t>Il faut distribuer des identifiants de base de données</a:t>
            </a:r>
          </a:p>
          <a:p>
            <a:pPr marL="171450" indent="-171450">
              <a:lnSpc>
                <a:spcPct val="115000"/>
              </a:lnSpc>
              <a:spcAft>
                <a:spcPts val="900"/>
              </a:spcAft>
              <a:buClr>
                <a:srgbClr val="FA9D02"/>
              </a:buClr>
              <a:buSzPct val="80000"/>
              <a:buFont typeface="Arial"/>
              <a:buChar char="●"/>
            </a:pPr>
            <a:r>
              <a:rPr sz="1200" b="0" i="0">
                <a:solidFill>
                  <a:srgbClr val="17175A"/>
                </a:solidFill>
                <a:latin typeface="Inter"/>
              </a:rPr>
              <a:t>Le schéma ne peut plus évoluer sans casser les clients</a:t>
            </a:r>
          </a:p>
          <a:p>
            <a:pPr marL="171450" indent="-171450">
              <a:lnSpc>
                <a:spcPct val="115000"/>
              </a:lnSpc>
              <a:spcAft>
                <a:spcPts val="900"/>
              </a:spcAft>
              <a:buClr>
                <a:srgbClr val="FA9D02"/>
              </a:buClr>
              <a:buSzPct val="80000"/>
              <a:buFont typeface="Arial"/>
              <a:buChar char="●"/>
            </a:pPr>
            <a:r>
              <a:rPr sz="1200" b="0" i="0">
                <a:solidFill>
                  <a:srgbClr val="17175A"/>
                </a:solidFill>
                <a:latin typeface="Inter"/>
              </a:rPr>
              <a:t>Aucun contrôle sur ce qui est exposé</a:t>
            </a:r>
          </a:p>
        </p:txBody>
      </p:sp>
      <p:sp>
        <p:nvSpPr>
          <p:cNvPr id="8" name="Rounded Rectangle 7"/>
          <p:cNvSpPr/>
          <p:nvPr/>
        </p:nvSpPr>
        <p:spPr>
          <a:xfrm>
            <a:off x="4754880" y="1280160"/>
            <a:ext cx="3749039" cy="2514600"/>
          </a:xfrm>
          <a:prstGeom prst="roundRect">
            <a:avLst>
              <a:gd name="adj" fmla="val 8000"/>
            </a:avLst>
          </a:prstGeom>
          <a:solidFill>
            <a:srgbClr val="DD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FaCheckCircle.png"/>
          <p:cNvPicPr>
            <a:picLocks noChangeAspect="1"/>
          </p:cNvPicPr>
          <p:nvPr/>
        </p:nvPicPr>
        <p:blipFill>
          <a:blip r:embed="rId4"/>
          <a:stretch>
            <a:fillRect/>
          </a:stretch>
        </p:blipFill>
        <p:spPr>
          <a:xfrm>
            <a:off x="4937760" y="1417320"/>
            <a:ext cx="347472" cy="347472"/>
          </a:xfrm>
          <a:prstGeom prst="rect">
            <a:avLst/>
          </a:prstGeom>
        </p:spPr>
      </p:pic>
      <p:sp>
        <p:nvSpPr>
          <p:cNvPr id="10" name="TextBox 9"/>
          <p:cNvSpPr txBox="1"/>
          <p:nvPr/>
        </p:nvSpPr>
        <p:spPr>
          <a:xfrm>
            <a:off x="5394960" y="1417320"/>
            <a:ext cx="3017520" cy="347472"/>
          </a:xfrm>
          <a:prstGeom prst="rect">
            <a:avLst/>
          </a:prstGeom>
          <a:noFill/>
        </p:spPr>
        <p:txBody>
          <a:bodyPr wrap="square" lIns="0" tIns="0" rIns="0" bIns="0" anchor="ctr">
            <a:spAutoFit/>
          </a:bodyPr>
          <a:lstStyle/>
          <a:p>
            <a:pPr>
              <a:spcAft>
                <a:spcPts val="300"/>
              </a:spcAft>
            </a:pPr>
            <a:r>
              <a:rPr sz="1300" b="1" i="0">
                <a:solidFill>
                  <a:srgbClr val="17175A"/>
                </a:solidFill>
                <a:latin typeface="Inter"/>
              </a:rPr>
              <a:t>API Express.js (choix du projet)</a:t>
            </a:r>
          </a:p>
        </p:txBody>
      </p:sp>
      <p:sp>
        <p:nvSpPr>
          <p:cNvPr id="11" name="TextBox 10"/>
          <p:cNvSpPr txBox="1"/>
          <p:nvPr/>
        </p:nvSpPr>
        <p:spPr>
          <a:xfrm>
            <a:off x="4983480" y="2011680"/>
            <a:ext cx="3383280" cy="1737360"/>
          </a:xfrm>
          <a:prstGeom prst="rect">
            <a:avLst/>
          </a:prstGeom>
          <a:noFill/>
        </p:spPr>
        <p:txBody>
          <a:bodyPr wrap="square" lIns="0" tIns="0" rIns="0" bIns="0" anchor="t">
            <a:spAutoFit/>
          </a:bodyPr>
          <a:lstStyle/>
          <a:p>
            <a:pPr marL="171450" indent="-171450">
              <a:lnSpc>
                <a:spcPct val="115000"/>
              </a:lnSpc>
              <a:spcAft>
                <a:spcPts val="900"/>
              </a:spcAft>
              <a:buClr>
                <a:srgbClr val="FA9D02"/>
              </a:buClr>
              <a:buSzPct val="80000"/>
              <a:buFont typeface="Arial"/>
              <a:buChar char="●"/>
            </a:pPr>
            <a:r>
              <a:rPr sz="1200" b="0" i="0">
                <a:solidFill>
                  <a:srgbClr val="17175A"/>
                </a:solidFill>
                <a:latin typeface="Inter"/>
              </a:rPr>
              <a:t>Aucun identifiant de base n'est exposé</a:t>
            </a:r>
          </a:p>
          <a:p>
            <a:pPr marL="171450" indent="-171450">
              <a:lnSpc>
                <a:spcPct val="115000"/>
              </a:lnSpc>
              <a:spcAft>
                <a:spcPts val="900"/>
              </a:spcAft>
              <a:buClr>
                <a:srgbClr val="FA9D02"/>
              </a:buClr>
              <a:buSzPct val="80000"/>
              <a:buFont typeface="Arial"/>
              <a:buChar char="●"/>
            </a:pPr>
            <a:r>
              <a:rPr sz="1200" b="0" i="0">
                <a:solidFill>
                  <a:srgbClr val="17175A"/>
                </a:solidFill>
                <a:latin typeface="Inter"/>
              </a:rPr>
              <a:t>Le schéma interne évolue indépendamment des clients</a:t>
            </a:r>
          </a:p>
          <a:p>
            <a:pPr marL="171450" indent="-171450">
              <a:lnSpc>
                <a:spcPct val="115000"/>
              </a:lnSpc>
              <a:spcAft>
                <a:spcPts val="900"/>
              </a:spcAft>
              <a:buClr>
                <a:srgbClr val="FA9D02"/>
              </a:buClr>
              <a:buSzPct val="80000"/>
              <a:buFont typeface="Arial"/>
              <a:buChar char="●"/>
            </a:pPr>
            <a:r>
              <a:rPr sz="1200" b="0" i="0">
                <a:solidFill>
                  <a:srgbClr val="17175A"/>
                </a:solidFill>
                <a:latin typeface="Inter"/>
              </a:rPr>
              <a:t>Quatre routes en lecture, documentées par OpenAPI</a:t>
            </a:r>
          </a:p>
        </p:txBody>
      </p:sp>
      <p:sp>
        <p:nvSpPr>
          <p:cNvPr id="12" name="Rounded Rectangle 11"/>
          <p:cNvSpPr/>
          <p:nvPr/>
        </p:nvSpPr>
        <p:spPr>
          <a:xfrm>
            <a:off x="868680" y="3977639"/>
            <a:ext cx="7635240" cy="640080"/>
          </a:xfrm>
          <a:prstGeom prst="roundRect">
            <a:avLst>
              <a:gd name="adj" fmla="val 8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51560" y="3977639"/>
            <a:ext cx="7315200" cy="640080"/>
          </a:xfrm>
          <a:prstGeom prst="rect">
            <a:avLst/>
          </a:prstGeom>
          <a:noFill/>
        </p:spPr>
        <p:txBody>
          <a:bodyPr wrap="square" lIns="0" tIns="0" rIns="0" bIns="0" anchor="ctr">
            <a:spAutoFit/>
          </a:bodyPr>
          <a:lstStyle/>
          <a:p>
            <a:pPr>
              <a:spcAft>
                <a:spcPts val="300"/>
              </a:spcAft>
            </a:pPr>
            <a:r>
              <a:rPr sz="1100" b="1" i="0">
                <a:solidFill>
                  <a:srgbClr val="FCBD0E"/>
                </a:solidFill>
                <a:latin typeface="Inter"/>
              </a:rPr>
              <a:t>Routes exposées   </a:t>
            </a:r>
            <a:r>
              <a:rPr sz="1050" b="0" i="0">
                <a:solidFill>
                  <a:srgbClr val="FFFFFF"/>
                </a:solidFill>
                <a:latin typeface="Courier New"/>
              </a:rPr>
              <a:t>/sante  ·  /produits  ·  /produits/:reference  ·  /controles/dernier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et fiabilité</a:t>
            </a:r>
          </a:p>
        </p:txBody>
      </p:sp>
      <p:sp>
        <p:nvSpPr>
          <p:cNvPr id="3" name="Title 2"/>
          <p:cNvSpPr>
            <a:spLocks noGrp="1"/>
          </p:cNvSpPr>
          <p:nvPr>
            <p:ph type="title" idx="2"/>
          </p:nvPr>
        </p:nvSpPr>
        <p:spPr/>
        <p:txBody>
          <a:bodyPr/>
          <a:lstStyle/>
          <a:p>
            <a:r>
              <a:t>02.</a:t>
            </a:r>
          </a:p>
        </p:txBody>
      </p:sp>
      <p:sp>
        <p:nvSpPr>
          <p:cNvPr id="4" name="Subtitle 3"/>
          <p:cNvSpPr>
            <a:spLocks noGrp="1"/>
          </p:cNvSpPr>
          <p:nvPr>
            <p:ph type="subTitle" idx="1"/>
          </p:nvPr>
        </p:nvSpPr>
        <p:spPr/>
        <p:txBody>
          <a:bodyPr/>
          <a:lstStyle/>
          <a:p>
            <a:r>
              <a:rPr sz="1300"/>
              <a:t>Trois étapes ETL, Dagster, idempotence et reprise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 Architecture et fiabilité</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a. Architecture du pipeline</a:t>
            </a:r>
          </a:p>
        </p:txBody>
      </p:sp>
      <p:sp>
        <p:nvSpPr>
          <p:cNvPr id="4" name="Rounded Rectangle 3"/>
          <p:cNvSpPr/>
          <p:nvPr/>
        </p:nvSpPr>
        <p:spPr>
          <a:xfrm>
            <a:off x="1965960" y="1325880"/>
            <a:ext cx="4846320" cy="1554480"/>
          </a:xfrm>
          <a:prstGeom prst="roundRect">
            <a:avLst>
              <a:gd name="adj" fmla="val 6000"/>
            </a:avLst>
          </a:prstGeom>
          <a:noFill/>
          <a:ln w="15875">
            <a:solidFill>
              <a:srgbClr val="6E6FF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103120" y="1371600"/>
            <a:ext cx="4572000" cy="228600"/>
          </a:xfrm>
          <a:prstGeom prst="rect">
            <a:avLst/>
          </a:prstGeom>
          <a:noFill/>
        </p:spPr>
        <p:txBody>
          <a:bodyPr wrap="square" lIns="0" tIns="0" rIns="0" bIns="0" anchor="t">
            <a:spAutoFit/>
          </a:bodyPr>
          <a:lstStyle/>
          <a:p>
            <a:pPr>
              <a:spcAft>
                <a:spcPts val="300"/>
              </a:spcAft>
            </a:pPr>
            <a:r>
              <a:rPr sz="950" b="1" i="0">
                <a:solidFill>
                  <a:srgbClr val="6E6FFF"/>
                </a:solidFill>
                <a:latin typeface="Inter"/>
              </a:rPr>
              <a:t>Orchestré par Dagster · job synchronisation_produits</a:t>
            </a:r>
          </a:p>
        </p:txBody>
      </p:sp>
      <p:sp>
        <p:nvSpPr>
          <p:cNvPr id="6" name="Rounded Rectangle 5"/>
          <p:cNvSpPr/>
          <p:nvPr/>
        </p:nvSpPr>
        <p:spPr>
          <a:xfrm>
            <a:off x="502920" y="1783080"/>
            <a:ext cx="1463040" cy="822960"/>
          </a:xfrm>
          <a:prstGeom prst="roundRect">
            <a:avLst>
              <a:gd name="adj" fmla="val 10000"/>
            </a:avLst>
          </a:prstGeom>
          <a:solidFill>
            <a:srgbClr val="FFFFFF"/>
          </a:solidFill>
          <a:ln w="9525">
            <a:solidFill>
              <a:srgbClr val="D8D2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76072" y="1874519"/>
            <a:ext cx="1316736" cy="320040"/>
          </a:xfrm>
          <a:prstGeom prst="rect">
            <a:avLst/>
          </a:prstGeom>
          <a:noFill/>
        </p:spPr>
        <p:txBody>
          <a:bodyPr wrap="square" lIns="0" tIns="0" rIns="0" bIns="0" anchor="ctr">
            <a:spAutoFit/>
          </a:bodyPr>
          <a:lstStyle/>
          <a:p>
            <a:pPr algn="ctr">
              <a:spcAft>
                <a:spcPts val="300"/>
              </a:spcAft>
            </a:pPr>
            <a:r>
              <a:rPr sz="1050" b="1" i="0">
                <a:solidFill>
                  <a:srgbClr val="17175A"/>
                </a:solidFill>
                <a:latin typeface="Inter"/>
              </a:rPr>
              <a:t>product_dataset.csv</a:t>
            </a:r>
          </a:p>
        </p:txBody>
      </p:sp>
      <p:sp>
        <p:nvSpPr>
          <p:cNvPr id="8" name="TextBox 7"/>
          <p:cNvSpPr txBox="1"/>
          <p:nvPr/>
        </p:nvSpPr>
        <p:spPr>
          <a:xfrm>
            <a:off x="576072" y="2221991"/>
            <a:ext cx="1316736" cy="365760"/>
          </a:xfrm>
          <a:prstGeom prst="rect">
            <a:avLst/>
          </a:prstGeom>
          <a:noFill/>
        </p:spPr>
        <p:txBody>
          <a:bodyPr wrap="square" lIns="0" tIns="0" rIns="0" bIns="0" anchor="t">
            <a:spAutoFit/>
          </a:bodyPr>
          <a:lstStyle/>
          <a:p>
            <a:pPr algn="ctr">
              <a:spcAft>
                <a:spcPts val="300"/>
              </a:spcAft>
            </a:pPr>
            <a:r>
              <a:rPr sz="850" b="0" i="0">
                <a:solidFill>
                  <a:srgbClr val="17175A"/>
                </a:solidFill>
                <a:latin typeface="Inter"/>
              </a:rPr>
              <a:t>542 009 lignes</a:t>
            </a:r>
          </a:p>
        </p:txBody>
      </p:sp>
      <p:cxnSp>
        <p:nvCxnSpPr>
          <p:cNvPr id="9" name="Connector 8"/>
          <p:cNvCxnSpPr/>
          <p:nvPr/>
        </p:nvCxnSpPr>
        <p:spPr>
          <a:xfrm>
            <a:off x="1984248" y="2194560"/>
            <a:ext cx="100583" cy="0"/>
          </a:xfrm>
          <a:prstGeom prst="line">
            <a:avLst/>
          </a:prstGeom>
          <a:ln w="19050">
            <a:solidFill>
              <a:srgbClr val="17175A"/>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103120" y="1783080"/>
            <a:ext cx="1463040" cy="822960"/>
          </a:xfrm>
          <a:prstGeom prst="roundRect">
            <a:avLst>
              <a:gd name="adj" fmla="val 10000"/>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176272" y="1874519"/>
            <a:ext cx="1316736" cy="320040"/>
          </a:xfrm>
          <a:prstGeom prst="rect">
            <a:avLst/>
          </a:prstGeom>
          <a:noFill/>
        </p:spPr>
        <p:txBody>
          <a:bodyPr wrap="square" lIns="0" tIns="0" rIns="0" bIns="0" anchor="ctr">
            <a:spAutoFit/>
          </a:bodyPr>
          <a:lstStyle/>
          <a:p>
            <a:pPr algn="ctr">
              <a:spcAft>
                <a:spcPts val="300"/>
              </a:spcAft>
            </a:pPr>
            <a:r>
              <a:rPr sz="1050" b="1" i="0">
                <a:solidFill>
                  <a:srgbClr val="17175A"/>
                </a:solidFill>
                <a:latin typeface="Inter"/>
              </a:rPr>
              <a:t>extraire_source</a:t>
            </a:r>
          </a:p>
        </p:txBody>
      </p:sp>
      <p:sp>
        <p:nvSpPr>
          <p:cNvPr id="12" name="TextBox 11"/>
          <p:cNvSpPr txBox="1"/>
          <p:nvPr/>
        </p:nvSpPr>
        <p:spPr>
          <a:xfrm>
            <a:off x="2176272" y="2221991"/>
            <a:ext cx="1316736" cy="365760"/>
          </a:xfrm>
          <a:prstGeom prst="rect">
            <a:avLst/>
          </a:prstGeom>
          <a:noFill/>
        </p:spPr>
        <p:txBody>
          <a:bodyPr wrap="square" lIns="0" tIns="0" rIns="0" bIns="0" anchor="t">
            <a:spAutoFit/>
          </a:bodyPr>
          <a:lstStyle/>
          <a:p>
            <a:pPr algn="ctr">
              <a:spcAft>
                <a:spcPts val="300"/>
              </a:spcAft>
            </a:pPr>
            <a:r>
              <a:rPr sz="850" b="0" i="0">
                <a:solidFill>
                  <a:srgbClr val="17175A"/>
                </a:solidFill>
                <a:latin typeface="Inter"/>
              </a:rPr>
              <a:t>etl/extraction.py</a:t>
            </a:r>
          </a:p>
        </p:txBody>
      </p:sp>
      <p:cxnSp>
        <p:nvCxnSpPr>
          <p:cNvPr id="13" name="Connector 12"/>
          <p:cNvCxnSpPr/>
          <p:nvPr/>
        </p:nvCxnSpPr>
        <p:spPr>
          <a:xfrm>
            <a:off x="3584448" y="2194560"/>
            <a:ext cx="100584" cy="0"/>
          </a:xfrm>
          <a:prstGeom prst="line">
            <a:avLst/>
          </a:prstGeom>
          <a:ln w="19050">
            <a:solidFill>
              <a:srgbClr val="17175A"/>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703320" y="1783080"/>
            <a:ext cx="1463040" cy="822960"/>
          </a:xfrm>
          <a:prstGeom prst="roundRect">
            <a:avLst>
              <a:gd name="adj" fmla="val 10000"/>
            </a:avLst>
          </a:prstGeom>
          <a:solidFill>
            <a:srgbClr val="FA9D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776472" y="1874519"/>
            <a:ext cx="1316736" cy="320040"/>
          </a:xfrm>
          <a:prstGeom prst="rect">
            <a:avLst/>
          </a:prstGeom>
          <a:noFill/>
        </p:spPr>
        <p:txBody>
          <a:bodyPr wrap="square" lIns="0" tIns="0" rIns="0" bIns="0" anchor="ctr">
            <a:spAutoFit/>
          </a:bodyPr>
          <a:lstStyle/>
          <a:p>
            <a:pPr algn="ctr">
              <a:spcAft>
                <a:spcPts val="300"/>
              </a:spcAft>
            </a:pPr>
            <a:r>
              <a:rPr sz="1050" b="1" i="0">
                <a:solidFill>
                  <a:srgbClr val="17175A"/>
                </a:solidFill>
                <a:latin typeface="Inter"/>
              </a:rPr>
              <a:t>transformer_source</a:t>
            </a:r>
          </a:p>
        </p:txBody>
      </p:sp>
      <p:sp>
        <p:nvSpPr>
          <p:cNvPr id="16" name="TextBox 15"/>
          <p:cNvSpPr txBox="1"/>
          <p:nvPr/>
        </p:nvSpPr>
        <p:spPr>
          <a:xfrm>
            <a:off x="3776472" y="2221991"/>
            <a:ext cx="1316736" cy="365760"/>
          </a:xfrm>
          <a:prstGeom prst="rect">
            <a:avLst/>
          </a:prstGeom>
          <a:noFill/>
        </p:spPr>
        <p:txBody>
          <a:bodyPr wrap="square" lIns="0" tIns="0" rIns="0" bIns="0" anchor="t">
            <a:spAutoFit/>
          </a:bodyPr>
          <a:lstStyle/>
          <a:p>
            <a:pPr algn="ctr">
              <a:spcAft>
                <a:spcPts val="300"/>
              </a:spcAft>
            </a:pPr>
            <a:r>
              <a:rPr sz="850" b="0" i="0">
                <a:solidFill>
                  <a:srgbClr val="17175A"/>
                </a:solidFill>
                <a:latin typeface="Inter"/>
              </a:rPr>
              <a:t>etl/transformation.py</a:t>
            </a:r>
          </a:p>
        </p:txBody>
      </p:sp>
      <p:cxnSp>
        <p:nvCxnSpPr>
          <p:cNvPr id="17" name="Connector 16"/>
          <p:cNvCxnSpPr/>
          <p:nvPr/>
        </p:nvCxnSpPr>
        <p:spPr>
          <a:xfrm>
            <a:off x="5184648" y="2194560"/>
            <a:ext cx="100584" cy="0"/>
          </a:xfrm>
          <a:prstGeom prst="line">
            <a:avLst/>
          </a:prstGeom>
          <a:ln w="19050">
            <a:solidFill>
              <a:srgbClr val="17175A"/>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303520" y="1783080"/>
            <a:ext cx="1463040" cy="822960"/>
          </a:xfrm>
          <a:prstGeom prst="roundRect">
            <a:avLst>
              <a:gd name="adj" fmla="val 10000"/>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376672" y="1874519"/>
            <a:ext cx="1316736" cy="320040"/>
          </a:xfrm>
          <a:prstGeom prst="rect">
            <a:avLst/>
          </a:prstGeom>
          <a:noFill/>
        </p:spPr>
        <p:txBody>
          <a:bodyPr wrap="square" lIns="0" tIns="0" rIns="0" bIns="0" anchor="ctr">
            <a:spAutoFit/>
          </a:bodyPr>
          <a:lstStyle/>
          <a:p>
            <a:pPr algn="ctr">
              <a:spcAft>
                <a:spcPts val="300"/>
              </a:spcAft>
            </a:pPr>
            <a:r>
              <a:rPr sz="1050" b="1" i="0">
                <a:solidFill>
                  <a:srgbClr val="17175A"/>
                </a:solidFill>
                <a:latin typeface="Inter"/>
              </a:rPr>
              <a:t>charger_destination</a:t>
            </a:r>
          </a:p>
        </p:txBody>
      </p:sp>
      <p:sp>
        <p:nvSpPr>
          <p:cNvPr id="20" name="TextBox 19"/>
          <p:cNvSpPr txBox="1"/>
          <p:nvPr/>
        </p:nvSpPr>
        <p:spPr>
          <a:xfrm>
            <a:off x="5376672" y="2221991"/>
            <a:ext cx="1316736" cy="365760"/>
          </a:xfrm>
          <a:prstGeom prst="rect">
            <a:avLst/>
          </a:prstGeom>
          <a:noFill/>
        </p:spPr>
        <p:txBody>
          <a:bodyPr wrap="square" lIns="0" tIns="0" rIns="0" bIns="0" anchor="t">
            <a:spAutoFit/>
          </a:bodyPr>
          <a:lstStyle/>
          <a:p>
            <a:pPr algn="ctr">
              <a:spcAft>
                <a:spcPts val="300"/>
              </a:spcAft>
            </a:pPr>
            <a:r>
              <a:rPr sz="850" b="0" i="0">
                <a:solidFill>
                  <a:srgbClr val="17175A"/>
                </a:solidFill>
                <a:latin typeface="Inter"/>
              </a:rPr>
              <a:t>etl/chargement.py</a:t>
            </a:r>
          </a:p>
        </p:txBody>
      </p:sp>
      <p:cxnSp>
        <p:nvCxnSpPr>
          <p:cNvPr id="21" name="Connector 20"/>
          <p:cNvCxnSpPr/>
          <p:nvPr/>
        </p:nvCxnSpPr>
        <p:spPr>
          <a:xfrm>
            <a:off x="6784848" y="2194560"/>
            <a:ext cx="100584" cy="0"/>
          </a:xfrm>
          <a:prstGeom prst="line">
            <a:avLst/>
          </a:prstGeom>
          <a:ln w="19050">
            <a:solidFill>
              <a:srgbClr val="17175A"/>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903720" y="1783080"/>
            <a:ext cx="1463040" cy="82296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976872" y="1874519"/>
            <a:ext cx="1316736" cy="320040"/>
          </a:xfrm>
          <a:prstGeom prst="rect">
            <a:avLst/>
          </a:prstGeom>
          <a:noFill/>
        </p:spPr>
        <p:txBody>
          <a:bodyPr wrap="square" lIns="0" tIns="0" rIns="0" bIns="0" anchor="ctr">
            <a:spAutoFit/>
          </a:bodyPr>
          <a:lstStyle/>
          <a:p>
            <a:pPr algn="ctr">
              <a:spcAft>
                <a:spcPts val="300"/>
              </a:spcAft>
            </a:pPr>
            <a:r>
              <a:rPr sz="1050" b="1" i="0">
                <a:solidFill>
                  <a:srgbClr val="FFFFFF"/>
                </a:solidFill>
                <a:latin typeface="Inter"/>
              </a:rPr>
              <a:t>PostgreSQL</a:t>
            </a:r>
          </a:p>
        </p:txBody>
      </p:sp>
      <p:sp>
        <p:nvSpPr>
          <p:cNvPr id="24" name="TextBox 23"/>
          <p:cNvSpPr txBox="1"/>
          <p:nvPr/>
        </p:nvSpPr>
        <p:spPr>
          <a:xfrm>
            <a:off x="6976872" y="2221991"/>
            <a:ext cx="1316736" cy="365760"/>
          </a:xfrm>
          <a:prstGeom prst="rect">
            <a:avLst/>
          </a:prstGeom>
          <a:noFill/>
        </p:spPr>
        <p:txBody>
          <a:bodyPr wrap="square" lIns="0" tIns="0" rIns="0" bIns="0" anchor="t">
            <a:spAutoFit/>
          </a:bodyPr>
          <a:lstStyle/>
          <a:p>
            <a:pPr algn="ctr">
              <a:spcAft>
                <a:spcPts val="300"/>
              </a:spcAft>
            </a:pPr>
            <a:r>
              <a:rPr sz="850" b="0" i="0">
                <a:solidFill>
                  <a:srgbClr val="FFFFFF"/>
                </a:solidFill>
                <a:latin typeface="Inter"/>
              </a:rPr>
              <a:t>produits · etl_executions · etl_rejets</a:t>
            </a:r>
          </a:p>
        </p:txBody>
      </p:sp>
      <p:sp>
        <p:nvSpPr>
          <p:cNvPr id="25" name="Rounded Rectangle 24"/>
          <p:cNvSpPr/>
          <p:nvPr/>
        </p:nvSpPr>
        <p:spPr>
          <a:xfrm>
            <a:off x="502920" y="3246120"/>
            <a:ext cx="4206240" cy="128016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85800" y="3246120"/>
            <a:ext cx="3886200" cy="1280160"/>
          </a:xfrm>
          <a:prstGeom prst="rect">
            <a:avLst/>
          </a:prstGeom>
          <a:noFill/>
        </p:spPr>
        <p:txBody>
          <a:bodyPr wrap="square" lIns="0" tIns="0" rIns="0" bIns="0" anchor="ctr">
            <a:spAutoFit/>
          </a:bodyPr>
          <a:lstStyle/>
          <a:p>
            <a:pPr>
              <a:spcAft>
                <a:spcPts val="300"/>
              </a:spcAft>
            </a:pPr>
            <a:r>
              <a:rPr sz="1200" b="1" i="0">
                <a:solidFill>
                  <a:srgbClr val="17175A"/>
                </a:solidFill>
                <a:latin typeface="Inter"/>
              </a:rPr>
              <a:t>Reprise automatique</a:t>
            </a:r>
          </a:p>
          <a:p>
            <a:pPr>
              <a:spcAft>
                <a:spcPts val="300"/>
              </a:spcAft>
            </a:pPr>
            <a:r>
              <a:rPr sz="1050" b="0" i="0">
                <a:solidFill>
                  <a:srgbClr val="17175A"/>
                </a:solidFill>
                <a:latin typeface="Inter"/>
              </a:rPr>
              <a:t>Sur erreur PostgreSQL transitoire, seule l'étape de chargement est rejouée (6 reprises, 10 s d'attente), jamais tout le pipeline.</a:t>
            </a:r>
          </a:p>
        </p:txBody>
      </p:sp>
      <p:sp>
        <p:nvSpPr>
          <p:cNvPr id="27" name="Rounded Rectangle 26"/>
          <p:cNvSpPr/>
          <p:nvPr/>
        </p:nvSpPr>
        <p:spPr>
          <a:xfrm>
            <a:off x="5303520" y="3246120"/>
            <a:ext cx="1463040" cy="1280160"/>
          </a:xfrm>
          <a:prstGeom prst="roundRect">
            <a:avLst>
              <a:gd name="adj" fmla="val 10000"/>
            </a:avLst>
          </a:prstGeom>
          <a:solidFill>
            <a:srgbClr val="FFFFFF"/>
          </a:solidFill>
          <a:ln w="9525">
            <a:solidFill>
              <a:srgbClr val="D8D2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376672" y="3246120"/>
            <a:ext cx="1316736" cy="1280160"/>
          </a:xfrm>
          <a:prstGeom prst="rect">
            <a:avLst/>
          </a:prstGeom>
          <a:noFill/>
        </p:spPr>
        <p:txBody>
          <a:bodyPr wrap="square" lIns="0" tIns="0" rIns="0" bIns="0" anchor="ctr">
            <a:spAutoFit/>
          </a:bodyPr>
          <a:lstStyle/>
          <a:p>
            <a:pPr algn="ctr">
              <a:spcAft>
                <a:spcPts val="300"/>
              </a:spcAft>
            </a:pPr>
            <a:r>
              <a:rPr sz="1050" b="1" i="0">
                <a:solidFill>
                  <a:srgbClr val="17175A"/>
                </a:solidFill>
                <a:latin typeface="Inter"/>
              </a:rPr>
              <a:t>Client HTTP</a:t>
            </a:r>
          </a:p>
          <a:p>
            <a:pPr algn="ctr">
              <a:spcAft>
                <a:spcPts val="300"/>
              </a:spcAft>
            </a:pPr>
            <a:r>
              <a:rPr sz="850" b="0" i="0">
                <a:solidFill>
                  <a:srgbClr val="5A5A7A"/>
                </a:solidFill>
                <a:latin typeface="Inter"/>
              </a:rPr>
              <a:t>navigateur, curl, Postman</a:t>
            </a:r>
          </a:p>
        </p:txBody>
      </p:sp>
      <p:sp>
        <p:nvSpPr>
          <p:cNvPr id="29" name="Rounded Rectangle 28"/>
          <p:cNvSpPr/>
          <p:nvPr/>
        </p:nvSpPr>
        <p:spPr>
          <a:xfrm>
            <a:off x="6903720" y="3246120"/>
            <a:ext cx="1463040" cy="128016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976872" y="3246120"/>
            <a:ext cx="1316736" cy="1280160"/>
          </a:xfrm>
          <a:prstGeom prst="rect">
            <a:avLst/>
          </a:prstGeom>
          <a:noFill/>
        </p:spPr>
        <p:txBody>
          <a:bodyPr wrap="square" lIns="0" tIns="0" rIns="0" bIns="0" anchor="ctr">
            <a:spAutoFit/>
          </a:bodyPr>
          <a:lstStyle/>
          <a:p>
            <a:pPr algn="ctr">
              <a:spcAft>
                <a:spcPts val="300"/>
              </a:spcAft>
            </a:pPr>
            <a:r>
              <a:rPr sz="1050" b="1" i="0">
                <a:solidFill>
                  <a:srgbClr val="FFFFFF"/>
                </a:solidFill>
                <a:latin typeface="Inter"/>
              </a:rPr>
              <a:t>API Express.js</a:t>
            </a:r>
          </a:p>
          <a:p>
            <a:pPr algn="ctr">
              <a:spcAft>
                <a:spcPts val="300"/>
              </a:spcAft>
            </a:pPr>
            <a:r>
              <a:rPr sz="850" b="0" i="0">
                <a:solidFill>
                  <a:srgbClr val="FFFFFF"/>
                </a:solidFill>
                <a:latin typeface="Inter"/>
              </a:rPr>
              <a:t>4 routes en lecture · /docs</a:t>
            </a:r>
          </a:p>
        </p:txBody>
      </p:sp>
      <p:cxnSp>
        <p:nvCxnSpPr>
          <p:cNvPr id="31" name="Connector 30"/>
          <p:cNvCxnSpPr/>
          <p:nvPr/>
        </p:nvCxnSpPr>
        <p:spPr>
          <a:xfrm>
            <a:off x="6784848" y="3886200"/>
            <a:ext cx="100584" cy="0"/>
          </a:xfrm>
          <a:prstGeom prst="line">
            <a:avLst/>
          </a:prstGeom>
          <a:ln w="19050">
            <a:solidFill>
              <a:srgbClr val="17175A"/>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635240" y="2624328"/>
            <a:ext cx="0" cy="603504"/>
          </a:xfrm>
          <a:prstGeom prst="line">
            <a:avLst/>
          </a:prstGeom>
          <a:ln w="19050">
            <a:solidFill>
              <a:srgbClr val="17175A"/>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726679" y="2816352"/>
            <a:ext cx="822960" cy="182880"/>
          </a:xfrm>
          <a:prstGeom prst="rect">
            <a:avLst/>
          </a:prstGeom>
          <a:noFill/>
        </p:spPr>
        <p:txBody>
          <a:bodyPr wrap="square" lIns="0" tIns="0" rIns="0" bIns="0" anchor="t">
            <a:spAutoFit/>
          </a:bodyPr>
          <a:lstStyle/>
          <a:p>
            <a:pPr>
              <a:spcAft>
                <a:spcPts val="300"/>
              </a:spcAft>
            </a:pPr>
            <a:r>
              <a:rPr sz="850" b="0" i="1">
                <a:solidFill>
                  <a:srgbClr val="5A5A7A"/>
                </a:solidFill>
                <a:latin typeface="Inter"/>
              </a:rPr>
              <a:t>lecture SQL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 Architecture et fiabilité</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b. Les technologies retenues</a:t>
            </a:r>
          </a:p>
        </p:txBody>
      </p:sp>
      <p:sp>
        <p:nvSpPr>
          <p:cNvPr id="4" name="Rounded Rectangle 3"/>
          <p:cNvSpPr/>
          <p:nvPr/>
        </p:nvSpPr>
        <p:spPr>
          <a:xfrm>
            <a:off x="822960" y="1325880"/>
            <a:ext cx="1783080" cy="16002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960120" y="1444752"/>
            <a:ext cx="420624" cy="420624"/>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aPython.png"/>
          <p:cNvPicPr>
            <a:picLocks noChangeAspect="1"/>
          </p:cNvPicPr>
          <p:nvPr/>
        </p:nvPicPr>
        <p:blipFill>
          <a:blip r:embed="rId3"/>
          <a:stretch>
            <a:fillRect/>
          </a:stretch>
        </p:blipFill>
        <p:spPr>
          <a:xfrm>
            <a:off x="1061069" y="1545701"/>
            <a:ext cx="218724" cy="218724"/>
          </a:xfrm>
          <a:prstGeom prst="rect">
            <a:avLst/>
          </a:prstGeom>
        </p:spPr>
      </p:pic>
      <p:sp>
        <p:nvSpPr>
          <p:cNvPr id="7" name="TextBox 6"/>
          <p:cNvSpPr txBox="1"/>
          <p:nvPr/>
        </p:nvSpPr>
        <p:spPr>
          <a:xfrm>
            <a:off x="960120" y="1965960"/>
            <a:ext cx="1554480" cy="27432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Python 3.10+</a:t>
            </a:r>
          </a:p>
        </p:txBody>
      </p:sp>
      <p:sp>
        <p:nvSpPr>
          <p:cNvPr id="8" name="TextBox 7"/>
          <p:cNvSpPr txBox="1"/>
          <p:nvPr/>
        </p:nvSpPr>
        <p:spPr>
          <a:xfrm>
            <a:off x="960120" y="2240280"/>
            <a:ext cx="155448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Extraction, transformation, chargement ; psycopg pour PostgreSQL</a:t>
            </a:r>
          </a:p>
        </p:txBody>
      </p:sp>
      <p:sp>
        <p:nvSpPr>
          <p:cNvPr id="9" name="Rounded Rectangle 8"/>
          <p:cNvSpPr/>
          <p:nvPr/>
        </p:nvSpPr>
        <p:spPr>
          <a:xfrm>
            <a:off x="2743200" y="1325880"/>
            <a:ext cx="1783080" cy="16002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2880360" y="1444752"/>
            <a:ext cx="420624" cy="420624"/>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FaProjectDiagram.png"/>
          <p:cNvPicPr>
            <a:picLocks noChangeAspect="1"/>
          </p:cNvPicPr>
          <p:nvPr/>
        </p:nvPicPr>
        <p:blipFill>
          <a:blip r:embed="rId4"/>
          <a:stretch>
            <a:fillRect/>
          </a:stretch>
        </p:blipFill>
        <p:spPr>
          <a:xfrm>
            <a:off x="2981309" y="1545701"/>
            <a:ext cx="218724" cy="218724"/>
          </a:xfrm>
          <a:prstGeom prst="rect">
            <a:avLst/>
          </a:prstGeom>
        </p:spPr>
      </p:pic>
      <p:sp>
        <p:nvSpPr>
          <p:cNvPr id="12" name="TextBox 11"/>
          <p:cNvSpPr txBox="1"/>
          <p:nvPr/>
        </p:nvSpPr>
        <p:spPr>
          <a:xfrm>
            <a:off x="2880360" y="1965960"/>
            <a:ext cx="1554480" cy="27432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Dagster 1.13</a:t>
            </a:r>
          </a:p>
        </p:txBody>
      </p:sp>
      <p:sp>
        <p:nvSpPr>
          <p:cNvPr id="13" name="TextBox 12"/>
          <p:cNvSpPr txBox="1"/>
          <p:nvPr/>
        </p:nvSpPr>
        <p:spPr>
          <a:xfrm>
            <a:off x="2880360" y="2240280"/>
            <a:ext cx="155448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Orchestration des trois étapes, interface web et reprises</a:t>
            </a:r>
          </a:p>
        </p:txBody>
      </p:sp>
      <p:sp>
        <p:nvSpPr>
          <p:cNvPr id="14" name="Rounded Rectangle 13"/>
          <p:cNvSpPr/>
          <p:nvPr/>
        </p:nvSpPr>
        <p:spPr>
          <a:xfrm>
            <a:off x="4663440" y="1325880"/>
            <a:ext cx="1783080" cy="16002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800600" y="1444752"/>
            <a:ext cx="420624" cy="420624"/>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FaDatabase.png"/>
          <p:cNvPicPr>
            <a:picLocks noChangeAspect="1"/>
          </p:cNvPicPr>
          <p:nvPr/>
        </p:nvPicPr>
        <p:blipFill>
          <a:blip r:embed="rId5"/>
          <a:stretch>
            <a:fillRect/>
          </a:stretch>
        </p:blipFill>
        <p:spPr>
          <a:xfrm>
            <a:off x="4901549" y="1545701"/>
            <a:ext cx="218724" cy="218724"/>
          </a:xfrm>
          <a:prstGeom prst="rect">
            <a:avLst/>
          </a:prstGeom>
        </p:spPr>
      </p:pic>
      <p:sp>
        <p:nvSpPr>
          <p:cNvPr id="17" name="TextBox 16"/>
          <p:cNvSpPr txBox="1"/>
          <p:nvPr/>
        </p:nvSpPr>
        <p:spPr>
          <a:xfrm>
            <a:off x="4800600" y="1965960"/>
            <a:ext cx="1554480" cy="27432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PostgreSQL 16</a:t>
            </a:r>
          </a:p>
        </p:txBody>
      </p:sp>
      <p:sp>
        <p:nvSpPr>
          <p:cNvPr id="18" name="TextBox 17"/>
          <p:cNvSpPr txBox="1"/>
          <p:nvPr/>
        </p:nvSpPr>
        <p:spPr>
          <a:xfrm>
            <a:off x="4800600" y="2240280"/>
            <a:ext cx="155448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Stockage : produits, historique des exécutions, rejets</a:t>
            </a:r>
          </a:p>
        </p:txBody>
      </p:sp>
      <p:sp>
        <p:nvSpPr>
          <p:cNvPr id="19" name="Rounded Rectangle 18"/>
          <p:cNvSpPr/>
          <p:nvPr/>
        </p:nvSpPr>
        <p:spPr>
          <a:xfrm>
            <a:off x="6583680" y="1325880"/>
            <a:ext cx="1783080" cy="16002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720840" y="1444752"/>
            <a:ext cx="420624" cy="420624"/>
          </a:xfrm>
          <a:prstGeom prst="ellipse">
            <a:avLst/>
          </a:prstGeom>
          <a:solidFill>
            <a:srgbClr val="6E6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FaDocker.png"/>
          <p:cNvPicPr>
            <a:picLocks noChangeAspect="1"/>
          </p:cNvPicPr>
          <p:nvPr/>
        </p:nvPicPr>
        <p:blipFill>
          <a:blip r:embed="rId6"/>
          <a:stretch>
            <a:fillRect/>
          </a:stretch>
        </p:blipFill>
        <p:spPr>
          <a:xfrm>
            <a:off x="6821789" y="1545701"/>
            <a:ext cx="218724" cy="218724"/>
          </a:xfrm>
          <a:prstGeom prst="rect">
            <a:avLst/>
          </a:prstGeom>
        </p:spPr>
      </p:pic>
      <p:sp>
        <p:nvSpPr>
          <p:cNvPr id="22" name="TextBox 21"/>
          <p:cNvSpPr txBox="1"/>
          <p:nvPr/>
        </p:nvSpPr>
        <p:spPr>
          <a:xfrm>
            <a:off x="6720840" y="1965960"/>
            <a:ext cx="1554480" cy="27432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Docker Compose</a:t>
            </a:r>
          </a:p>
        </p:txBody>
      </p:sp>
      <p:sp>
        <p:nvSpPr>
          <p:cNvPr id="23" name="TextBox 22"/>
          <p:cNvSpPr txBox="1"/>
          <p:nvPr/>
        </p:nvSpPr>
        <p:spPr>
          <a:xfrm>
            <a:off x="6720840" y="2240280"/>
            <a:ext cx="155448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Installation identique sous Windows, macOS et Linux</a:t>
            </a:r>
          </a:p>
        </p:txBody>
      </p:sp>
      <p:sp>
        <p:nvSpPr>
          <p:cNvPr id="24" name="Rounded Rectangle 23"/>
          <p:cNvSpPr/>
          <p:nvPr/>
        </p:nvSpPr>
        <p:spPr>
          <a:xfrm>
            <a:off x="822960" y="3063239"/>
            <a:ext cx="1783080" cy="16002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60120" y="3182111"/>
            <a:ext cx="420624" cy="420624"/>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FaNodeJs.png"/>
          <p:cNvPicPr>
            <a:picLocks noChangeAspect="1"/>
          </p:cNvPicPr>
          <p:nvPr/>
        </p:nvPicPr>
        <p:blipFill>
          <a:blip r:embed="rId7"/>
          <a:stretch>
            <a:fillRect/>
          </a:stretch>
        </p:blipFill>
        <p:spPr>
          <a:xfrm>
            <a:off x="1061069" y="3283061"/>
            <a:ext cx="218724" cy="218724"/>
          </a:xfrm>
          <a:prstGeom prst="rect">
            <a:avLst/>
          </a:prstGeom>
        </p:spPr>
      </p:pic>
      <p:sp>
        <p:nvSpPr>
          <p:cNvPr id="27" name="TextBox 26"/>
          <p:cNvSpPr txBox="1"/>
          <p:nvPr/>
        </p:nvSpPr>
        <p:spPr>
          <a:xfrm>
            <a:off x="960120" y="3703320"/>
            <a:ext cx="1554480" cy="27432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Express.js (Node 18+)</a:t>
            </a:r>
          </a:p>
        </p:txBody>
      </p:sp>
      <p:sp>
        <p:nvSpPr>
          <p:cNvPr id="28" name="TextBox 27"/>
          <p:cNvSpPr txBox="1"/>
          <p:nvPr/>
        </p:nvSpPr>
        <p:spPr>
          <a:xfrm>
            <a:off x="960120" y="3977639"/>
            <a:ext cx="155448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API REST en lecture seule, quatre routes</a:t>
            </a:r>
          </a:p>
        </p:txBody>
      </p:sp>
      <p:sp>
        <p:nvSpPr>
          <p:cNvPr id="29" name="Rounded Rectangle 28"/>
          <p:cNvSpPr/>
          <p:nvPr/>
        </p:nvSpPr>
        <p:spPr>
          <a:xfrm>
            <a:off x="2743200" y="3063239"/>
            <a:ext cx="1783080" cy="16002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2880360" y="3182111"/>
            <a:ext cx="420624" cy="420624"/>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Picture 30" descr="FaFileCode.png"/>
          <p:cNvPicPr>
            <a:picLocks noChangeAspect="1"/>
          </p:cNvPicPr>
          <p:nvPr/>
        </p:nvPicPr>
        <p:blipFill>
          <a:blip r:embed="rId8"/>
          <a:stretch>
            <a:fillRect/>
          </a:stretch>
        </p:blipFill>
        <p:spPr>
          <a:xfrm>
            <a:off x="2981309" y="3283061"/>
            <a:ext cx="218724" cy="218724"/>
          </a:xfrm>
          <a:prstGeom prst="rect">
            <a:avLst/>
          </a:prstGeom>
        </p:spPr>
      </p:pic>
      <p:sp>
        <p:nvSpPr>
          <p:cNvPr id="32" name="TextBox 31"/>
          <p:cNvSpPr txBox="1"/>
          <p:nvPr/>
        </p:nvSpPr>
        <p:spPr>
          <a:xfrm>
            <a:off x="2880360" y="3703320"/>
            <a:ext cx="1554480" cy="27432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OpenAPI 3.0</a:t>
            </a:r>
          </a:p>
        </p:txBody>
      </p:sp>
      <p:sp>
        <p:nvSpPr>
          <p:cNvPr id="33" name="TextBox 32"/>
          <p:cNvSpPr txBox="1"/>
          <p:nvPr/>
        </p:nvSpPr>
        <p:spPr>
          <a:xfrm>
            <a:off x="2880360" y="3977639"/>
            <a:ext cx="155448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Contrat docs/openapi.yaml, Swagger UI servie sur /docs</a:t>
            </a:r>
          </a:p>
        </p:txBody>
      </p:sp>
      <p:sp>
        <p:nvSpPr>
          <p:cNvPr id="34" name="Rounded Rectangle 33"/>
          <p:cNvSpPr/>
          <p:nvPr/>
        </p:nvSpPr>
        <p:spPr>
          <a:xfrm>
            <a:off x="4663440" y="3063239"/>
            <a:ext cx="1783080" cy="16002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4800600" y="3182111"/>
            <a:ext cx="420624" cy="420624"/>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FaVial.png"/>
          <p:cNvPicPr>
            <a:picLocks noChangeAspect="1"/>
          </p:cNvPicPr>
          <p:nvPr/>
        </p:nvPicPr>
        <p:blipFill>
          <a:blip r:embed="rId9"/>
          <a:stretch>
            <a:fillRect/>
          </a:stretch>
        </p:blipFill>
        <p:spPr>
          <a:xfrm>
            <a:off x="4901549" y="3283061"/>
            <a:ext cx="218724" cy="218724"/>
          </a:xfrm>
          <a:prstGeom prst="rect">
            <a:avLst/>
          </a:prstGeom>
        </p:spPr>
      </p:pic>
      <p:sp>
        <p:nvSpPr>
          <p:cNvPr id="37" name="TextBox 36"/>
          <p:cNvSpPr txBox="1"/>
          <p:nvPr/>
        </p:nvSpPr>
        <p:spPr>
          <a:xfrm>
            <a:off x="4800600" y="3703320"/>
            <a:ext cx="1554480" cy="27432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unittest, node --test</a:t>
            </a:r>
          </a:p>
        </p:txBody>
      </p:sp>
      <p:sp>
        <p:nvSpPr>
          <p:cNvPr id="38" name="TextBox 37"/>
          <p:cNvSpPr txBox="1"/>
          <p:nvPr/>
        </p:nvSpPr>
        <p:spPr>
          <a:xfrm>
            <a:off x="4800600" y="3977639"/>
            <a:ext cx="155448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11 tests Python et 6 tests API</a:t>
            </a:r>
          </a:p>
        </p:txBody>
      </p:sp>
      <p:sp>
        <p:nvSpPr>
          <p:cNvPr id="39" name="Rounded Rectangle 38"/>
          <p:cNvSpPr/>
          <p:nvPr/>
        </p:nvSpPr>
        <p:spPr>
          <a:xfrm>
            <a:off x="6583680" y="3063239"/>
            <a:ext cx="1783080" cy="16002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6720840" y="3182111"/>
            <a:ext cx="420624" cy="420624"/>
          </a:xfrm>
          <a:prstGeom prst="ellipse">
            <a:avLst/>
          </a:prstGeom>
          <a:solidFill>
            <a:srgbClr val="6E6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1" name="Picture 40" descr="FaGithub.png"/>
          <p:cNvPicPr>
            <a:picLocks noChangeAspect="1"/>
          </p:cNvPicPr>
          <p:nvPr/>
        </p:nvPicPr>
        <p:blipFill>
          <a:blip r:embed="rId10"/>
          <a:stretch>
            <a:fillRect/>
          </a:stretch>
        </p:blipFill>
        <p:spPr>
          <a:xfrm>
            <a:off x="6821789" y="3283061"/>
            <a:ext cx="218724" cy="218724"/>
          </a:xfrm>
          <a:prstGeom prst="rect">
            <a:avLst/>
          </a:prstGeom>
        </p:spPr>
      </p:pic>
      <p:sp>
        <p:nvSpPr>
          <p:cNvPr id="42" name="TextBox 41"/>
          <p:cNvSpPr txBox="1"/>
          <p:nvPr/>
        </p:nvSpPr>
        <p:spPr>
          <a:xfrm>
            <a:off x="6720840" y="3703320"/>
            <a:ext cx="1554480" cy="27432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GitHub Actions</a:t>
            </a:r>
          </a:p>
        </p:txBody>
      </p:sp>
      <p:sp>
        <p:nvSpPr>
          <p:cNvPr id="43" name="TextBox 42"/>
          <p:cNvSpPr txBox="1"/>
          <p:nvPr/>
        </p:nvSpPr>
        <p:spPr>
          <a:xfrm>
            <a:off x="6720840" y="3977639"/>
            <a:ext cx="155448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Tests rejoués à chaque push, avec un PostgreSQL de service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 Architecture et fiabilité</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c. Un ETL en trois fichiers, trois responsabilités</a:t>
            </a:r>
          </a:p>
        </p:txBody>
      </p:sp>
      <p:sp>
        <p:nvSpPr>
          <p:cNvPr id="4" name="Rounded Rectangle 3"/>
          <p:cNvSpPr/>
          <p:nvPr/>
        </p:nvSpPr>
        <p:spPr>
          <a:xfrm>
            <a:off x="868680" y="1280160"/>
            <a:ext cx="2468880" cy="27889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05839" y="1389888"/>
            <a:ext cx="420624" cy="420624"/>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aFileCsv.png"/>
          <p:cNvPicPr>
            <a:picLocks noChangeAspect="1"/>
          </p:cNvPicPr>
          <p:nvPr/>
        </p:nvPicPr>
        <p:blipFill>
          <a:blip r:embed="rId3"/>
          <a:stretch>
            <a:fillRect/>
          </a:stretch>
        </p:blipFill>
        <p:spPr>
          <a:xfrm>
            <a:off x="1106789" y="1490837"/>
            <a:ext cx="218724" cy="218724"/>
          </a:xfrm>
          <a:prstGeom prst="rect">
            <a:avLst/>
          </a:prstGeom>
        </p:spPr>
      </p:pic>
      <p:sp>
        <p:nvSpPr>
          <p:cNvPr id="7" name="TextBox 6"/>
          <p:cNvSpPr txBox="1"/>
          <p:nvPr/>
        </p:nvSpPr>
        <p:spPr>
          <a:xfrm>
            <a:off x="1527048" y="1371600"/>
            <a:ext cx="1737360" cy="256032"/>
          </a:xfrm>
          <a:prstGeom prst="rect">
            <a:avLst/>
          </a:prstGeom>
          <a:noFill/>
        </p:spPr>
        <p:txBody>
          <a:bodyPr wrap="square" lIns="0" tIns="0" rIns="0" bIns="0" anchor="t">
            <a:spAutoFit/>
          </a:bodyPr>
          <a:lstStyle/>
          <a:p>
            <a:pPr>
              <a:spcAft>
                <a:spcPts val="300"/>
              </a:spcAft>
            </a:pPr>
            <a:r>
              <a:rPr sz="1300" b="1" i="0">
                <a:solidFill>
                  <a:srgbClr val="17175A"/>
                </a:solidFill>
                <a:latin typeface="Inter"/>
              </a:rPr>
              <a:t>Extraction</a:t>
            </a:r>
          </a:p>
        </p:txBody>
      </p:sp>
      <p:sp>
        <p:nvSpPr>
          <p:cNvPr id="8" name="TextBox 7"/>
          <p:cNvSpPr txBox="1"/>
          <p:nvPr/>
        </p:nvSpPr>
        <p:spPr>
          <a:xfrm>
            <a:off x="1527048" y="1645920"/>
            <a:ext cx="1737360" cy="228600"/>
          </a:xfrm>
          <a:prstGeom prst="rect">
            <a:avLst/>
          </a:prstGeom>
          <a:noFill/>
        </p:spPr>
        <p:txBody>
          <a:bodyPr wrap="square" lIns="0" tIns="0" rIns="0" bIns="0" anchor="t">
            <a:spAutoFit/>
          </a:bodyPr>
          <a:lstStyle/>
          <a:p>
            <a:pPr>
              <a:spcAft>
                <a:spcPts val="300"/>
              </a:spcAft>
            </a:pPr>
            <a:r>
              <a:rPr sz="850" b="0" i="0">
                <a:solidFill>
                  <a:srgbClr val="5A5A7A"/>
                </a:solidFill>
                <a:latin typeface="Courier New"/>
              </a:rPr>
              <a:t>etl/extraction.py</a:t>
            </a:r>
          </a:p>
        </p:txBody>
      </p:sp>
      <p:sp>
        <p:nvSpPr>
          <p:cNvPr id="9" name="TextBox 8"/>
          <p:cNvSpPr txBox="1"/>
          <p:nvPr/>
        </p:nvSpPr>
        <p:spPr>
          <a:xfrm>
            <a:off x="1005839" y="2011680"/>
            <a:ext cx="2240280" cy="2011680"/>
          </a:xfrm>
          <a:prstGeom prst="rect">
            <a:avLst/>
          </a:prstGeom>
          <a:noFill/>
        </p:spPr>
        <p:txBody>
          <a:bodyPr wrap="square" lIns="0" tIns="0" rIns="0" bIns="0" anchor="t">
            <a:spAutoFit/>
          </a:bodyPr>
          <a:lstStyle/>
          <a:p>
            <a:pPr marL="171450" indent="-171450">
              <a:lnSpc>
                <a:spcPct val="110000"/>
              </a:lnSpc>
              <a:spcAft>
                <a:spcPts val="500"/>
              </a:spcAft>
              <a:buClr>
                <a:srgbClr val="FA9D02"/>
              </a:buClr>
              <a:buSzPct val="80000"/>
              <a:buFont typeface="Arial"/>
              <a:buChar char="●"/>
            </a:pPr>
            <a:r>
              <a:rPr sz="1050" b="0" i="0">
                <a:solidFill>
                  <a:srgbClr val="17175A"/>
                </a:solidFill>
                <a:latin typeface="Inter"/>
              </a:rPr>
              <a:t>Lit le CSV en flux, ligne par ligne</a:t>
            </a:r>
          </a:p>
          <a:p>
            <a:pPr marL="171450" indent="-171450">
              <a:lnSpc>
                <a:spcPct val="110000"/>
              </a:lnSpc>
              <a:spcAft>
                <a:spcPts val="500"/>
              </a:spcAft>
              <a:buClr>
                <a:srgbClr val="FA9D02"/>
              </a:buClr>
              <a:buSzPct val="80000"/>
              <a:buFont typeface="Arial"/>
              <a:buChar char="●"/>
            </a:pPr>
            <a:r>
              <a:rPr sz="1050" b="0" i="0">
                <a:solidFill>
                  <a:srgbClr val="17175A"/>
                </a:solidFill>
                <a:latin typeface="Inter"/>
              </a:rPr>
              <a:t>Vérifie les colonnes attendues</a:t>
            </a:r>
          </a:p>
          <a:p>
            <a:pPr marL="171450" indent="-171450">
              <a:lnSpc>
                <a:spcPct val="110000"/>
              </a:lnSpc>
              <a:spcAft>
                <a:spcPts val="500"/>
              </a:spcAft>
              <a:buClr>
                <a:srgbClr val="FA9D02"/>
              </a:buClr>
              <a:buSzPct val="80000"/>
              <a:buFont typeface="Arial"/>
              <a:buChar char="●"/>
            </a:pPr>
            <a:r>
              <a:rPr sz="1050" b="0" i="0">
                <a:solidFill>
                  <a:srgbClr val="17175A"/>
                </a:solidFill>
                <a:latin typeface="Inter"/>
              </a:rPr>
              <a:t>Copie la source dans .dagster/sources/</a:t>
            </a:r>
          </a:p>
          <a:p>
            <a:pPr marL="171450" indent="-171450">
              <a:lnSpc>
                <a:spcPct val="110000"/>
              </a:lnSpc>
              <a:spcAft>
                <a:spcPts val="500"/>
              </a:spcAft>
              <a:buClr>
                <a:srgbClr val="FA9D02"/>
              </a:buClr>
              <a:buSzPct val="80000"/>
              <a:buFont typeface="Arial"/>
              <a:buChar char="●"/>
            </a:pPr>
            <a:r>
              <a:rPr sz="1050" b="0" i="0">
                <a:solidFill>
                  <a:srgbClr val="17175A"/>
                </a:solidFill>
                <a:latin typeface="Inter"/>
              </a:rPr>
              <a:t>Calcule l'empreinte SHA-256 pour détecter un changement en cours de traitement</a:t>
            </a:r>
          </a:p>
        </p:txBody>
      </p:sp>
      <p:sp>
        <p:nvSpPr>
          <p:cNvPr id="10" name="Rounded Rectangle 9"/>
          <p:cNvSpPr/>
          <p:nvPr/>
        </p:nvSpPr>
        <p:spPr>
          <a:xfrm>
            <a:off x="3447287" y="1280160"/>
            <a:ext cx="2468880" cy="27889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3584447" y="1389888"/>
            <a:ext cx="420624" cy="420624"/>
          </a:xfrm>
          <a:prstGeom prst="ellipse">
            <a:avLst/>
          </a:prstGeom>
          <a:solidFill>
            <a:srgbClr val="FA9D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FaCogs.png"/>
          <p:cNvPicPr>
            <a:picLocks noChangeAspect="1"/>
          </p:cNvPicPr>
          <p:nvPr/>
        </p:nvPicPr>
        <p:blipFill>
          <a:blip r:embed="rId4"/>
          <a:stretch>
            <a:fillRect/>
          </a:stretch>
        </p:blipFill>
        <p:spPr>
          <a:xfrm>
            <a:off x="3685397" y="1490837"/>
            <a:ext cx="218724" cy="218724"/>
          </a:xfrm>
          <a:prstGeom prst="rect">
            <a:avLst/>
          </a:prstGeom>
        </p:spPr>
      </p:pic>
      <p:sp>
        <p:nvSpPr>
          <p:cNvPr id="13" name="TextBox 12"/>
          <p:cNvSpPr txBox="1"/>
          <p:nvPr/>
        </p:nvSpPr>
        <p:spPr>
          <a:xfrm>
            <a:off x="4105655" y="1371600"/>
            <a:ext cx="1737360" cy="256032"/>
          </a:xfrm>
          <a:prstGeom prst="rect">
            <a:avLst/>
          </a:prstGeom>
          <a:noFill/>
        </p:spPr>
        <p:txBody>
          <a:bodyPr wrap="square" lIns="0" tIns="0" rIns="0" bIns="0" anchor="t">
            <a:spAutoFit/>
          </a:bodyPr>
          <a:lstStyle/>
          <a:p>
            <a:pPr>
              <a:spcAft>
                <a:spcPts val="300"/>
              </a:spcAft>
            </a:pPr>
            <a:r>
              <a:rPr sz="1300" b="1" i="0">
                <a:solidFill>
                  <a:srgbClr val="17175A"/>
                </a:solidFill>
                <a:latin typeface="Inter"/>
              </a:rPr>
              <a:t>Transformation</a:t>
            </a:r>
          </a:p>
        </p:txBody>
      </p:sp>
      <p:sp>
        <p:nvSpPr>
          <p:cNvPr id="14" name="TextBox 13"/>
          <p:cNvSpPr txBox="1"/>
          <p:nvPr/>
        </p:nvSpPr>
        <p:spPr>
          <a:xfrm>
            <a:off x="4105655" y="1645920"/>
            <a:ext cx="1737360" cy="228600"/>
          </a:xfrm>
          <a:prstGeom prst="rect">
            <a:avLst/>
          </a:prstGeom>
          <a:noFill/>
        </p:spPr>
        <p:txBody>
          <a:bodyPr wrap="square" lIns="0" tIns="0" rIns="0" bIns="0" anchor="t">
            <a:spAutoFit/>
          </a:bodyPr>
          <a:lstStyle/>
          <a:p>
            <a:pPr>
              <a:spcAft>
                <a:spcPts val="300"/>
              </a:spcAft>
            </a:pPr>
            <a:r>
              <a:rPr sz="850" b="0" i="0">
                <a:solidFill>
                  <a:srgbClr val="5A5A7A"/>
                </a:solidFill>
                <a:latin typeface="Courier New"/>
              </a:rPr>
              <a:t>etl/transformation.py</a:t>
            </a:r>
          </a:p>
        </p:txBody>
      </p:sp>
      <p:sp>
        <p:nvSpPr>
          <p:cNvPr id="15" name="TextBox 14"/>
          <p:cNvSpPr txBox="1"/>
          <p:nvPr/>
        </p:nvSpPr>
        <p:spPr>
          <a:xfrm>
            <a:off x="3584447" y="2011680"/>
            <a:ext cx="2240280" cy="2011680"/>
          </a:xfrm>
          <a:prstGeom prst="rect">
            <a:avLst/>
          </a:prstGeom>
          <a:noFill/>
        </p:spPr>
        <p:txBody>
          <a:bodyPr wrap="square" lIns="0" tIns="0" rIns="0" bIns="0" anchor="t">
            <a:spAutoFit/>
          </a:bodyPr>
          <a:lstStyle/>
          <a:p>
            <a:pPr marL="171450" indent="-171450">
              <a:lnSpc>
                <a:spcPct val="110000"/>
              </a:lnSpc>
              <a:spcAft>
                <a:spcPts val="500"/>
              </a:spcAft>
              <a:buClr>
                <a:srgbClr val="FA9D02"/>
              </a:buClr>
              <a:buSzPct val="80000"/>
              <a:buFont typeface="Arial"/>
              <a:buChar char="●"/>
            </a:pPr>
            <a:r>
              <a:rPr sz="1050" b="0" i="0">
                <a:solidFill>
                  <a:srgbClr val="17175A"/>
                </a:solidFill>
                <a:latin typeface="Inter"/>
              </a:rPr>
              <a:t>Valide chaque ligne (6 motifs de rejet)</a:t>
            </a:r>
          </a:p>
          <a:p>
            <a:pPr marL="171450" indent="-171450">
              <a:lnSpc>
                <a:spcPct val="110000"/>
              </a:lnSpc>
              <a:spcAft>
                <a:spcPts val="500"/>
              </a:spcAft>
              <a:buClr>
                <a:srgbClr val="FA9D02"/>
              </a:buClr>
              <a:buSzPct val="80000"/>
              <a:buFont typeface="Arial"/>
              <a:buChar char="●"/>
            </a:pPr>
            <a:r>
              <a:rPr sz="1050" b="0" i="0">
                <a:solidFill>
                  <a:srgbClr val="17175A"/>
                </a:solidFill>
                <a:latin typeface="Inter"/>
              </a:rPr>
              <a:t>Garde l'observation la plus récente par produit</a:t>
            </a:r>
          </a:p>
          <a:p>
            <a:pPr marL="171450" indent="-171450">
              <a:lnSpc>
                <a:spcPct val="110000"/>
              </a:lnSpc>
              <a:spcAft>
                <a:spcPts val="500"/>
              </a:spcAft>
              <a:buClr>
                <a:srgbClr val="FA9D02"/>
              </a:buClr>
              <a:buSzPct val="80000"/>
              <a:buFont typeface="Arial"/>
              <a:buChar char="●"/>
            </a:pPr>
            <a:r>
              <a:rPr sz="1050" b="0" i="0">
                <a:solidFill>
                  <a:srgbClr val="17175A"/>
                </a:solidFill>
                <a:latin typeface="Inter"/>
              </a:rPr>
              <a:t>À date égale, retient la dernière ligne</a:t>
            </a:r>
          </a:p>
          <a:p>
            <a:pPr marL="171450" indent="-171450">
              <a:lnSpc>
                <a:spcPct val="110000"/>
              </a:lnSpc>
              <a:spcAft>
                <a:spcPts val="500"/>
              </a:spcAft>
              <a:buClr>
                <a:srgbClr val="FA9D02"/>
              </a:buClr>
              <a:buSzPct val="80000"/>
              <a:buFont typeface="Arial"/>
              <a:buChar char="●"/>
            </a:pPr>
            <a:r>
              <a:rPr sz="1050" b="0" i="0">
                <a:solidFill>
                  <a:srgbClr val="17175A"/>
                </a:solidFill>
                <a:latin typeface="Inter"/>
              </a:rPr>
              <a:t>Sort : produits valides, rejets avec motif, bilan chiffré</a:t>
            </a:r>
          </a:p>
        </p:txBody>
      </p:sp>
      <p:sp>
        <p:nvSpPr>
          <p:cNvPr id="16" name="Rounded Rectangle 15"/>
          <p:cNvSpPr/>
          <p:nvPr/>
        </p:nvSpPr>
        <p:spPr>
          <a:xfrm>
            <a:off x="6025896" y="1280160"/>
            <a:ext cx="2468880" cy="27889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6163056" y="1389888"/>
            <a:ext cx="420624" cy="420624"/>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FaDatabase.png"/>
          <p:cNvPicPr>
            <a:picLocks noChangeAspect="1"/>
          </p:cNvPicPr>
          <p:nvPr/>
        </p:nvPicPr>
        <p:blipFill>
          <a:blip r:embed="rId5"/>
          <a:stretch>
            <a:fillRect/>
          </a:stretch>
        </p:blipFill>
        <p:spPr>
          <a:xfrm>
            <a:off x="6264005" y="1490837"/>
            <a:ext cx="218724" cy="218724"/>
          </a:xfrm>
          <a:prstGeom prst="rect">
            <a:avLst/>
          </a:prstGeom>
        </p:spPr>
      </p:pic>
      <p:sp>
        <p:nvSpPr>
          <p:cNvPr id="19" name="TextBox 18"/>
          <p:cNvSpPr txBox="1"/>
          <p:nvPr/>
        </p:nvSpPr>
        <p:spPr>
          <a:xfrm>
            <a:off x="6684264" y="1371600"/>
            <a:ext cx="1737360" cy="256032"/>
          </a:xfrm>
          <a:prstGeom prst="rect">
            <a:avLst/>
          </a:prstGeom>
          <a:noFill/>
        </p:spPr>
        <p:txBody>
          <a:bodyPr wrap="square" lIns="0" tIns="0" rIns="0" bIns="0" anchor="t">
            <a:spAutoFit/>
          </a:bodyPr>
          <a:lstStyle/>
          <a:p>
            <a:pPr>
              <a:spcAft>
                <a:spcPts val="300"/>
              </a:spcAft>
            </a:pPr>
            <a:r>
              <a:rPr sz="1300" b="1" i="0">
                <a:solidFill>
                  <a:srgbClr val="17175A"/>
                </a:solidFill>
                <a:latin typeface="Inter"/>
              </a:rPr>
              <a:t>Chargement</a:t>
            </a:r>
          </a:p>
        </p:txBody>
      </p:sp>
      <p:sp>
        <p:nvSpPr>
          <p:cNvPr id="20" name="TextBox 19"/>
          <p:cNvSpPr txBox="1"/>
          <p:nvPr/>
        </p:nvSpPr>
        <p:spPr>
          <a:xfrm>
            <a:off x="6684264" y="1645920"/>
            <a:ext cx="1737360" cy="228600"/>
          </a:xfrm>
          <a:prstGeom prst="rect">
            <a:avLst/>
          </a:prstGeom>
          <a:noFill/>
        </p:spPr>
        <p:txBody>
          <a:bodyPr wrap="square" lIns="0" tIns="0" rIns="0" bIns="0" anchor="t">
            <a:spAutoFit/>
          </a:bodyPr>
          <a:lstStyle/>
          <a:p>
            <a:pPr>
              <a:spcAft>
                <a:spcPts val="300"/>
              </a:spcAft>
            </a:pPr>
            <a:r>
              <a:rPr sz="850" b="0" i="0">
                <a:solidFill>
                  <a:srgbClr val="5A5A7A"/>
                </a:solidFill>
                <a:latin typeface="Courier New"/>
              </a:rPr>
              <a:t>etl/chargement.py</a:t>
            </a:r>
          </a:p>
        </p:txBody>
      </p:sp>
      <p:sp>
        <p:nvSpPr>
          <p:cNvPr id="21" name="TextBox 20"/>
          <p:cNvSpPr txBox="1"/>
          <p:nvPr/>
        </p:nvSpPr>
        <p:spPr>
          <a:xfrm>
            <a:off x="6163056" y="2011680"/>
            <a:ext cx="2240280" cy="2011680"/>
          </a:xfrm>
          <a:prstGeom prst="rect">
            <a:avLst/>
          </a:prstGeom>
          <a:noFill/>
        </p:spPr>
        <p:txBody>
          <a:bodyPr wrap="square" lIns="0" tIns="0" rIns="0" bIns="0" anchor="t">
            <a:spAutoFit/>
          </a:bodyPr>
          <a:lstStyle/>
          <a:p>
            <a:pPr marL="171450" indent="-171450">
              <a:lnSpc>
                <a:spcPct val="110000"/>
              </a:lnSpc>
              <a:spcAft>
                <a:spcPts val="500"/>
              </a:spcAft>
              <a:buClr>
                <a:srgbClr val="FA9D02"/>
              </a:buClr>
              <a:buSzPct val="80000"/>
              <a:buFont typeface="Arial"/>
              <a:buChar char="●"/>
            </a:pPr>
            <a:r>
              <a:rPr sz="1050" b="0" i="0">
                <a:solidFill>
                  <a:srgbClr val="17175A"/>
                </a:solidFill>
                <a:latin typeface="Inter"/>
              </a:rPr>
              <a:t>UPSERT idempotent dans produits</a:t>
            </a:r>
          </a:p>
          <a:p>
            <a:pPr marL="171450" indent="-171450">
              <a:lnSpc>
                <a:spcPct val="110000"/>
              </a:lnSpc>
              <a:spcAft>
                <a:spcPts val="500"/>
              </a:spcAft>
              <a:buClr>
                <a:srgbClr val="FA9D02"/>
              </a:buClr>
              <a:buSzPct val="80000"/>
              <a:buFont typeface="Arial"/>
              <a:buChar char="●"/>
            </a:pPr>
            <a:r>
              <a:rPr sz="1050" b="0" i="0">
                <a:solidFill>
                  <a:srgbClr val="17175A"/>
                </a:solidFill>
                <a:latin typeface="Inter"/>
              </a:rPr>
              <a:t>Une seule transaction : produits, bilan, rejets</a:t>
            </a:r>
          </a:p>
          <a:p>
            <a:pPr marL="171450" indent="-171450">
              <a:lnSpc>
                <a:spcPct val="110000"/>
              </a:lnSpc>
              <a:spcAft>
                <a:spcPts val="500"/>
              </a:spcAft>
              <a:buClr>
                <a:srgbClr val="FA9D02"/>
              </a:buClr>
              <a:buSzPct val="80000"/>
              <a:buFont typeface="Arial"/>
              <a:buChar char="●"/>
            </a:pPr>
            <a:r>
              <a:rPr sz="1050" b="0" i="0">
                <a:solidFill>
                  <a:srgbClr val="17175A"/>
                </a:solidFill>
                <a:latin typeface="Inter"/>
              </a:rPr>
              <a:t>Historique dans etl_executions, rejets dans etl_rejets</a:t>
            </a:r>
          </a:p>
          <a:p>
            <a:pPr marL="171450" indent="-171450">
              <a:lnSpc>
                <a:spcPct val="110000"/>
              </a:lnSpc>
              <a:spcAft>
                <a:spcPts val="500"/>
              </a:spcAft>
              <a:buClr>
                <a:srgbClr val="FA9D02"/>
              </a:buClr>
              <a:buSzPct val="80000"/>
              <a:buFont typeface="Arial"/>
              <a:buChar char="●"/>
            </a:pPr>
            <a:r>
              <a:rPr sz="1050" b="0" i="0">
                <a:solidFill>
                  <a:srgbClr val="17175A"/>
                </a:solidFill>
                <a:latin typeface="Inter"/>
              </a:rPr>
              <a:t>Reprise automatique sur erreur transitoire</a:t>
            </a:r>
          </a:p>
        </p:txBody>
      </p:sp>
      <p:sp>
        <p:nvSpPr>
          <p:cNvPr id="22" name="Rounded Rectangle 21"/>
          <p:cNvSpPr/>
          <p:nvPr/>
        </p:nvSpPr>
        <p:spPr>
          <a:xfrm>
            <a:off x="868680" y="4206240"/>
            <a:ext cx="7635240" cy="457200"/>
          </a:xfrm>
          <a:prstGeom prst="roundRect">
            <a:avLst>
              <a:gd name="adj" fmla="val 8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051560" y="4206240"/>
            <a:ext cx="7315200" cy="457200"/>
          </a:xfrm>
          <a:prstGeom prst="rect">
            <a:avLst/>
          </a:prstGeom>
          <a:noFill/>
        </p:spPr>
        <p:txBody>
          <a:bodyPr wrap="square" lIns="0" tIns="0" rIns="0" bIns="0" anchor="ctr">
            <a:spAutoFit/>
          </a:bodyPr>
          <a:lstStyle/>
          <a:p>
            <a:pPr>
              <a:spcAft>
                <a:spcPts val="300"/>
              </a:spcAft>
            </a:pPr>
            <a:r>
              <a:rPr sz="1050" b="0" i="0">
                <a:solidFill>
                  <a:srgbClr val="FFFFFF"/>
                </a:solidFill>
                <a:latin typeface="Inter"/>
              </a:rPr>
              <a:t>Séparer les étapes permet de tester chacune isolément et de corriger l'une sans toucher aux deux autres.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 Architecture et fiabilité</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d. Arborescence du dépôt</a:t>
            </a:r>
          </a:p>
        </p:txBody>
      </p:sp>
      <p:sp>
        <p:nvSpPr>
          <p:cNvPr id="4" name="TextBox 3"/>
          <p:cNvSpPr txBox="1"/>
          <p:nvPr/>
        </p:nvSpPr>
        <p:spPr>
          <a:xfrm>
            <a:off x="868680" y="1097280"/>
            <a:ext cx="3657600" cy="228600"/>
          </a:xfrm>
          <a:prstGeom prst="rect">
            <a:avLst/>
          </a:prstGeom>
          <a:noFill/>
        </p:spPr>
        <p:txBody>
          <a:bodyPr wrap="square" lIns="0" tIns="0" rIns="0" bIns="0" anchor="t">
            <a:spAutoFit/>
          </a:bodyPr>
          <a:lstStyle/>
          <a:p>
            <a:pPr>
              <a:spcAft>
                <a:spcPts val="300"/>
              </a:spcAft>
            </a:pPr>
            <a:r>
              <a:rPr sz="1100" b="1" i="0">
                <a:solidFill>
                  <a:srgbClr val="7A7BE0"/>
                </a:solidFill>
                <a:latin typeface="Inter"/>
              </a:rPr>
              <a:t>Pipeline et base de données</a:t>
            </a:r>
          </a:p>
        </p:txBody>
      </p:sp>
      <p:graphicFrame>
        <p:nvGraphicFramePr>
          <p:cNvPr id="5" name="Table 4"/>
          <p:cNvGraphicFramePr>
            <a:graphicFrameLocks noGrp="1"/>
          </p:cNvGraphicFramePr>
          <p:nvPr/>
        </p:nvGraphicFramePr>
        <p:xfrm>
          <a:off x="868680" y="1353312"/>
          <a:ext cx="3749040" cy="3127248"/>
        </p:xfrm>
        <a:graphic>
          <a:graphicData uri="http://schemas.openxmlformats.org/drawingml/2006/table">
            <a:tbl>
              <a:tblPr>
                <a:tableStyleId>{2D5ABB26-0587-4C30-8999-92F81FD0307C}</a:tableStyleId>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tblGrid>
              <a:tr h="347472">
                <a:tc>
                  <a:txBody>
                    <a:bodyPr/>
                    <a:lstStyle/>
                    <a:p>
                      <a:r>
                        <a:rPr sz="800" b="1" i="0">
                          <a:solidFill>
                            <a:srgbClr val="FFFFFF"/>
                          </a:solidFill>
                          <a:latin typeface="Inter"/>
                        </a:rPr>
                        <a:t>Chemin</a:t>
                      </a:r>
                    </a:p>
                  </a:txBody>
                  <a:tcPr marL="64008" marR="64008" marT="22860" marB="22860" anchor="ctr">
                    <a:solidFill>
                      <a:srgbClr val="17175A"/>
                    </a:solidFill>
                  </a:tcPr>
                </a:tc>
                <a:tc>
                  <a:txBody>
                    <a:bodyPr/>
                    <a:lstStyle/>
                    <a:p>
                      <a:r>
                        <a:rPr sz="800" b="1" i="0">
                          <a:solidFill>
                            <a:srgbClr val="FFFFFF"/>
                          </a:solidFill>
                          <a:latin typeface="Inter"/>
                        </a:rPr>
                        <a:t>Rôle</a:t>
                      </a:r>
                    </a:p>
                  </a:txBody>
                  <a:tcPr marL="64008" marR="64008" marT="22860" marB="22860" anchor="ctr">
                    <a:solidFill>
                      <a:srgbClr val="17175A"/>
                    </a:solidFill>
                  </a:tcPr>
                </a:tc>
                <a:extLst>
                  <a:ext uri="{0D108BD9-81ED-4DB2-BD59-A6C34878D82A}">
                    <a16:rowId xmlns:a16="http://schemas.microsoft.com/office/drawing/2014/main" val="10000"/>
                  </a:ext>
                </a:extLst>
              </a:tr>
              <a:tr h="347472">
                <a:tc>
                  <a:txBody>
                    <a:bodyPr/>
                    <a:lstStyle/>
                    <a:p>
                      <a:r>
                        <a:rPr sz="800" b="0" i="0">
                          <a:solidFill>
                            <a:srgbClr val="17175A"/>
                          </a:solidFill>
                          <a:latin typeface="Courier New"/>
                        </a:rPr>
                        <a:t>data/product_dataset.csv</a:t>
                      </a:r>
                    </a:p>
                  </a:txBody>
                  <a:tcPr marL="64008" marR="64008" marT="22860" marB="22860" anchor="ctr">
                    <a:solidFill>
                      <a:srgbClr val="FFFFFF"/>
                    </a:solidFill>
                  </a:tcPr>
                </a:tc>
                <a:tc>
                  <a:txBody>
                    <a:bodyPr/>
                    <a:lstStyle/>
                    <a:p>
                      <a:r>
                        <a:rPr sz="800" b="0" i="0">
                          <a:solidFill>
                            <a:srgbClr val="17175A"/>
                          </a:solidFill>
                          <a:latin typeface="Inter"/>
                        </a:rPr>
                        <a:t>Source : export de ventes (542 009 lignes)</a:t>
                      </a:r>
                    </a:p>
                  </a:txBody>
                  <a:tcPr marL="64008" marR="64008" marT="22860" marB="22860" anchor="ctr">
                    <a:solidFill>
                      <a:srgbClr val="FFFFFF"/>
                    </a:solidFill>
                  </a:tcPr>
                </a:tc>
                <a:extLst>
                  <a:ext uri="{0D108BD9-81ED-4DB2-BD59-A6C34878D82A}">
                    <a16:rowId xmlns:a16="http://schemas.microsoft.com/office/drawing/2014/main" val="10001"/>
                  </a:ext>
                </a:extLst>
              </a:tr>
              <a:tr h="347472">
                <a:tc>
                  <a:txBody>
                    <a:bodyPr/>
                    <a:lstStyle/>
                    <a:p>
                      <a:r>
                        <a:rPr sz="800" b="0" i="0">
                          <a:solidFill>
                            <a:srgbClr val="17175A"/>
                          </a:solidFill>
                          <a:latin typeface="Courier New"/>
                        </a:rPr>
                        <a:t>docker-compose.yml, .env.exemple</a:t>
                      </a:r>
                    </a:p>
                  </a:txBody>
                  <a:tcPr marL="64008" marR="64008" marT="22860" marB="22860" anchor="ctr">
                    <a:solidFill>
                      <a:srgbClr val="F6F2CC"/>
                    </a:solidFill>
                  </a:tcPr>
                </a:tc>
                <a:tc>
                  <a:txBody>
                    <a:bodyPr/>
                    <a:lstStyle/>
                    <a:p>
                      <a:r>
                        <a:rPr sz="800" b="0" i="0">
                          <a:solidFill>
                            <a:srgbClr val="17175A"/>
                          </a:solidFill>
                          <a:latin typeface="Inter"/>
                        </a:rPr>
                        <a:t>PostgreSQL conteneurisé, modèle de config</a:t>
                      </a:r>
                    </a:p>
                  </a:txBody>
                  <a:tcPr marL="64008" marR="64008" marT="22860" marB="22860" anchor="ctr">
                    <a:solidFill>
                      <a:srgbClr val="F6F2CC"/>
                    </a:solidFill>
                  </a:tcPr>
                </a:tc>
                <a:extLst>
                  <a:ext uri="{0D108BD9-81ED-4DB2-BD59-A6C34878D82A}">
                    <a16:rowId xmlns:a16="http://schemas.microsoft.com/office/drawing/2014/main" val="10002"/>
                  </a:ext>
                </a:extLst>
              </a:tr>
              <a:tr h="347472">
                <a:tc>
                  <a:txBody>
                    <a:bodyPr/>
                    <a:lstStyle/>
                    <a:p>
                      <a:r>
                        <a:rPr sz="800" b="0" i="0">
                          <a:solidFill>
                            <a:srgbClr val="17175A"/>
                          </a:solidFill>
                          <a:latin typeface="Courier New"/>
                        </a:rPr>
                        <a:t>sql/01_…, sql/02_…</a:t>
                      </a:r>
                    </a:p>
                  </a:txBody>
                  <a:tcPr marL="64008" marR="64008" marT="22860" marB="22860" anchor="ctr">
                    <a:solidFill>
                      <a:srgbClr val="FFFFFF"/>
                    </a:solidFill>
                  </a:tcPr>
                </a:tc>
                <a:tc>
                  <a:txBody>
                    <a:bodyPr/>
                    <a:lstStyle/>
                    <a:p>
                      <a:r>
                        <a:rPr sz="800" b="0" i="0">
                          <a:solidFill>
                            <a:srgbClr val="17175A"/>
                          </a:solidFill>
                          <a:latin typeface="Inter"/>
                        </a:rPr>
                        <a:t>Tables produits, etl_executions, etl_rejets</a:t>
                      </a:r>
                    </a:p>
                  </a:txBody>
                  <a:tcPr marL="64008" marR="64008" marT="22860" marB="22860" anchor="ctr">
                    <a:solidFill>
                      <a:srgbClr val="FFFFFF"/>
                    </a:solidFill>
                  </a:tcPr>
                </a:tc>
                <a:extLst>
                  <a:ext uri="{0D108BD9-81ED-4DB2-BD59-A6C34878D82A}">
                    <a16:rowId xmlns:a16="http://schemas.microsoft.com/office/drawing/2014/main" val="10003"/>
                  </a:ext>
                </a:extLst>
              </a:tr>
              <a:tr h="347472">
                <a:tc>
                  <a:txBody>
                    <a:bodyPr/>
                    <a:lstStyle/>
                    <a:p>
                      <a:r>
                        <a:rPr sz="800" b="0" i="0">
                          <a:solidFill>
                            <a:srgbClr val="17175A"/>
                          </a:solidFill>
                          <a:latin typeface="Courier New"/>
                        </a:rPr>
                        <a:t>etl/extraction.py</a:t>
                      </a:r>
                    </a:p>
                  </a:txBody>
                  <a:tcPr marL="64008" marR="64008" marT="22860" marB="22860" anchor="ctr">
                    <a:solidFill>
                      <a:srgbClr val="F6F2CC"/>
                    </a:solidFill>
                  </a:tcPr>
                </a:tc>
                <a:tc>
                  <a:txBody>
                    <a:bodyPr/>
                    <a:lstStyle/>
                    <a:p>
                      <a:r>
                        <a:rPr sz="800" b="0" i="0">
                          <a:solidFill>
                            <a:srgbClr val="17175A"/>
                          </a:solidFill>
                          <a:latin typeface="Inter"/>
                        </a:rPr>
                        <a:t>Lecture du CSV en flux</a:t>
                      </a:r>
                    </a:p>
                  </a:txBody>
                  <a:tcPr marL="64008" marR="64008" marT="22860" marB="22860" anchor="ctr">
                    <a:solidFill>
                      <a:srgbClr val="F6F2CC"/>
                    </a:solidFill>
                  </a:tcPr>
                </a:tc>
                <a:extLst>
                  <a:ext uri="{0D108BD9-81ED-4DB2-BD59-A6C34878D82A}">
                    <a16:rowId xmlns:a16="http://schemas.microsoft.com/office/drawing/2014/main" val="10004"/>
                  </a:ext>
                </a:extLst>
              </a:tr>
              <a:tr h="347472">
                <a:tc>
                  <a:txBody>
                    <a:bodyPr/>
                    <a:lstStyle/>
                    <a:p>
                      <a:r>
                        <a:rPr sz="800" b="0" i="0">
                          <a:solidFill>
                            <a:srgbClr val="17175A"/>
                          </a:solidFill>
                          <a:latin typeface="Courier New"/>
                        </a:rPr>
                        <a:t>etl/transformation.py</a:t>
                      </a:r>
                    </a:p>
                  </a:txBody>
                  <a:tcPr marL="64008" marR="64008" marT="22860" marB="22860" anchor="ctr">
                    <a:solidFill>
                      <a:srgbClr val="FFFFFF"/>
                    </a:solidFill>
                  </a:tcPr>
                </a:tc>
                <a:tc>
                  <a:txBody>
                    <a:bodyPr/>
                    <a:lstStyle/>
                    <a:p>
                      <a:r>
                        <a:rPr sz="800" b="0" i="0">
                          <a:solidFill>
                            <a:srgbClr val="17175A"/>
                          </a:solidFill>
                          <a:latin typeface="Inter"/>
                        </a:rPr>
                        <a:t>Validation, observation la plus récente</a:t>
                      </a:r>
                    </a:p>
                  </a:txBody>
                  <a:tcPr marL="64008" marR="64008" marT="22860" marB="22860" anchor="ctr">
                    <a:solidFill>
                      <a:srgbClr val="FFFFFF"/>
                    </a:solidFill>
                  </a:tcPr>
                </a:tc>
                <a:extLst>
                  <a:ext uri="{0D108BD9-81ED-4DB2-BD59-A6C34878D82A}">
                    <a16:rowId xmlns:a16="http://schemas.microsoft.com/office/drawing/2014/main" val="10005"/>
                  </a:ext>
                </a:extLst>
              </a:tr>
              <a:tr h="347472">
                <a:tc>
                  <a:txBody>
                    <a:bodyPr/>
                    <a:lstStyle/>
                    <a:p>
                      <a:r>
                        <a:rPr sz="800" b="0" i="0">
                          <a:solidFill>
                            <a:srgbClr val="17175A"/>
                          </a:solidFill>
                          <a:latin typeface="Courier New"/>
                        </a:rPr>
                        <a:t>etl/chargement.py</a:t>
                      </a:r>
                    </a:p>
                  </a:txBody>
                  <a:tcPr marL="64008" marR="64008" marT="22860" marB="22860" anchor="ctr">
                    <a:solidFill>
                      <a:srgbClr val="F6F2CC"/>
                    </a:solidFill>
                  </a:tcPr>
                </a:tc>
                <a:tc>
                  <a:txBody>
                    <a:bodyPr/>
                    <a:lstStyle/>
                    <a:p>
                      <a:r>
                        <a:rPr sz="800" b="0" i="0">
                          <a:solidFill>
                            <a:srgbClr val="17175A"/>
                          </a:solidFill>
                          <a:latin typeface="Inter"/>
                        </a:rPr>
                        <a:t>UPSERT, verrou, historique, rejets</a:t>
                      </a:r>
                    </a:p>
                  </a:txBody>
                  <a:tcPr marL="64008" marR="64008" marT="22860" marB="22860" anchor="ctr">
                    <a:solidFill>
                      <a:srgbClr val="F6F2CC"/>
                    </a:solidFill>
                  </a:tcPr>
                </a:tc>
                <a:extLst>
                  <a:ext uri="{0D108BD9-81ED-4DB2-BD59-A6C34878D82A}">
                    <a16:rowId xmlns:a16="http://schemas.microsoft.com/office/drawing/2014/main" val="10006"/>
                  </a:ext>
                </a:extLst>
              </a:tr>
              <a:tr h="347472">
                <a:tc>
                  <a:txBody>
                    <a:bodyPr/>
                    <a:lstStyle/>
                    <a:p>
                      <a:r>
                        <a:rPr sz="800" b="0" i="0">
                          <a:solidFill>
                            <a:srgbClr val="17175A"/>
                          </a:solidFill>
                          <a:latin typeface="Courier New"/>
                        </a:rPr>
                        <a:t>etl/erreurs.py</a:t>
                      </a:r>
                    </a:p>
                  </a:txBody>
                  <a:tcPr marL="64008" marR="64008" marT="22860" marB="22860" anchor="ctr">
                    <a:solidFill>
                      <a:srgbClr val="FFFFFF"/>
                    </a:solidFill>
                  </a:tcPr>
                </a:tc>
                <a:tc>
                  <a:txBody>
                    <a:bodyPr/>
                    <a:lstStyle/>
                    <a:p>
                      <a:r>
                        <a:rPr sz="800" b="0" i="0">
                          <a:solidFill>
                            <a:srgbClr val="17175A"/>
                          </a:solidFill>
                          <a:latin typeface="Inter"/>
                        </a:rPr>
                        <a:t>Erreur transitoire (à rejouer) ou non</a:t>
                      </a:r>
                    </a:p>
                  </a:txBody>
                  <a:tcPr marL="64008" marR="64008" marT="22860" marB="22860" anchor="ctr">
                    <a:solidFill>
                      <a:srgbClr val="FFFFFF"/>
                    </a:solidFill>
                  </a:tcPr>
                </a:tc>
                <a:extLst>
                  <a:ext uri="{0D108BD9-81ED-4DB2-BD59-A6C34878D82A}">
                    <a16:rowId xmlns:a16="http://schemas.microsoft.com/office/drawing/2014/main" val="10007"/>
                  </a:ext>
                </a:extLst>
              </a:tr>
              <a:tr h="347472">
                <a:tc>
                  <a:txBody>
                    <a:bodyPr/>
                    <a:lstStyle/>
                    <a:p>
                      <a:r>
                        <a:rPr sz="800" b="0" i="0">
                          <a:solidFill>
                            <a:srgbClr val="17175A"/>
                          </a:solidFill>
                          <a:latin typeface="Courier New"/>
                        </a:rPr>
                        <a:t>etl/definitions.py</a:t>
                      </a:r>
                    </a:p>
                  </a:txBody>
                  <a:tcPr marL="64008" marR="64008" marT="22860" marB="22860" anchor="ctr">
                    <a:solidFill>
                      <a:srgbClr val="F6F2CC"/>
                    </a:solidFill>
                  </a:tcPr>
                </a:tc>
                <a:tc>
                  <a:txBody>
                    <a:bodyPr/>
                    <a:lstStyle/>
                    <a:p>
                      <a:r>
                        <a:rPr sz="800" b="0" i="0">
                          <a:solidFill>
                            <a:srgbClr val="17175A"/>
                          </a:solidFill>
                          <a:latin typeface="Inter"/>
                        </a:rPr>
                        <a:t>Job Dagster et reprise automatique</a:t>
                      </a:r>
                    </a:p>
                  </a:txBody>
                  <a:tcPr marL="64008" marR="64008" marT="22860" marB="22860" anchor="ctr">
                    <a:solidFill>
                      <a:srgbClr val="F6F2CC"/>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4800600" y="1097280"/>
            <a:ext cx="3657600" cy="228600"/>
          </a:xfrm>
          <a:prstGeom prst="rect">
            <a:avLst/>
          </a:prstGeom>
          <a:noFill/>
        </p:spPr>
        <p:txBody>
          <a:bodyPr wrap="square" lIns="0" tIns="0" rIns="0" bIns="0" anchor="t">
            <a:spAutoFit/>
          </a:bodyPr>
          <a:lstStyle/>
          <a:p>
            <a:pPr>
              <a:spcAft>
                <a:spcPts val="300"/>
              </a:spcAft>
            </a:pPr>
            <a:r>
              <a:rPr sz="1100" b="1" i="0">
                <a:solidFill>
                  <a:srgbClr val="7A7BE0"/>
                </a:solidFill>
                <a:latin typeface="Inter"/>
              </a:rPr>
              <a:t>API, tests et livrables</a:t>
            </a:r>
          </a:p>
        </p:txBody>
      </p:sp>
      <p:graphicFrame>
        <p:nvGraphicFramePr>
          <p:cNvPr id="7" name="Table 6"/>
          <p:cNvGraphicFramePr>
            <a:graphicFrameLocks noGrp="1"/>
          </p:cNvGraphicFramePr>
          <p:nvPr/>
        </p:nvGraphicFramePr>
        <p:xfrm>
          <a:off x="4800600" y="1353312"/>
          <a:ext cx="3703320" cy="2432304"/>
        </p:xfrm>
        <a:graphic>
          <a:graphicData uri="http://schemas.openxmlformats.org/drawingml/2006/table">
            <a:tbl>
              <a:tblPr>
                <a:tableStyleId>{2D5ABB26-0587-4C30-8999-92F81FD0307C}</a:tableStyleId>
              </a:tblPr>
              <a:tblGrid>
                <a:gridCol w="1600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347472">
                <a:tc>
                  <a:txBody>
                    <a:bodyPr/>
                    <a:lstStyle/>
                    <a:p>
                      <a:r>
                        <a:rPr sz="800" b="1" i="0">
                          <a:solidFill>
                            <a:srgbClr val="FFFFFF"/>
                          </a:solidFill>
                          <a:latin typeface="Inter"/>
                        </a:rPr>
                        <a:t>Chemin</a:t>
                      </a:r>
                    </a:p>
                  </a:txBody>
                  <a:tcPr marL="64008" marR="64008" marT="22860" marB="22860" anchor="ctr">
                    <a:solidFill>
                      <a:srgbClr val="17175A"/>
                    </a:solidFill>
                  </a:tcPr>
                </a:tc>
                <a:tc>
                  <a:txBody>
                    <a:bodyPr/>
                    <a:lstStyle/>
                    <a:p>
                      <a:r>
                        <a:rPr sz="800" b="1" i="0">
                          <a:solidFill>
                            <a:srgbClr val="FFFFFF"/>
                          </a:solidFill>
                          <a:latin typeface="Inter"/>
                        </a:rPr>
                        <a:t>Rôle</a:t>
                      </a:r>
                    </a:p>
                  </a:txBody>
                  <a:tcPr marL="64008" marR="64008" marT="22860" marB="22860" anchor="ctr">
                    <a:solidFill>
                      <a:srgbClr val="17175A"/>
                    </a:solidFill>
                  </a:tcPr>
                </a:tc>
                <a:extLst>
                  <a:ext uri="{0D108BD9-81ED-4DB2-BD59-A6C34878D82A}">
                    <a16:rowId xmlns:a16="http://schemas.microsoft.com/office/drawing/2014/main" val="10000"/>
                  </a:ext>
                </a:extLst>
              </a:tr>
              <a:tr h="347472">
                <a:tc>
                  <a:txBody>
                    <a:bodyPr/>
                    <a:lstStyle/>
                    <a:p>
                      <a:r>
                        <a:rPr sz="800" b="0" i="0">
                          <a:solidFill>
                            <a:srgbClr val="17175A"/>
                          </a:solidFill>
                          <a:latin typeface="Courier New"/>
                        </a:rPr>
                        <a:t>api/server.js</a:t>
                      </a:r>
                    </a:p>
                  </a:txBody>
                  <a:tcPr marL="64008" marR="64008" marT="22860" marB="22860" anchor="ctr">
                    <a:solidFill>
                      <a:srgbClr val="FFFFFF"/>
                    </a:solidFill>
                  </a:tcPr>
                </a:tc>
                <a:tc>
                  <a:txBody>
                    <a:bodyPr/>
                    <a:lstStyle/>
                    <a:p>
                      <a:r>
                        <a:rPr sz="800" b="0" i="0">
                          <a:solidFill>
                            <a:srgbClr val="17175A"/>
                          </a:solidFill>
                          <a:latin typeface="Inter"/>
                        </a:rPr>
                        <a:t>Quatre routes et /docs (Swagger UI)</a:t>
                      </a:r>
                    </a:p>
                  </a:txBody>
                  <a:tcPr marL="64008" marR="64008" marT="22860" marB="22860" anchor="ctr">
                    <a:solidFill>
                      <a:srgbClr val="FFFFFF"/>
                    </a:solidFill>
                  </a:tcPr>
                </a:tc>
                <a:extLst>
                  <a:ext uri="{0D108BD9-81ED-4DB2-BD59-A6C34878D82A}">
                    <a16:rowId xmlns:a16="http://schemas.microsoft.com/office/drawing/2014/main" val="10001"/>
                  </a:ext>
                </a:extLst>
              </a:tr>
              <a:tr h="347472">
                <a:tc>
                  <a:txBody>
                    <a:bodyPr/>
                    <a:lstStyle/>
                    <a:p>
                      <a:r>
                        <a:rPr sz="800" b="0" i="0">
                          <a:solidFill>
                            <a:srgbClr val="17175A"/>
                          </a:solidFill>
                          <a:latin typeface="Courier New"/>
                        </a:rPr>
                        <a:t>api/basededonnees.js</a:t>
                      </a:r>
                    </a:p>
                  </a:txBody>
                  <a:tcPr marL="64008" marR="64008" marT="22860" marB="22860" anchor="ctr">
                    <a:solidFill>
                      <a:srgbClr val="F6F2CC"/>
                    </a:solidFill>
                  </a:tcPr>
                </a:tc>
                <a:tc>
                  <a:txBody>
                    <a:bodyPr/>
                    <a:lstStyle/>
                    <a:p>
                      <a:r>
                        <a:rPr sz="800" b="0" i="0">
                          <a:solidFill>
                            <a:srgbClr val="17175A"/>
                          </a:solidFill>
                          <a:latin typeface="Inter"/>
                        </a:rPr>
                        <a:t>Classe l'erreur PostgreSQL : 503 ou 500</a:t>
                      </a:r>
                    </a:p>
                  </a:txBody>
                  <a:tcPr marL="64008" marR="64008" marT="22860" marB="22860" anchor="ctr">
                    <a:solidFill>
                      <a:srgbClr val="F6F2CC"/>
                    </a:solidFill>
                  </a:tcPr>
                </a:tc>
                <a:extLst>
                  <a:ext uri="{0D108BD9-81ED-4DB2-BD59-A6C34878D82A}">
                    <a16:rowId xmlns:a16="http://schemas.microsoft.com/office/drawing/2014/main" val="10002"/>
                  </a:ext>
                </a:extLst>
              </a:tr>
              <a:tr h="347472">
                <a:tc>
                  <a:txBody>
                    <a:bodyPr/>
                    <a:lstStyle/>
                    <a:p>
                      <a:r>
                        <a:rPr sz="800" b="0" i="0">
                          <a:solidFill>
                            <a:srgbClr val="17175A"/>
                          </a:solidFill>
                          <a:latin typeface="Courier New"/>
                        </a:rPr>
                        <a:t>tests/</a:t>
                      </a:r>
                    </a:p>
                  </a:txBody>
                  <a:tcPr marL="64008" marR="64008" marT="22860" marB="22860" anchor="ctr">
                    <a:solidFill>
                      <a:srgbClr val="FFFFFF"/>
                    </a:solidFill>
                  </a:tcPr>
                </a:tc>
                <a:tc>
                  <a:txBody>
                    <a:bodyPr/>
                    <a:lstStyle/>
                    <a:p>
                      <a:r>
                        <a:rPr sz="800" b="0" i="0">
                          <a:solidFill>
                            <a:srgbClr val="17175A"/>
                          </a:solidFill>
                          <a:latin typeface="Inter"/>
                        </a:rPr>
                        <a:t>test_transformation, test_chargement, test_erreurs</a:t>
                      </a:r>
                    </a:p>
                  </a:txBody>
                  <a:tcPr marL="64008" marR="64008" marT="22860" marB="22860" anchor="ctr">
                    <a:solidFill>
                      <a:srgbClr val="FFFFFF"/>
                    </a:solidFill>
                  </a:tcPr>
                </a:tc>
                <a:extLst>
                  <a:ext uri="{0D108BD9-81ED-4DB2-BD59-A6C34878D82A}">
                    <a16:rowId xmlns:a16="http://schemas.microsoft.com/office/drawing/2014/main" val="10003"/>
                  </a:ext>
                </a:extLst>
              </a:tr>
              <a:tr h="347472">
                <a:tc>
                  <a:txBody>
                    <a:bodyPr/>
                    <a:lstStyle/>
                    <a:p>
                      <a:r>
                        <a:rPr sz="800" b="0" i="0">
                          <a:solidFill>
                            <a:srgbClr val="17175A"/>
                          </a:solidFill>
                          <a:latin typeface="Courier New"/>
                        </a:rPr>
                        <a:t>docs/openapi.yaml</a:t>
                      </a:r>
                    </a:p>
                  </a:txBody>
                  <a:tcPr marL="64008" marR="64008" marT="22860" marB="22860" anchor="ctr">
                    <a:solidFill>
                      <a:srgbClr val="F6F2CC"/>
                    </a:solidFill>
                  </a:tcPr>
                </a:tc>
                <a:tc>
                  <a:txBody>
                    <a:bodyPr/>
                    <a:lstStyle/>
                    <a:p>
                      <a:r>
                        <a:rPr sz="800" b="0" i="0">
                          <a:solidFill>
                            <a:srgbClr val="17175A"/>
                          </a:solidFill>
                          <a:latin typeface="Inter"/>
                        </a:rPr>
                        <a:t>Contrat de l'API (OpenAPI 3.0)</a:t>
                      </a:r>
                    </a:p>
                  </a:txBody>
                  <a:tcPr marL="64008" marR="64008" marT="22860" marB="22860" anchor="ctr">
                    <a:solidFill>
                      <a:srgbClr val="F6F2CC"/>
                    </a:solidFill>
                  </a:tcPr>
                </a:tc>
                <a:extLst>
                  <a:ext uri="{0D108BD9-81ED-4DB2-BD59-A6C34878D82A}">
                    <a16:rowId xmlns:a16="http://schemas.microsoft.com/office/drawing/2014/main" val="10004"/>
                  </a:ext>
                </a:extLst>
              </a:tr>
              <a:tr h="347472">
                <a:tc>
                  <a:txBody>
                    <a:bodyPr/>
                    <a:lstStyle/>
                    <a:p>
                      <a:r>
                        <a:rPr sz="800" b="0" i="0">
                          <a:solidFill>
                            <a:srgbClr val="17175A"/>
                          </a:solidFill>
                          <a:latin typeface="Courier New"/>
                        </a:rPr>
                        <a:t>docs/strategie_reprise.md</a:t>
                      </a:r>
                    </a:p>
                  </a:txBody>
                  <a:tcPr marL="64008" marR="64008" marT="22860" marB="22860" anchor="ctr">
                    <a:solidFill>
                      <a:srgbClr val="FFFFFF"/>
                    </a:solidFill>
                  </a:tcPr>
                </a:tc>
                <a:tc>
                  <a:txBody>
                    <a:bodyPr/>
                    <a:lstStyle/>
                    <a:p>
                      <a:r>
                        <a:rPr sz="800" b="0" i="0">
                          <a:solidFill>
                            <a:srgbClr val="17175A"/>
                          </a:solidFill>
                          <a:latin typeface="Inter"/>
                        </a:rPr>
                        <a:t>Idempotence, atomicité, reprise</a:t>
                      </a:r>
                    </a:p>
                  </a:txBody>
                  <a:tcPr marL="64008" marR="64008" marT="22860" marB="22860" anchor="ctr">
                    <a:solidFill>
                      <a:srgbClr val="FFFFFF"/>
                    </a:solidFill>
                  </a:tcPr>
                </a:tc>
                <a:extLst>
                  <a:ext uri="{0D108BD9-81ED-4DB2-BD59-A6C34878D82A}">
                    <a16:rowId xmlns:a16="http://schemas.microsoft.com/office/drawing/2014/main" val="10005"/>
                  </a:ext>
                </a:extLst>
              </a:tr>
              <a:tr h="347472">
                <a:tc>
                  <a:txBody>
                    <a:bodyPr/>
                    <a:lstStyle/>
                    <a:p>
                      <a:r>
                        <a:rPr sz="800" b="0" i="0">
                          <a:solidFill>
                            <a:srgbClr val="17175A"/>
                          </a:solidFill>
                          <a:latin typeface="Courier New"/>
                        </a:rPr>
                        <a:t>.github/workflows/tests.yml</a:t>
                      </a:r>
                    </a:p>
                  </a:txBody>
                  <a:tcPr marL="64008" marR="64008" marT="22860" marB="22860" anchor="ctr">
                    <a:solidFill>
                      <a:srgbClr val="F6F2CC"/>
                    </a:solidFill>
                  </a:tcPr>
                </a:tc>
                <a:tc>
                  <a:txBody>
                    <a:bodyPr/>
                    <a:lstStyle/>
                    <a:p>
                      <a:r>
                        <a:rPr sz="800" b="0" i="0">
                          <a:solidFill>
                            <a:srgbClr val="17175A"/>
                          </a:solidFill>
                          <a:latin typeface="Inter"/>
                        </a:rPr>
                        <a:t>Intégration continue à chaque push</a:t>
                      </a:r>
                    </a:p>
                  </a:txBody>
                  <a:tcPr marL="64008" marR="64008" marT="22860" marB="22860" anchor="ctr">
                    <a:solidFill>
                      <a:srgbClr val="F6F2CC"/>
                    </a:solidFill>
                  </a:tcPr>
                </a:tc>
                <a:extLst>
                  <a:ext uri="{0D108BD9-81ED-4DB2-BD59-A6C34878D82A}">
                    <a16:rowId xmlns:a16="http://schemas.microsoft.com/office/drawing/2014/main" val="10006"/>
                  </a:ext>
                </a:extLst>
              </a:tr>
            </a:tbl>
          </a:graphicData>
        </a:graphic>
      </p:graphicFrame>
      <p:sp>
        <p:nvSpPr>
          <p:cNvPr id="8" name="Rounded Rectangle 7"/>
          <p:cNvSpPr/>
          <p:nvPr/>
        </p:nvSpPr>
        <p:spPr>
          <a:xfrm>
            <a:off x="4800600" y="3840480"/>
            <a:ext cx="3703320" cy="7315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937760" y="3840480"/>
            <a:ext cx="3429000" cy="731520"/>
          </a:xfrm>
          <a:prstGeom prst="rect">
            <a:avLst/>
          </a:prstGeom>
          <a:noFill/>
        </p:spPr>
        <p:txBody>
          <a:bodyPr wrap="square" lIns="0" tIns="0" rIns="0" bIns="0" anchor="ctr">
            <a:spAutoFit/>
          </a:bodyPr>
          <a:lstStyle/>
          <a:p>
            <a:pPr>
              <a:spcAft>
                <a:spcPts val="300"/>
              </a:spcAft>
            </a:pPr>
            <a:r>
              <a:rPr sz="1000" b="0" i="0">
                <a:solidFill>
                  <a:srgbClr val="17175A"/>
                </a:solidFill>
                <a:latin typeface="Inter"/>
              </a:rPr>
              <a:t>Une seule configuration : le fichier .env, lu par Docker Compose, le pipeline Python et l'API.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 Architecture et fiabilité</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e. Dagster : l'orchestrateur du pipeline</a:t>
            </a:r>
          </a:p>
        </p:txBody>
      </p:sp>
      <p:sp>
        <p:nvSpPr>
          <p:cNvPr id="4" name="TextBox 3"/>
          <p:cNvSpPr txBox="1"/>
          <p:nvPr/>
        </p:nvSpPr>
        <p:spPr>
          <a:xfrm>
            <a:off x="868680" y="1188720"/>
            <a:ext cx="3017520" cy="228600"/>
          </a:xfrm>
          <a:prstGeom prst="rect">
            <a:avLst/>
          </a:prstGeom>
          <a:noFill/>
        </p:spPr>
        <p:txBody>
          <a:bodyPr wrap="square" lIns="0" tIns="0" rIns="0" bIns="0" anchor="t">
            <a:spAutoFit/>
          </a:bodyPr>
          <a:lstStyle/>
          <a:p>
            <a:pPr>
              <a:spcAft>
                <a:spcPts val="300"/>
              </a:spcAft>
            </a:pPr>
            <a:r>
              <a:rPr sz="1050" b="1" i="0">
                <a:solidFill>
                  <a:srgbClr val="7A7BE0"/>
                </a:solidFill>
                <a:latin typeface="Inter"/>
              </a:rPr>
              <a:t>Job : synchronisation_produits</a:t>
            </a:r>
          </a:p>
        </p:txBody>
      </p:sp>
      <p:sp>
        <p:nvSpPr>
          <p:cNvPr id="5" name="Rounded Rectangle 4"/>
          <p:cNvSpPr/>
          <p:nvPr/>
        </p:nvSpPr>
        <p:spPr>
          <a:xfrm>
            <a:off x="868680" y="1508760"/>
            <a:ext cx="3017520" cy="640080"/>
          </a:xfrm>
          <a:prstGeom prst="roundRect">
            <a:avLst>
              <a:gd name="adj" fmla="val 12000"/>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987552" y="1636776"/>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87552" y="1636776"/>
            <a:ext cx="384048" cy="384048"/>
          </a:xfrm>
          <a:prstGeom prst="rect">
            <a:avLst/>
          </a:prstGeom>
          <a:noFill/>
        </p:spPr>
        <p:txBody>
          <a:bodyPr wrap="square" lIns="0" tIns="0" rIns="0" bIns="0" anchor="ctr">
            <a:spAutoFit/>
          </a:bodyPr>
          <a:lstStyle/>
          <a:p>
            <a:pPr algn="ctr">
              <a:spcAft>
                <a:spcPts val="300"/>
              </a:spcAft>
            </a:pPr>
            <a:r>
              <a:rPr sz="1300" b="1" i="0">
                <a:solidFill>
                  <a:srgbClr val="17175A"/>
                </a:solidFill>
                <a:latin typeface="Inter"/>
              </a:rPr>
              <a:t>1</a:t>
            </a:r>
          </a:p>
        </p:txBody>
      </p:sp>
      <p:sp>
        <p:nvSpPr>
          <p:cNvPr id="8" name="TextBox 7"/>
          <p:cNvSpPr txBox="1"/>
          <p:nvPr/>
        </p:nvSpPr>
        <p:spPr>
          <a:xfrm>
            <a:off x="1508760" y="1508760"/>
            <a:ext cx="2286000" cy="640080"/>
          </a:xfrm>
          <a:prstGeom prst="rect">
            <a:avLst/>
          </a:prstGeom>
          <a:noFill/>
        </p:spPr>
        <p:txBody>
          <a:bodyPr wrap="square" lIns="0" tIns="0" rIns="0" bIns="0" anchor="ctr">
            <a:spAutoFit/>
          </a:bodyPr>
          <a:lstStyle/>
          <a:p>
            <a:pPr>
              <a:spcAft>
                <a:spcPts val="100"/>
              </a:spcAft>
            </a:pPr>
            <a:r>
              <a:rPr sz="1100" b="1" i="0">
                <a:solidFill>
                  <a:srgbClr val="17175A"/>
                </a:solidFill>
                <a:latin typeface="Inter"/>
              </a:rPr>
              <a:t>extraire_source</a:t>
            </a:r>
          </a:p>
          <a:p>
            <a:pPr>
              <a:spcAft>
                <a:spcPts val="300"/>
              </a:spcAft>
            </a:pPr>
            <a:r>
              <a:rPr sz="900" b="0" i="0">
                <a:solidFill>
                  <a:srgbClr val="17175A"/>
                </a:solidFill>
                <a:latin typeface="Inter"/>
              </a:rPr>
              <a:t>copie + SHA-256</a:t>
            </a:r>
          </a:p>
        </p:txBody>
      </p:sp>
      <p:cxnSp>
        <p:nvCxnSpPr>
          <p:cNvPr id="9" name="Connector 8"/>
          <p:cNvCxnSpPr/>
          <p:nvPr/>
        </p:nvCxnSpPr>
        <p:spPr>
          <a:xfrm>
            <a:off x="2377440" y="2167128"/>
            <a:ext cx="0" cy="192024"/>
          </a:xfrm>
          <a:prstGeom prst="line">
            <a:avLst/>
          </a:prstGeom>
          <a:ln w="19050">
            <a:solidFill>
              <a:srgbClr val="17175A"/>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68680" y="2377439"/>
            <a:ext cx="3017520" cy="640080"/>
          </a:xfrm>
          <a:prstGeom prst="roundRect">
            <a:avLst>
              <a:gd name="adj" fmla="val 12000"/>
            </a:avLst>
          </a:prstGeom>
          <a:solidFill>
            <a:srgbClr val="FA9D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987552" y="2505456"/>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87552" y="2505456"/>
            <a:ext cx="384048" cy="384048"/>
          </a:xfrm>
          <a:prstGeom prst="rect">
            <a:avLst/>
          </a:prstGeom>
          <a:noFill/>
        </p:spPr>
        <p:txBody>
          <a:bodyPr wrap="square" lIns="0" tIns="0" rIns="0" bIns="0" anchor="ctr">
            <a:spAutoFit/>
          </a:bodyPr>
          <a:lstStyle/>
          <a:p>
            <a:pPr algn="ctr">
              <a:spcAft>
                <a:spcPts val="300"/>
              </a:spcAft>
            </a:pPr>
            <a:r>
              <a:rPr sz="1300" b="1" i="0">
                <a:solidFill>
                  <a:srgbClr val="17175A"/>
                </a:solidFill>
                <a:latin typeface="Inter"/>
              </a:rPr>
              <a:t>2</a:t>
            </a:r>
          </a:p>
        </p:txBody>
      </p:sp>
      <p:sp>
        <p:nvSpPr>
          <p:cNvPr id="13" name="TextBox 12"/>
          <p:cNvSpPr txBox="1"/>
          <p:nvPr/>
        </p:nvSpPr>
        <p:spPr>
          <a:xfrm>
            <a:off x="1508760" y="2377439"/>
            <a:ext cx="2286000" cy="640080"/>
          </a:xfrm>
          <a:prstGeom prst="rect">
            <a:avLst/>
          </a:prstGeom>
          <a:noFill/>
        </p:spPr>
        <p:txBody>
          <a:bodyPr wrap="square" lIns="0" tIns="0" rIns="0" bIns="0" anchor="ctr">
            <a:spAutoFit/>
          </a:bodyPr>
          <a:lstStyle/>
          <a:p>
            <a:pPr>
              <a:spcAft>
                <a:spcPts val="100"/>
              </a:spcAft>
            </a:pPr>
            <a:r>
              <a:rPr sz="1100" b="1" i="0">
                <a:solidFill>
                  <a:srgbClr val="17175A"/>
                </a:solidFill>
                <a:latin typeface="Inter"/>
              </a:rPr>
              <a:t>transformer_source</a:t>
            </a:r>
          </a:p>
          <a:p>
            <a:pPr>
              <a:spcAft>
                <a:spcPts val="300"/>
              </a:spcAft>
            </a:pPr>
            <a:r>
              <a:rPr sz="900" b="0" i="0">
                <a:solidFill>
                  <a:srgbClr val="17175A"/>
                </a:solidFill>
                <a:latin typeface="Inter"/>
              </a:rPr>
              <a:t>validation + déduplication</a:t>
            </a:r>
          </a:p>
        </p:txBody>
      </p:sp>
      <p:cxnSp>
        <p:nvCxnSpPr>
          <p:cNvPr id="14" name="Connector 13"/>
          <p:cNvCxnSpPr/>
          <p:nvPr/>
        </p:nvCxnSpPr>
        <p:spPr>
          <a:xfrm>
            <a:off x="2377440" y="3035807"/>
            <a:ext cx="0" cy="192025"/>
          </a:xfrm>
          <a:prstGeom prst="line">
            <a:avLst/>
          </a:prstGeom>
          <a:ln w="19050">
            <a:solidFill>
              <a:srgbClr val="17175A"/>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68680" y="3246120"/>
            <a:ext cx="3017520" cy="640080"/>
          </a:xfrm>
          <a:prstGeom prst="roundRect">
            <a:avLst>
              <a:gd name="adj" fmla="val 12000"/>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987552" y="3374136"/>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87552" y="3374136"/>
            <a:ext cx="384048" cy="384048"/>
          </a:xfrm>
          <a:prstGeom prst="rect">
            <a:avLst/>
          </a:prstGeom>
          <a:noFill/>
        </p:spPr>
        <p:txBody>
          <a:bodyPr wrap="square" lIns="0" tIns="0" rIns="0" bIns="0" anchor="ctr">
            <a:spAutoFit/>
          </a:bodyPr>
          <a:lstStyle/>
          <a:p>
            <a:pPr algn="ctr">
              <a:spcAft>
                <a:spcPts val="300"/>
              </a:spcAft>
            </a:pPr>
            <a:r>
              <a:rPr sz="1300" b="1" i="0">
                <a:solidFill>
                  <a:srgbClr val="17175A"/>
                </a:solidFill>
                <a:latin typeface="Inter"/>
              </a:rPr>
              <a:t>3</a:t>
            </a:r>
          </a:p>
        </p:txBody>
      </p:sp>
      <p:sp>
        <p:nvSpPr>
          <p:cNvPr id="18" name="TextBox 17"/>
          <p:cNvSpPr txBox="1"/>
          <p:nvPr/>
        </p:nvSpPr>
        <p:spPr>
          <a:xfrm>
            <a:off x="1508760" y="3246120"/>
            <a:ext cx="2286000" cy="640080"/>
          </a:xfrm>
          <a:prstGeom prst="rect">
            <a:avLst/>
          </a:prstGeom>
          <a:noFill/>
        </p:spPr>
        <p:txBody>
          <a:bodyPr wrap="square" lIns="0" tIns="0" rIns="0" bIns="0" anchor="ctr">
            <a:spAutoFit/>
          </a:bodyPr>
          <a:lstStyle/>
          <a:p>
            <a:pPr>
              <a:spcAft>
                <a:spcPts val="100"/>
              </a:spcAft>
            </a:pPr>
            <a:r>
              <a:rPr sz="1100" b="1" i="0">
                <a:solidFill>
                  <a:srgbClr val="17175A"/>
                </a:solidFill>
                <a:latin typeface="Inter"/>
              </a:rPr>
              <a:t>charger_destination</a:t>
            </a:r>
          </a:p>
          <a:p>
            <a:pPr>
              <a:spcAft>
                <a:spcPts val="300"/>
              </a:spcAft>
            </a:pPr>
            <a:r>
              <a:rPr sz="900" b="0" i="0">
                <a:solidFill>
                  <a:srgbClr val="17175A"/>
                </a:solidFill>
                <a:latin typeface="Inter"/>
              </a:rPr>
              <a:t>écriture idempotente</a:t>
            </a:r>
          </a:p>
        </p:txBody>
      </p:sp>
      <p:sp>
        <p:nvSpPr>
          <p:cNvPr id="19" name="Rounded Rectangle 18"/>
          <p:cNvSpPr/>
          <p:nvPr/>
        </p:nvSpPr>
        <p:spPr>
          <a:xfrm>
            <a:off x="868680" y="4160520"/>
            <a:ext cx="3017520" cy="45720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78407" y="4160520"/>
            <a:ext cx="2798063" cy="457200"/>
          </a:xfrm>
          <a:prstGeom prst="rect">
            <a:avLst/>
          </a:prstGeom>
          <a:noFill/>
        </p:spPr>
        <p:txBody>
          <a:bodyPr wrap="square" lIns="0" tIns="0" rIns="0" bIns="0" anchor="ctr">
            <a:spAutoFit/>
          </a:bodyPr>
          <a:lstStyle/>
          <a:p>
            <a:pPr>
              <a:spcAft>
                <a:spcPts val="100"/>
              </a:spcAft>
            </a:pPr>
            <a:r>
              <a:rPr sz="900" b="0" i="0">
                <a:solidFill>
                  <a:srgbClr val="FFFFFF"/>
                </a:solidFill>
                <a:latin typeface="Courier New"/>
              </a:rPr>
              <a:t>dagster dev -m etl.definitions -p 3001</a:t>
            </a:r>
          </a:p>
        </p:txBody>
      </p:sp>
      <p:sp>
        <p:nvSpPr>
          <p:cNvPr id="21" name="Rounded Rectangle 20"/>
          <p:cNvSpPr/>
          <p:nvPr/>
        </p:nvSpPr>
        <p:spPr>
          <a:xfrm>
            <a:off x="4160520" y="1188720"/>
            <a:ext cx="4343400" cy="7315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4279392" y="1316736"/>
            <a:ext cx="475488" cy="475488"/>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FaListOl.png"/>
          <p:cNvPicPr>
            <a:picLocks noChangeAspect="1"/>
          </p:cNvPicPr>
          <p:nvPr/>
        </p:nvPicPr>
        <p:blipFill>
          <a:blip r:embed="rId3"/>
          <a:stretch>
            <a:fillRect/>
          </a:stretch>
        </p:blipFill>
        <p:spPr>
          <a:xfrm>
            <a:off x="4393509" y="1430853"/>
            <a:ext cx="247253" cy="247253"/>
          </a:xfrm>
          <a:prstGeom prst="rect">
            <a:avLst/>
          </a:prstGeom>
        </p:spPr>
      </p:pic>
      <p:sp>
        <p:nvSpPr>
          <p:cNvPr id="24" name="TextBox 23"/>
          <p:cNvSpPr txBox="1"/>
          <p:nvPr/>
        </p:nvSpPr>
        <p:spPr>
          <a:xfrm>
            <a:off x="4892040" y="1243584"/>
            <a:ext cx="3520440" cy="22860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Ordre garanti</a:t>
            </a:r>
          </a:p>
        </p:txBody>
      </p:sp>
      <p:sp>
        <p:nvSpPr>
          <p:cNvPr id="25" name="TextBox 24"/>
          <p:cNvSpPr txBox="1"/>
          <p:nvPr/>
        </p:nvSpPr>
        <p:spPr>
          <a:xfrm>
            <a:off x="4892040" y="1490472"/>
            <a:ext cx="3520440" cy="4114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extraire_source, puis transformer_source, puis charger_destination, dans un seul job.</a:t>
            </a:r>
          </a:p>
        </p:txBody>
      </p:sp>
      <p:sp>
        <p:nvSpPr>
          <p:cNvPr id="26" name="Rounded Rectangle 25"/>
          <p:cNvSpPr/>
          <p:nvPr/>
        </p:nvSpPr>
        <p:spPr>
          <a:xfrm>
            <a:off x="4160520" y="2039112"/>
            <a:ext cx="4343400" cy="7315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4279392" y="2167128"/>
            <a:ext cx="475488" cy="475488"/>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FaDesktop.png"/>
          <p:cNvPicPr>
            <a:picLocks noChangeAspect="1"/>
          </p:cNvPicPr>
          <p:nvPr/>
        </p:nvPicPr>
        <p:blipFill>
          <a:blip r:embed="rId4"/>
          <a:stretch>
            <a:fillRect/>
          </a:stretch>
        </p:blipFill>
        <p:spPr>
          <a:xfrm>
            <a:off x="4393509" y="2281245"/>
            <a:ext cx="247253" cy="247253"/>
          </a:xfrm>
          <a:prstGeom prst="rect">
            <a:avLst/>
          </a:prstGeom>
        </p:spPr>
      </p:pic>
      <p:sp>
        <p:nvSpPr>
          <p:cNvPr id="29" name="TextBox 28"/>
          <p:cNvSpPr txBox="1"/>
          <p:nvPr/>
        </p:nvSpPr>
        <p:spPr>
          <a:xfrm>
            <a:off x="4892040" y="2093976"/>
            <a:ext cx="3520440" cy="22860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Interface web locale</a:t>
            </a:r>
          </a:p>
        </p:txBody>
      </p:sp>
      <p:sp>
        <p:nvSpPr>
          <p:cNvPr id="30" name="TextBox 29"/>
          <p:cNvSpPr txBox="1"/>
          <p:nvPr/>
        </p:nvSpPr>
        <p:spPr>
          <a:xfrm>
            <a:off x="4892040" y="2340864"/>
            <a:ext cx="3520440" cy="4114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http://localhost:3001 : lancement (Launchpad), statut de chaque étape, événements, bilans.</a:t>
            </a:r>
          </a:p>
        </p:txBody>
      </p:sp>
      <p:sp>
        <p:nvSpPr>
          <p:cNvPr id="31" name="Rounded Rectangle 30"/>
          <p:cNvSpPr/>
          <p:nvPr/>
        </p:nvSpPr>
        <p:spPr>
          <a:xfrm>
            <a:off x="4160520" y="2889504"/>
            <a:ext cx="4343400" cy="7315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4279392" y="3017520"/>
            <a:ext cx="475488" cy="475488"/>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FaRedo.png"/>
          <p:cNvPicPr>
            <a:picLocks noChangeAspect="1"/>
          </p:cNvPicPr>
          <p:nvPr/>
        </p:nvPicPr>
        <p:blipFill>
          <a:blip r:embed="rId5"/>
          <a:stretch>
            <a:fillRect/>
          </a:stretch>
        </p:blipFill>
        <p:spPr>
          <a:xfrm>
            <a:off x="4393509" y="3131637"/>
            <a:ext cx="247253" cy="247253"/>
          </a:xfrm>
          <a:prstGeom prst="rect">
            <a:avLst/>
          </a:prstGeom>
        </p:spPr>
      </p:pic>
      <p:sp>
        <p:nvSpPr>
          <p:cNvPr id="34" name="TextBox 33"/>
          <p:cNvSpPr txBox="1"/>
          <p:nvPr/>
        </p:nvSpPr>
        <p:spPr>
          <a:xfrm>
            <a:off x="4892040" y="2944368"/>
            <a:ext cx="3520440" cy="22860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Reprise ciblée</a:t>
            </a:r>
          </a:p>
        </p:txBody>
      </p:sp>
      <p:sp>
        <p:nvSpPr>
          <p:cNvPr id="35" name="TextBox 34"/>
          <p:cNvSpPr txBox="1"/>
          <p:nvPr/>
        </p:nvSpPr>
        <p:spPr>
          <a:xfrm>
            <a:off x="4892040" y="3191256"/>
            <a:ext cx="3520440" cy="4114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Sur erreur PostgreSQL temporaire, seule l'étape de chargement est rejouée : 6 reprises, 10 s d'attente.</a:t>
            </a:r>
          </a:p>
        </p:txBody>
      </p:sp>
      <p:sp>
        <p:nvSpPr>
          <p:cNvPr id="36" name="Rounded Rectangle 35"/>
          <p:cNvSpPr/>
          <p:nvPr/>
        </p:nvSpPr>
        <p:spPr>
          <a:xfrm>
            <a:off x="4160520" y="3739896"/>
            <a:ext cx="4343400" cy="7315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4279392" y="3867911"/>
            <a:ext cx="475488" cy="475488"/>
          </a:xfrm>
          <a:prstGeom prst="ellipse">
            <a:avLst/>
          </a:prstGeom>
          <a:solidFill>
            <a:srgbClr val="6E6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Picture 37" descr="FaHistory.png"/>
          <p:cNvPicPr>
            <a:picLocks noChangeAspect="1"/>
          </p:cNvPicPr>
          <p:nvPr/>
        </p:nvPicPr>
        <p:blipFill>
          <a:blip r:embed="rId6"/>
          <a:stretch>
            <a:fillRect/>
          </a:stretch>
        </p:blipFill>
        <p:spPr>
          <a:xfrm>
            <a:off x="4393509" y="3982029"/>
            <a:ext cx="247253" cy="247253"/>
          </a:xfrm>
          <a:prstGeom prst="rect">
            <a:avLst/>
          </a:prstGeom>
        </p:spPr>
      </p:pic>
      <p:sp>
        <p:nvSpPr>
          <p:cNvPr id="39" name="TextBox 38"/>
          <p:cNvSpPr txBox="1"/>
          <p:nvPr/>
        </p:nvSpPr>
        <p:spPr>
          <a:xfrm>
            <a:off x="4892040" y="3794759"/>
            <a:ext cx="3520440" cy="22860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Identifiant stable</a:t>
            </a:r>
          </a:p>
        </p:txBody>
      </p:sp>
      <p:sp>
        <p:nvSpPr>
          <p:cNvPr id="40" name="TextBox 39"/>
          <p:cNvSpPr txBox="1"/>
          <p:nvPr/>
        </p:nvSpPr>
        <p:spPr>
          <a:xfrm>
            <a:off x="4892040" y="4041648"/>
            <a:ext cx="3520440" cy="4114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L'execution_id reste identique pendant les reprises : base de la protection de l'historique.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 Architecture et fiabilité</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f. Idempotence : relancer ne change rien</a:t>
            </a:r>
          </a:p>
        </p:txBody>
      </p:sp>
      <p:sp>
        <p:nvSpPr>
          <p:cNvPr id="4" name="Rounded Rectangle 3"/>
          <p:cNvSpPr/>
          <p:nvPr/>
        </p:nvSpPr>
        <p:spPr>
          <a:xfrm>
            <a:off x="868680" y="1280160"/>
            <a:ext cx="2468880" cy="1097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05839" y="1417320"/>
            <a:ext cx="109728" cy="109728"/>
          </a:xfrm>
          <a:prstGeom prst="ellipse">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188719" y="1371600"/>
            <a:ext cx="2103120" cy="201168"/>
          </a:xfrm>
          <a:prstGeom prst="rect">
            <a:avLst/>
          </a:prstGeom>
          <a:noFill/>
        </p:spPr>
        <p:txBody>
          <a:bodyPr wrap="square" lIns="0" tIns="0" rIns="0" bIns="0" anchor="t">
            <a:spAutoFit/>
          </a:bodyPr>
          <a:lstStyle/>
          <a:p>
            <a:pPr>
              <a:spcAft>
                <a:spcPts val="300"/>
              </a:spcAft>
            </a:pPr>
            <a:r>
              <a:rPr sz="800" b="1" i="0">
                <a:solidFill>
                  <a:srgbClr val="5A5A7A"/>
                </a:solidFill>
                <a:latin typeface="Inter"/>
              </a:rPr>
              <a:t>EXÉCUTION 1</a:t>
            </a:r>
          </a:p>
        </p:txBody>
      </p:sp>
      <p:sp>
        <p:nvSpPr>
          <p:cNvPr id="7" name="TextBox 6"/>
          <p:cNvSpPr txBox="1"/>
          <p:nvPr/>
        </p:nvSpPr>
        <p:spPr>
          <a:xfrm>
            <a:off x="1005839" y="1691640"/>
            <a:ext cx="2240280" cy="365760"/>
          </a:xfrm>
          <a:prstGeom prst="rect">
            <a:avLst/>
          </a:prstGeom>
          <a:noFill/>
        </p:spPr>
        <p:txBody>
          <a:bodyPr wrap="square" lIns="0" tIns="0" rIns="0" bIns="0" anchor="t">
            <a:spAutoFit/>
          </a:bodyPr>
          <a:lstStyle/>
          <a:p>
            <a:pPr>
              <a:spcAft>
                <a:spcPts val="300"/>
              </a:spcAft>
            </a:pPr>
            <a:r>
              <a:rPr sz="1250" b="1" i="0">
                <a:solidFill>
                  <a:srgbClr val="17175A"/>
                </a:solidFill>
                <a:latin typeface="Inter"/>
              </a:rPr>
              <a:t>3 958 produits insérés</a:t>
            </a:r>
          </a:p>
        </p:txBody>
      </p:sp>
      <p:sp>
        <p:nvSpPr>
          <p:cNvPr id="8" name="TextBox 7"/>
          <p:cNvSpPr txBox="1"/>
          <p:nvPr/>
        </p:nvSpPr>
        <p:spPr>
          <a:xfrm>
            <a:off x="1005839" y="2011680"/>
            <a:ext cx="2240280" cy="274320"/>
          </a:xfrm>
          <a:prstGeom prst="rect">
            <a:avLst/>
          </a:prstGeom>
          <a:noFill/>
        </p:spPr>
        <p:txBody>
          <a:bodyPr wrap="square" lIns="0" tIns="0" rIns="0" bIns="0" anchor="t">
            <a:spAutoFit/>
          </a:bodyPr>
          <a:lstStyle/>
          <a:p>
            <a:pPr>
              <a:spcAft>
                <a:spcPts val="300"/>
              </a:spcAft>
            </a:pPr>
            <a:r>
              <a:rPr sz="1050" b="0" i="0">
                <a:solidFill>
                  <a:srgbClr val="5A5A7A"/>
                </a:solidFill>
                <a:latin typeface="Inter"/>
              </a:rPr>
              <a:t>0 modifié</a:t>
            </a:r>
          </a:p>
        </p:txBody>
      </p:sp>
      <p:sp>
        <p:nvSpPr>
          <p:cNvPr id="9" name="Rounded Rectangle 8"/>
          <p:cNvSpPr/>
          <p:nvPr/>
        </p:nvSpPr>
        <p:spPr>
          <a:xfrm>
            <a:off x="3447287" y="1280160"/>
            <a:ext cx="2468880" cy="1097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584447" y="1417320"/>
            <a:ext cx="109728" cy="109728"/>
          </a:xfrm>
          <a:prstGeom prst="ellipse">
            <a:avLst/>
          </a:prstGeom>
          <a:solidFill>
            <a:srgbClr val="6E6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767327" y="1371600"/>
            <a:ext cx="2103120" cy="201168"/>
          </a:xfrm>
          <a:prstGeom prst="rect">
            <a:avLst/>
          </a:prstGeom>
          <a:noFill/>
        </p:spPr>
        <p:txBody>
          <a:bodyPr wrap="square" lIns="0" tIns="0" rIns="0" bIns="0" anchor="t">
            <a:spAutoFit/>
          </a:bodyPr>
          <a:lstStyle/>
          <a:p>
            <a:pPr>
              <a:spcAft>
                <a:spcPts val="300"/>
              </a:spcAft>
            </a:pPr>
            <a:r>
              <a:rPr sz="800" b="1" i="0">
                <a:solidFill>
                  <a:srgbClr val="5A5A7A"/>
                </a:solidFill>
                <a:latin typeface="Inter"/>
              </a:rPr>
              <a:t>RELANCE DU MÊME FICHIER</a:t>
            </a:r>
          </a:p>
        </p:txBody>
      </p:sp>
      <p:sp>
        <p:nvSpPr>
          <p:cNvPr id="12" name="TextBox 11"/>
          <p:cNvSpPr txBox="1"/>
          <p:nvPr/>
        </p:nvSpPr>
        <p:spPr>
          <a:xfrm>
            <a:off x="3584447" y="1691640"/>
            <a:ext cx="2240280" cy="365760"/>
          </a:xfrm>
          <a:prstGeom prst="rect">
            <a:avLst/>
          </a:prstGeom>
          <a:noFill/>
        </p:spPr>
        <p:txBody>
          <a:bodyPr wrap="square" lIns="0" tIns="0" rIns="0" bIns="0" anchor="t">
            <a:spAutoFit/>
          </a:bodyPr>
          <a:lstStyle/>
          <a:p>
            <a:pPr>
              <a:spcAft>
                <a:spcPts val="300"/>
              </a:spcAft>
            </a:pPr>
            <a:r>
              <a:rPr sz="1250" b="1" i="0">
                <a:solidFill>
                  <a:srgbClr val="17175A"/>
                </a:solidFill>
                <a:latin typeface="Inter"/>
              </a:rPr>
              <a:t>0 insertion, 0 modification</a:t>
            </a:r>
          </a:p>
        </p:txBody>
      </p:sp>
      <p:sp>
        <p:nvSpPr>
          <p:cNvPr id="13" name="TextBox 12"/>
          <p:cNvSpPr txBox="1"/>
          <p:nvPr/>
        </p:nvSpPr>
        <p:spPr>
          <a:xfrm>
            <a:off x="3584447" y="2011680"/>
            <a:ext cx="2240280" cy="274320"/>
          </a:xfrm>
          <a:prstGeom prst="rect">
            <a:avLst/>
          </a:prstGeom>
          <a:noFill/>
        </p:spPr>
        <p:txBody>
          <a:bodyPr wrap="square" lIns="0" tIns="0" rIns="0" bIns="0" anchor="t">
            <a:spAutoFit/>
          </a:bodyPr>
          <a:lstStyle/>
          <a:p>
            <a:pPr>
              <a:spcAft>
                <a:spcPts val="300"/>
              </a:spcAft>
            </a:pPr>
            <a:r>
              <a:rPr sz="1050" b="0" i="0">
                <a:solidFill>
                  <a:srgbClr val="5A5A7A"/>
                </a:solidFill>
                <a:latin typeface="Inter"/>
              </a:rPr>
              <a:t>3 958 produits inchangés</a:t>
            </a:r>
          </a:p>
        </p:txBody>
      </p:sp>
      <p:sp>
        <p:nvSpPr>
          <p:cNvPr id="14" name="Rounded Rectangle 13"/>
          <p:cNvSpPr/>
          <p:nvPr/>
        </p:nvSpPr>
        <p:spPr>
          <a:xfrm>
            <a:off x="6025896" y="1280160"/>
            <a:ext cx="2468880" cy="1097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163056" y="1417320"/>
            <a:ext cx="109728" cy="109728"/>
          </a:xfrm>
          <a:prstGeom prst="ellipse">
            <a:avLst/>
          </a:prstGeom>
          <a:solidFill>
            <a:srgbClr val="FA9D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45936" y="1371600"/>
            <a:ext cx="2103120" cy="201168"/>
          </a:xfrm>
          <a:prstGeom prst="rect">
            <a:avLst/>
          </a:prstGeom>
          <a:noFill/>
        </p:spPr>
        <p:txBody>
          <a:bodyPr wrap="square" lIns="0" tIns="0" rIns="0" bIns="0" anchor="t">
            <a:spAutoFit/>
          </a:bodyPr>
          <a:lstStyle/>
          <a:p>
            <a:pPr>
              <a:spcAft>
                <a:spcPts val="300"/>
              </a:spcAft>
            </a:pPr>
            <a:r>
              <a:rPr sz="800" b="1" i="0">
                <a:solidFill>
                  <a:srgbClr val="5A5A7A"/>
                </a:solidFill>
                <a:latin typeface="Inter"/>
              </a:rPr>
              <a:t>UNE OU DIX RELANCES</a:t>
            </a:r>
          </a:p>
        </p:txBody>
      </p:sp>
      <p:sp>
        <p:nvSpPr>
          <p:cNvPr id="17" name="TextBox 16"/>
          <p:cNvSpPr txBox="1"/>
          <p:nvPr/>
        </p:nvSpPr>
        <p:spPr>
          <a:xfrm>
            <a:off x="6163056" y="1691640"/>
            <a:ext cx="2240280" cy="365760"/>
          </a:xfrm>
          <a:prstGeom prst="rect">
            <a:avLst/>
          </a:prstGeom>
          <a:noFill/>
        </p:spPr>
        <p:txBody>
          <a:bodyPr wrap="square" lIns="0" tIns="0" rIns="0" bIns="0" anchor="t">
            <a:spAutoFit/>
          </a:bodyPr>
          <a:lstStyle/>
          <a:p>
            <a:pPr>
              <a:spcAft>
                <a:spcPts val="300"/>
              </a:spcAft>
            </a:pPr>
            <a:r>
              <a:rPr sz="1250" b="1" i="0">
                <a:solidFill>
                  <a:srgbClr val="17175A"/>
                </a:solidFill>
                <a:latin typeface="Inter"/>
              </a:rPr>
              <a:t>même catalogue</a:t>
            </a:r>
          </a:p>
        </p:txBody>
      </p:sp>
      <p:sp>
        <p:nvSpPr>
          <p:cNvPr id="18" name="TextBox 17"/>
          <p:cNvSpPr txBox="1"/>
          <p:nvPr/>
        </p:nvSpPr>
        <p:spPr>
          <a:xfrm>
            <a:off x="6163056" y="2011680"/>
            <a:ext cx="2240280" cy="274320"/>
          </a:xfrm>
          <a:prstGeom prst="rect">
            <a:avLst/>
          </a:prstGeom>
          <a:noFill/>
        </p:spPr>
        <p:txBody>
          <a:bodyPr wrap="square" lIns="0" tIns="0" rIns="0" bIns="0" anchor="t">
            <a:spAutoFit/>
          </a:bodyPr>
          <a:lstStyle/>
          <a:p>
            <a:pPr>
              <a:spcAft>
                <a:spcPts val="300"/>
              </a:spcAft>
            </a:pPr>
            <a:r>
              <a:rPr sz="1050" b="0" i="0">
                <a:solidFill>
                  <a:srgbClr val="5A5A7A"/>
                </a:solidFill>
                <a:latin typeface="Inter"/>
              </a:rPr>
              <a:t>sans doublon ni perte</a:t>
            </a:r>
          </a:p>
        </p:txBody>
      </p:sp>
      <p:sp>
        <p:nvSpPr>
          <p:cNvPr id="19" name="Rounded Rectangle 18"/>
          <p:cNvSpPr/>
          <p:nvPr/>
        </p:nvSpPr>
        <p:spPr>
          <a:xfrm>
            <a:off x="868680" y="2606040"/>
            <a:ext cx="2468880" cy="2011680"/>
          </a:xfrm>
          <a:prstGeom prst="roundRect">
            <a:avLst>
              <a:gd name="adj" fmla="val 8000"/>
            </a:avLst>
          </a:prstGeom>
          <a:solidFill>
            <a:srgbClr val="FFFFFF"/>
          </a:solidFill>
          <a:ln w="19050">
            <a:solidFill>
              <a:srgbClr val="FCBD0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005839" y="2724912"/>
            <a:ext cx="457200" cy="457200"/>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FaSyncAlt.png"/>
          <p:cNvPicPr>
            <a:picLocks noChangeAspect="1"/>
          </p:cNvPicPr>
          <p:nvPr/>
        </p:nvPicPr>
        <p:blipFill>
          <a:blip r:embed="rId3"/>
          <a:stretch>
            <a:fillRect/>
          </a:stretch>
        </p:blipFill>
        <p:spPr>
          <a:xfrm>
            <a:off x="1115567" y="2834640"/>
            <a:ext cx="237744" cy="237744"/>
          </a:xfrm>
          <a:prstGeom prst="rect">
            <a:avLst/>
          </a:prstGeom>
        </p:spPr>
      </p:pic>
      <p:sp>
        <p:nvSpPr>
          <p:cNvPr id="22" name="TextBox 21"/>
          <p:cNvSpPr txBox="1"/>
          <p:nvPr/>
        </p:nvSpPr>
        <p:spPr>
          <a:xfrm>
            <a:off x="1005839" y="3273552"/>
            <a:ext cx="2240280" cy="45720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INSERT … ON CONFLICT DO UPDATE</a:t>
            </a:r>
          </a:p>
        </p:txBody>
      </p:sp>
      <p:sp>
        <p:nvSpPr>
          <p:cNvPr id="23" name="TextBox 22"/>
          <p:cNvSpPr txBox="1"/>
          <p:nvPr/>
        </p:nvSpPr>
        <p:spPr>
          <a:xfrm>
            <a:off x="1005839" y="3730752"/>
            <a:ext cx="2240280" cy="868680"/>
          </a:xfrm>
          <a:prstGeom prst="rect">
            <a:avLst/>
          </a:prstGeom>
          <a:noFill/>
        </p:spPr>
        <p:txBody>
          <a:bodyPr wrap="square" lIns="0" tIns="0" rIns="0" bIns="0" anchor="t">
            <a:spAutoFit/>
          </a:bodyPr>
          <a:lstStyle/>
          <a:p>
            <a:pPr>
              <a:spcAft>
                <a:spcPts val="300"/>
              </a:spcAft>
            </a:pPr>
            <a:r>
              <a:rPr sz="1000" b="0" i="0">
                <a:solidFill>
                  <a:srgbClr val="5A5A7A"/>
                </a:solidFill>
                <a:latin typeface="Inter"/>
              </a:rPr>
              <a:t>La référence est la clé primaire : le produit est créé s'il n'existe pas, mis à jour sinon.</a:t>
            </a:r>
          </a:p>
        </p:txBody>
      </p:sp>
      <p:sp>
        <p:nvSpPr>
          <p:cNvPr id="24" name="Rounded Rectangle 23"/>
          <p:cNvSpPr/>
          <p:nvPr/>
        </p:nvSpPr>
        <p:spPr>
          <a:xfrm>
            <a:off x="3447287" y="2606040"/>
            <a:ext cx="2468880" cy="2011680"/>
          </a:xfrm>
          <a:prstGeom prst="roundRect">
            <a:avLst>
              <a:gd name="adj" fmla="val 8000"/>
            </a:avLst>
          </a:prstGeom>
          <a:solidFill>
            <a:srgbClr val="FFFFFF"/>
          </a:solidFill>
          <a:ln w="19050">
            <a:solidFill>
              <a:srgbClr val="FC81F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3584447" y="2724912"/>
            <a:ext cx="457200" cy="457200"/>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FaBalanceScale.png"/>
          <p:cNvPicPr>
            <a:picLocks noChangeAspect="1"/>
          </p:cNvPicPr>
          <p:nvPr/>
        </p:nvPicPr>
        <p:blipFill>
          <a:blip r:embed="rId4"/>
          <a:stretch>
            <a:fillRect/>
          </a:stretch>
        </p:blipFill>
        <p:spPr>
          <a:xfrm>
            <a:off x="3694175" y="2834640"/>
            <a:ext cx="237744" cy="237744"/>
          </a:xfrm>
          <a:prstGeom prst="rect">
            <a:avLst/>
          </a:prstGeom>
        </p:spPr>
      </p:pic>
      <p:sp>
        <p:nvSpPr>
          <p:cNvPr id="27" name="TextBox 26"/>
          <p:cNvSpPr txBox="1"/>
          <p:nvPr/>
        </p:nvSpPr>
        <p:spPr>
          <a:xfrm>
            <a:off x="3584447" y="3273552"/>
            <a:ext cx="2240280" cy="45720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Mise à jour conditionnelle</a:t>
            </a:r>
          </a:p>
        </p:txBody>
      </p:sp>
      <p:sp>
        <p:nvSpPr>
          <p:cNvPr id="28" name="TextBox 27"/>
          <p:cNvSpPr txBox="1"/>
          <p:nvPr/>
        </p:nvSpPr>
        <p:spPr>
          <a:xfrm>
            <a:off x="3584447" y="3730752"/>
            <a:ext cx="2240280" cy="868680"/>
          </a:xfrm>
          <a:prstGeom prst="rect">
            <a:avLst/>
          </a:prstGeom>
          <a:noFill/>
        </p:spPr>
        <p:txBody>
          <a:bodyPr wrap="square" lIns="0" tIns="0" rIns="0" bIns="0" anchor="t">
            <a:spAutoFit/>
          </a:bodyPr>
          <a:lstStyle/>
          <a:p>
            <a:pPr>
              <a:spcAft>
                <a:spcPts val="300"/>
              </a:spcAft>
            </a:pPr>
            <a:r>
              <a:rPr sz="1000" b="0" i="0">
                <a:solidFill>
                  <a:srgbClr val="5A5A7A"/>
                </a:solidFill>
                <a:latin typeface="Inter"/>
              </a:rPr>
              <a:t>Écriture seulement si description, prix ou date d'observation diffèrent : les dates de modification restent intactes.</a:t>
            </a:r>
          </a:p>
        </p:txBody>
      </p:sp>
      <p:sp>
        <p:nvSpPr>
          <p:cNvPr id="29" name="Rounded Rectangle 28"/>
          <p:cNvSpPr/>
          <p:nvPr/>
        </p:nvSpPr>
        <p:spPr>
          <a:xfrm>
            <a:off x="6025896" y="2606040"/>
            <a:ext cx="2468880" cy="2011680"/>
          </a:xfrm>
          <a:prstGeom prst="roundRect">
            <a:avLst>
              <a:gd name="adj" fmla="val 8000"/>
            </a:avLst>
          </a:prstGeom>
          <a:solidFill>
            <a:srgbClr val="FFFFFF"/>
          </a:solidFill>
          <a:ln w="19050">
            <a:solidFill>
              <a:srgbClr val="7CE1C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6163056" y="2724912"/>
            <a:ext cx="457200" cy="457200"/>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Picture 30" descr="FaFingerprint.png"/>
          <p:cNvPicPr>
            <a:picLocks noChangeAspect="1"/>
          </p:cNvPicPr>
          <p:nvPr/>
        </p:nvPicPr>
        <p:blipFill>
          <a:blip r:embed="rId5"/>
          <a:stretch>
            <a:fillRect/>
          </a:stretch>
        </p:blipFill>
        <p:spPr>
          <a:xfrm>
            <a:off x="6272784" y="2834640"/>
            <a:ext cx="237744" cy="237744"/>
          </a:xfrm>
          <a:prstGeom prst="rect">
            <a:avLst/>
          </a:prstGeom>
        </p:spPr>
      </p:pic>
      <p:sp>
        <p:nvSpPr>
          <p:cNvPr id="32" name="TextBox 31"/>
          <p:cNvSpPr txBox="1"/>
          <p:nvPr/>
        </p:nvSpPr>
        <p:spPr>
          <a:xfrm>
            <a:off x="6163056" y="3273552"/>
            <a:ext cx="2240280" cy="45720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execution_id + empreinte</a:t>
            </a:r>
          </a:p>
        </p:txBody>
      </p:sp>
      <p:sp>
        <p:nvSpPr>
          <p:cNvPr id="33" name="TextBox 32"/>
          <p:cNvSpPr txBox="1"/>
          <p:nvPr/>
        </p:nvSpPr>
        <p:spPr>
          <a:xfrm>
            <a:off x="6163056" y="3730752"/>
            <a:ext cx="2240280" cy="868680"/>
          </a:xfrm>
          <a:prstGeom prst="rect">
            <a:avLst/>
          </a:prstGeom>
          <a:noFill/>
        </p:spPr>
        <p:txBody>
          <a:bodyPr wrap="square" lIns="0" tIns="0" rIns="0" bIns="0" anchor="t">
            <a:spAutoFit/>
          </a:bodyPr>
          <a:lstStyle/>
          <a:p>
            <a:pPr>
              <a:spcAft>
                <a:spcPts val="300"/>
              </a:spcAft>
            </a:pPr>
            <a:r>
              <a:rPr sz="1000" b="0" i="0">
                <a:solidFill>
                  <a:srgbClr val="5A5A7A"/>
                </a:solidFill>
                <a:latin typeface="Inter"/>
              </a:rPr>
              <a:t>Un chargement déjà validé est retrouvé grâce à l'identifiant d'exécution et à l'empreinte SHA-256 de la source.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 Architecture et fiabilité</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g. Atomicité et reprise automatique</a:t>
            </a:r>
          </a:p>
        </p:txBody>
      </p:sp>
      <p:sp>
        <p:nvSpPr>
          <p:cNvPr id="4" name="Rounded Rectangle 3"/>
          <p:cNvSpPr/>
          <p:nvPr/>
        </p:nvSpPr>
        <p:spPr>
          <a:xfrm>
            <a:off x="868680" y="1280160"/>
            <a:ext cx="3566160" cy="333756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05840" y="1389888"/>
            <a:ext cx="457200" cy="457200"/>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aLock.png"/>
          <p:cNvPicPr>
            <a:picLocks noChangeAspect="1"/>
          </p:cNvPicPr>
          <p:nvPr/>
        </p:nvPicPr>
        <p:blipFill>
          <a:blip r:embed="rId3"/>
          <a:stretch>
            <a:fillRect/>
          </a:stretch>
        </p:blipFill>
        <p:spPr>
          <a:xfrm>
            <a:off x="1115568" y="1499616"/>
            <a:ext cx="237744" cy="237744"/>
          </a:xfrm>
          <a:prstGeom prst="rect">
            <a:avLst/>
          </a:prstGeom>
        </p:spPr>
      </p:pic>
      <p:sp>
        <p:nvSpPr>
          <p:cNvPr id="7" name="TextBox 6"/>
          <p:cNvSpPr txBox="1"/>
          <p:nvPr/>
        </p:nvSpPr>
        <p:spPr>
          <a:xfrm>
            <a:off x="1600200" y="1389888"/>
            <a:ext cx="2651760" cy="457200"/>
          </a:xfrm>
          <a:prstGeom prst="rect">
            <a:avLst/>
          </a:prstGeom>
          <a:noFill/>
        </p:spPr>
        <p:txBody>
          <a:bodyPr wrap="square" lIns="0" tIns="0" rIns="0" bIns="0" anchor="ctr">
            <a:spAutoFit/>
          </a:bodyPr>
          <a:lstStyle/>
          <a:p>
            <a:pPr>
              <a:spcAft>
                <a:spcPts val="300"/>
              </a:spcAft>
            </a:pPr>
            <a:r>
              <a:rPr sz="1400" b="1" i="0">
                <a:solidFill>
                  <a:srgbClr val="17175A"/>
                </a:solidFill>
                <a:latin typeface="Inter"/>
              </a:rPr>
              <a:t>Atomicité</a:t>
            </a:r>
          </a:p>
        </p:txBody>
      </p:sp>
      <p:sp>
        <p:nvSpPr>
          <p:cNvPr id="8" name="TextBox 7"/>
          <p:cNvSpPr txBox="1"/>
          <p:nvPr/>
        </p:nvSpPr>
        <p:spPr>
          <a:xfrm>
            <a:off x="1005840" y="2011680"/>
            <a:ext cx="3291840" cy="2560320"/>
          </a:xfrm>
          <a:prstGeom prst="rect">
            <a:avLst/>
          </a:prstGeom>
          <a:noFill/>
        </p:spPr>
        <p:txBody>
          <a:bodyPr wrap="square" lIns="0" tIns="0" rIns="0" bIns="0" anchor="t">
            <a:spAutoFit/>
          </a:bodyPr>
          <a:lstStyle/>
          <a:p>
            <a:pPr marL="171450" indent="-171450">
              <a:lnSpc>
                <a:spcPct val="110000"/>
              </a:lnSpc>
              <a:spcAft>
                <a:spcPts val="700"/>
              </a:spcAft>
              <a:buClr>
                <a:srgbClr val="FA9D02"/>
              </a:buClr>
              <a:buSzPct val="80000"/>
              <a:buFont typeface="Arial"/>
              <a:buChar char="●"/>
            </a:pPr>
            <a:r>
              <a:rPr sz="1050" b="0" i="0">
                <a:solidFill>
                  <a:srgbClr val="17175A"/>
                </a:solidFill>
                <a:latin typeface="Inter"/>
              </a:rPr>
              <a:t>Produits, bilan et rejets : une seule transaction PostgreSQL</a:t>
            </a:r>
          </a:p>
          <a:p>
            <a:pPr marL="171450" indent="-171450">
              <a:lnSpc>
                <a:spcPct val="110000"/>
              </a:lnSpc>
              <a:spcAft>
                <a:spcPts val="700"/>
              </a:spcAft>
              <a:buClr>
                <a:srgbClr val="FA9D02"/>
              </a:buClr>
              <a:buSzPct val="80000"/>
              <a:buFont typeface="Arial"/>
              <a:buChar char="●"/>
            </a:pPr>
            <a:r>
              <a:rPr sz="1050" b="0" i="0">
                <a:solidFill>
                  <a:srgbClr val="17175A"/>
                </a:solidFill>
                <a:latin typeface="Inter"/>
              </a:rPr>
              <a:t>Une erreur avant validation annule toutes ces écritures</a:t>
            </a:r>
          </a:p>
          <a:p>
            <a:pPr marL="171450" indent="-171450">
              <a:lnSpc>
                <a:spcPct val="110000"/>
              </a:lnSpc>
              <a:spcAft>
                <a:spcPts val="700"/>
              </a:spcAft>
              <a:buClr>
                <a:srgbClr val="FA9D02"/>
              </a:buClr>
              <a:buSzPct val="80000"/>
              <a:buFont typeface="Arial"/>
              <a:buChar char="●"/>
            </a:pPr>
            <a:r>
              <a:rPr sz="1050" b="0" i="0">
                <a:solidFill>
                  <a:srgbClr val="17175A"/>
                </a:solidFill>
                <a:latin typeface="Inter"/>
              </a:rPr>
              <a:t>Verrou SHARE ROW EXCLUSIVE : écritures sérialisées sur produits, consultations non bloquées</a:t>
            </a:r>
          </a:p>
          <a:p>
            <a:pPr marL="171450" indent="-171450">
              <a:lnSpc>
                <a:spcPct val="110000"/>
              </a:lnSpc>
              <a:spcAft>
                <a:spcPts val="700"/>
              </a:spcAft>
              <a:buClr>
                <a:srgbClr val="FA9D02"/>
              </a:buClr>
              <a:buSzPct val="80000"/>
              <a:buFont typeface="Arial"/>
              <a:buChar char="●"/>
            </a:pPr>
            <a:r>
              <a:rPr sz="1050" b="0" i="0">
                <a:solidFill>
                  <a:srgbClr val="17175A"/>
                </a:solidFill>
                <a:latin typeface="Inter"/>
              </a:rPr>
              <a:t>Règle « rejouer ? » isolée dans etl/erreurs.py, testée sans vraie coupure</a:t>
            </a:r>
          </a:p>
        </p:txBody>
      </p:sp>
      <p:sp>
        <p:nvSpPr>
          <p:cNvPr id="9" name="Rounded Rectangle 8"/>
          <p:cNvSpPr/>
          <p:nvPr/>
        </p:nvSpPr>
        <p:spPr>
          <a:xfrm>
            <a:off x="4617720" y="1280160"/>
            <a:ext cx="3886200" cy="1691640"/>
          </a:xfrm>
          <a:prstGeom prst="roundRect">
            <a:avLst>
              <a:gd name="adj" fmla="val 8000"/>
            </a:avLst>
          </a:prstGeom>
          <a:solidFill>
            <a:srgbClr val="DD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FaCheckCircle.png"/>
          <p:cNvPicPr>
            <a:picLocks noChangeAspect="1"/>
          </p:cNvPicPr>
          <p:nvPr/>
        </p:nvPicPr>
        <p:blipFill>
          <a:blip r:embed="rId4"/>
          <a:stretch>
            <a:fillRect/>
          </a:stretch>
        </p:blipFill>
        <p:spPr>
          <a:xfrm>
            <a:off x="4754880" y="1389888"/>
            <a:ext cx="310896" cy="310896"/>
          </a:xfrm>
          <a:prstGeom prst="rect">
            <a:avLst/>
          </a:prstGeom>
        </p:spPr>
      </p:pic>
      <p:sp>
        <p:nvSpPr>
          <p:cNvPr id="11" name="TextBox 10"/>
          <p:cNvSpPr txBox="1"/>
          <p:nvPr/>
        </p:nvSpPr>
        <p:spPr>
          <a:xfrm>
            <a:off x="5166360" y="1389888"/>
            <a:ext cx="3200400" cy="310896"/>
          </a:xfrm>
          <a:prstGeom prst="rect">
            <a:avLst/>
          </a:prstGeom>
          <a:noFill/>
        </p:spPr>
        <p:txBody>
          <a:bodyPr wrap="square" lIns="0" tIns="0" rIns="0" bIns="0" anchor="ctr">
            <a:spAutoFit/>
          </a:bodyPr>
          <a:lstStyle/>
          <a:p>
            <a:pPr>
              <a:spcAft>
                <a:spcPts val="300"/>
              </a:spcAft>
            </a:pPr>
            <a:r>
              <a:rPr sz="1200" b="1" i="0">
                <a:solidFill>
                  <a:srgbClr val="17175A"/>
                </a:solidFill>
                <a:latin typeface="Inter"/>
              </a:rPr>
              <a:t>Erreurs transitoires : on rejoue</a:t>
            </a:r>
          </a:p>
        </p:txBody>
      </p:sp>
      <p:sp>
        <p:nvSpPr>
          <p:cNvPr id="12" name="TextBox 11"/>
          <p:cNvSpPr txBox="1"/>
          <p:nvPr/>
        </p:nvSpPr>
        <p:spPr>
          <a:xfrm>
            <a:off x="4754880" y="1810512"/>
            <a:ext cx="3657600" cy="1143000"/>
          </a:xfrm>
          <a:prstGeom prst="rect">
            <a:avLst/>
          </a:prstGeom>
          <a:noFill/>
        </p:spPr>
        <p:txBody>
          <a:bodyPr wrap="square" lIns="0" tIns="0" rIns="0" bIns="0" anchor="t">
            <a:spAutoFit/>
          </a:bodyPr>
          <a:lstStyle/>
          <a:p>
            <a:pPr marL="171450" indent="-171450">
              <a:lnSpc>
                <a:spcPct val="105000"/>
              </a:lnSpc>
              <a:spcAft>
                <a:spcPts val="300"/>
              </a:spcAft>
              <a:buClr>
                <a:srgbClr val="1FA58F"/>
              </a:buClr>
              <a:buSzPct val="80000"/>
              <a:buFont typeface="Arial"/>
              <a:buChar char="●"/>
            </a:pPr>
            <a:r>
              <a:rPr sz="1000" b="0" i="0">
                <a:solidFill>
                  <a:srgbClr val="17175A"/>
                </a:solidFill>
                <a:latin typeface="Inter"/>
              </a:rPr>
              <a:t>Connexion (classe 08)</a:t>
            </a:r>
          </a:p>
          <a:p>
            <a:pPr marL="171450" indent="-171450">
              <a:lnSpc>
                <a:spcPct val="105000"/>
              </a:lnSpc>
              <a:spcAft>
                <a:spcPts val="300"/>
              </a:spcAft>
              <a:buClr>
                <a:srgbClr val="1FA58F"/>
              </a:buClr>
              <a:buSzPct val="80000"/>
              <a:buFont typeface="Arial"/>
              <a:buChar char="●"/>
            </a:pPr>
            <a:r>
              <a:rPr sz="1000" b="0" i="0">
                <a:solidFill>
                  <a:srgbClr val="17175A"/>
                </a:solidFill>
                <a:latin typeface="Inter"/>
              </a:rPr>
              <a:t>Base en arrêt ou démarrage (57P01, 57P02, 57P03, 53300)</a:t>
            </a:r>
          </a:p>
          <a:p>
            <a:pPr marL="171450" indent="-171450">
              <a:lnSpc>
                <a:spcPct val="105000"/>
              </a:lnSpc>
              <a:spcAft>
                <a:spcPts val="300"/>
              </a:spcAft>
              <a:buClr>
                <a:srgbClr val="1FA58F"/>
              </a:buClr>
              <a:buSzPct val="80000"/>
              <a:buFont typeface="Arial"/>
              <a:buChar char="●"/>
            </a:pPr>
            <a:r>
              <a:rPr sz="1000" b="0" i="0">
                <a:solidFill>
                  <a:srgbClr val="17175A"/>
                </a:solidFill>
                <a:latin typeface="Inter"/>
              </a:rPr>
              <a:t>Conflit concurrent (40001, 40P01)</a:t>
            </a:r>
          </a:p>
          <a:p>
            <a:pPr marL="171450" indent="-171450">
              <a:lnSpc>
                <a:spcPct val="105000"/>
              </a:lnSpc>
              <a:spcAft>
                <a:spcPts val="300"/>
              </a:spcAft>
              <a:buClr>
                <a:srgbClr val="1FA58F"/>
              </a:buClr>
              <a:buSzPct val="80000"/>
              <a:buFont typeface="Arial"/>
              <a:buChar char="●"/>
            </a:pPr>
            <a:r>
              <a:rPr sz="1000" b="0" i="0">
                <a:solidFill>
                  <a:srgbClr val="17175A"/>
                </a:solidFill>
                <a:latin typeface="Inter"/>
              </a:rPr>
              <a:t>Erreur sans code SQLSTATE</a:t>
            </a:r>
          </a:p>
        </p:txBody>
      </p:sp>
      <p:sp>
        <p:nvSpPr>
          <p:cNvPr id="13" name="Rounded Rectangle 12"/>
          <p:cNvSpPr/>
          <p:nvPr/>
        </p:nvSpPr>
        <p:spPr>
          <a:xfrm>
            <a:off x="4617720" y="3108960"/>
            <a:ext cx="3886200" cy="1508760"/>
          </a:xfrm>
          <a:prstGeom prst="roundRect">
            <a:avLst>
              <a:gd name="adj" fmla="val 8000"/>
            </a:avLst>
          </a:prstGeom>
          <a:solidFill>
            <a:srgbClr val="FB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FaTimesCircle.png"/>
          <p:cNvPicPr>
            <a:picLocks noChangeAspect="1"/>
          </p:cNvPicPr>
          <p:nvPr/>
        </p:nvPicPr>
        <p:blipFill>
          <a:blip r:embed="rId5"/>
          <a:stretch>
            <a:fillRect/>
          </a:stretch>
        </p:blipFill>
        <p:spPr>
          <a:xfrm>
            <a:off x="4754880" y="3218688"/>
            <a:ext cx="310896" cy="310896"/>
          </a:xfrm>
          <a:prstGeom prst="rect">
            <a:avLst/>
          </a:prstGeom>
        </p:spPr>
      </p:pic>
      <p:sp>
        <p:nvSpPr>
          <p:cNvPr id="15" name="TextBox 14"/>
          <p:cNvSpPr txBox="1"/>
          <p:nvPr/>
        </p:nvSpPr>
        <p:spPr>
          <a:xfrm>
            <a:off x="5166360" y="3218688"/>
            <a:ext cx="3200400" cy="310896"/>
          </a:xfrm>
          <a:prstGeom prst="rect">
            <a:avLst/>
          </a:prstGeom>
          <a:noFill/>
        </p:spPr>
        <p:txBody>
          <a:bodyPr wrap="square" lIns="0" tIns="0" rIns="0" bIns="0" anchor="ctr">
            <a:spAutoFit/>
          </a:bodyPr>
          <a:lstStyle/>
          <a:p>
            <a:pPr>
              <a:spcAft>
                <a:spcPts val="300"/>
              </a:spcAft>
            </a:pPr>
            <a:r>
              <a:rPr sz="1200" b="1" i="0">
                <a:solidFill>
                  <a:srgbClr val="17175A"/>
                </a:solidFill>
                <a:latin typeface="Inter"/>
              </a:rPr>
              <a:t>Erreurs permanentes : jamais rejouées</a:t>
            </a:r>
          </a:p>
        </p:txBody>
      </p:sp>
      <p:sp>
        <p:nvSpPr>
          <p:cNvPr id="16" name="TextBox 15"/>
          <p:cNvSpPr txBox="1"/>
          <p:nvPr/>
        </p:nvSpPr>
        <p:spPr>
          <a:xfrm>
            <a:off x="4754880" y="3657600"/>
            <a:ext cx="3657600" cy="914400"/>
          </a:xfrm>
          <a:prstGeom prst="rect">
            <a:avLst/>
          </a:prstGeom>
          <a:noFill/>
        </p:spPr>
        <p:txBody>
          <a:bodyPr wrap="square" lIns="0" tIns="0" rIns="0" bIns="0" anchor="t">
            <a:spAutoFit/>
          </a:bodyPr>
          <a:lstStyle/>
          <a:p>
            <a:pPr>
              <a:spcAft>
                <a:spcPts val="300"/>
              </a:spcAft>
            </a:pPr>
            <a:r>
              <a:rPr sz="1050" b="0" i="0">
                <a:solidFill>
                  <a:srgbClr val="17175A"/>
                </a:solidFill>
                <a:latin typeface="Inter"/>
              </a:rPr>
              <a:t>Contrainte violée (23505), syntaxe SQL (42601). Rejouer la même écriture échouerait exactement pareil.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 Architecture et fiabilité</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h. Protection de l'historique des exécutions</a:t>
            </a:r>
          </a:p>
        </p:txBody>
      </p:sp>
      <p:sp>
        <p:nvSpPr>
          <p:cNvPr id="4" name="Rounded Rectangle 3"/>
          <p:cNvSpPr/>
          <p:nvPr/>
        </p:nvSpPr>
        <p:spPr>
          <a:xfrm>
            <a:off x="868680" y="1280160"/>
            <a:ext cx="1783080" cy="18288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05839" y="1389888"/>
            <a:ext cx="365760" cy="365760"/>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005839" y="1389888"/>
            <a:ext cx="365760" cy="365760"/>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1</a:t>
            </a:r>
          </a:p>
        </p:txBody>
      </p:sp>
      <p:sp>
        <p:nvSpPr>
          <p:cNvPr id="7" name="TextBox 6"/>
          <p:cNvSpPr txBox="1"/>
          <p:nvPr/>
        </p:nvSpPr>
        <p:spPr>
          <a:xfrm>
            <a:off x="1005839" y="1874519"/>
            <a:ext cx="1554480" cy="27432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Chargement validé</a:t>
            </a:r>
          </a:p>
        </p:txBody>
      </p:sp>
      <p:sp>
        <p:nvSpPr>
          <p:cNvPr id="8" name="TextBox 7"/>
          <p:cNvSpPr txBox="1"/>
          <p:nvPr/>
        </p:nvSpPr>
        <p:spPr>
          <a:xfrm>
            <a:off x="1005839" y="2176272"/>
            <a:ext cx="1554480" cy="9144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La transaction est confirmée en base.</a:t>
            </a:r>
          </a:p>
        </p:txBody>
      </p:sp>
      <p:cxnSp>
        <p:nvCxnSpPr>
          <p:cNvPr id="9" name="Connector 8"/>
          <p:cNvCxnSpPr/>
          <p:nvPr/>
        </p:nvCxnSpPr>
        <p:spPr>
          <a:xfrm>
            <a:off x="2660904" y="2194560"/>
            <a:ext cx="118872" cy="0"/>
          </a:xfrm>
          <a:prstGeom prst="line">
            <a:avLst/>
          </a:prstGeom>
          <a:ln w="19050">
            <a:solidFill>
              <a:srgbClr val="17175A"/>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788920" y="1280160"/>
            <a:ext cx="1783080" cy="18288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2926079" y="1389888"/>
            <a:ext cx="365760" cy="365760"/>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926079" y="1389888"/>
            <a:ext cx="365760" cy="365760"/>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2</a:t>
            </a:r>
          </a:p>
        </p:txBody>
      </p:sp>
      <p:sp>
        <p:nvSpPr>
          <p:cNvPr id="13" name="TextBox 12"/>
          <p:cNvSpPr txBox="1"/>
          <p:nvPr/>
        </p:nvSpPr>
        <p:spPr>
          <a:xfrm>
            <a:off x="2926079" y="1874519"/>
            <a:ext cx="1554480" cy="27432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Confirmation perdue</a:t>
            </a:r>
          </a:p>
        </p:txBody>
      </p:sp>
      <p:sp>
        <p:nvSpPr>
          <p:cNvPr id="14" name="TextBox 13"/>
          <p:cNvSpPr txBox="1"/>
          <p:nvPr/>
        </p:nvSpPr>
        <p:spPr>
          <a:xfrm>
            <a:off x="2926079" y="2176272"/>
            <a:ext cx="1554480" cy="9144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Coupure réseau avant que Dagster ne reçoive la réponse.</a:t>
            </a:r>
          </a:p>
        </p:txBody>
      </p:sp>
      <p:cxnSp>
        <p:nvCxnSpPr>
          <p:cNvPr id="15" name="Connector 14"/>
          <p:cNvCxnSpPr/>
          <p:nvPr/>
        </p:nvCxnSpPr>
        <p:spPr>
          <a:xfrm>
            <a:off x="4581144" y="2194560"/>
            <a:ext cx="118872" cy="0"/>
          </a:xfrm>
          <a:prstGeom prst="line">
            <a:avLst/>
          </a:prstGeom>
          <a:ln w="19050">
            <a:solidFill>
              <a:srgbClr val="17175A"/>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709160" y="1280160"/>
            <a:ext cx="1783080" cy="18288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4846320" y="1389888"/>
            <a:ext cx="365760" cy="365760"/>
          </a:xfrm>
          <a:prstGeom prst="ellipse">
            <a:avLst/>
          </a:prstGeom>
          <a:solidFill>
            <a:srgbClr val="6E6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846320" y="1389888"/>
            <a:ext cx="365760" cy="365760"/>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3</a:t>
            </a:r>
          </a:p>
        </p:txBody>
      </p:sp>
      <p:sp>
        <p:nvSpPr>
          <p:cNvPr id="19" name="TextBox 18"/>
          <p:cNvSpPr txBox="1"/>
          <p:nvPr/>
        </p:nvSpPr>
        <p:spPr>
          <a:xfrm>
            <a:off x="4846320" y="1874519"/>
            <a:ext cx="1554480" cy="27432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Reprise</a:t>
            </a:r>
          </a:p>
        </p:txBody>
      </p:sp>
      <p:sp>
        <p:nvSpPr>
          <p:cNvPr id="20" name="TextBox 19"/>
          <p:cNvSpPr txBox="1"/>
          <p:nvPr/>
        </p:nvSpPr>
        <p:spPr>
          <a:xfrm>
            <a:off x="4846320" y="2176272"/>
            <a:ext cx="1554480" cy="9144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Dagster rejoue l'étape avec le même execution_id.</a:t>
            </a:r>
          </a:p>
        </p:txBody>
      </p:sp>
      <p:cxnSp>
        <p:nvCxnSpPr>
          <p:cNvPr id="21" name="Connector 20"/>
          <p:cNvCxnSpPr/>
          <p:nvPr/>
        </p:nvCxnSpPr>
        <p:spPr>
          <a:xfrm>
            <a:off x="6501384" y="2194560"/>
            <a:ext cx="118872" cy="0"/>
          </a:xfrm>
          <a:prstGeom prst="line">
            <a:avLst/>
          </a:prstGeom>
          <a:ln w="19050">
            <a:solidFill>
              <a:srgbClr val="17175A"/>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629400" y="1280160"/>
            <a:ext cx="1783080" cy="18288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6766560" y="1389888"/>
            <a:ext cx="365760" cy="365760"/>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66560" y="1389888"/>
            <a:ext cx="365760" cy="365760"/>
          </a:xfrm>
          <a:prstGeom prst="rect">
            <a:avLst/>
          </a:prstGeom>
          <a:noFill/>
        </p:spPr>
        <p:txBody>
          <a:bodyPr wrap="square" lIns="0" tIns="0" rIns="0" bIns="0" anchor="ctr">
            <a:spAutoFit/>
          </a:bodyPr>
          <a:lstStyle/>
          <a:p>
            <a:pPr algn="ctr">
              <a:spcAft>
                <a:spcPts val="300"/>
              </a:spcAft>
            </a:pPr>
            <a:r>
              <a:rPr sz="1200" b="1" i="0">
                <a:solidFill>
                  <a:srgbClr val="17175A"/>
                </a:solidFill>
                <a:latin typeface="Inter"/>
              </a:rPr>
              <a:t>4</a:t>
            </a:r>
          </a:p>
        </p:txBody>
      </p:sp>
      <p:sp>
        <p:nvSpPr>
          <p:cNvPr id="25" name="TextBox 24"/>
          <p:cNvSpPr txBox="1"/>
          <p:nvPr/>
        </p:nvSpPr>
        <p:spPr>
          <a:xfrm>
            <a:off x="6766560" y="1874519"/>
            <a:ext cx="1554480" cy="27432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Bilan retrouvé</a:t>
            </a:r>
          </a:p>
        </p:txBody>
      </p:sp>
      <p:sp>
        <p:nvSpPr>
          <p:cNvPr id="26" name="TextBox 25"/>
          <p:cNvSpPr txBox="1"/>
          <p:nvPr/>
        </p:nvSpPr>
        <p:spPr>
          <a:xfrm>
            <a:off x="6766560" y="2176272"/>
            <a:ext cx="1554480" cy="9144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Un bilan existe pour cet identifiant et la même empreinte source : il est renvoyé, sans refaire les écritures.</a:t>
            </a:r>
          </a:p>
        </p:txBody>
      </p:sp>
      <p:sp>
        <p:nvSpPr>
          <p:cNvPr id="27" name="Rounded Rectangle 26"/>
          <p:cNvSpPr/>
          <p:nvPr/>
        </p:nvSpPr>
        <p:spPr>
          <a:xfrm>
            <a:off x="868680" y="3337560"/>
            <a:ext cx="3749039" cy="1280160"/>
          </a:xfrm>
          <a:prstGeom prst="roundRect">
            <a:avLst>
              <a:gd name="adj" fmla="val 8000"/>
            </a:avLst>
          </a:prstGeom>
          <a:solidFill>
            <a:srgbClr val="FFFFFF"/>
          </a:solidFill>
          <a:ln w="19050">
            <a:solidFill>
              <a:srgbClr val="FCBD0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05840" y="3429000"/>
            <a:ext cx="3474720" cy="27432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Pourquoi l'empreinte SHA-256 ?</a:t>
            </a:r>
          </a:p>
        </p:txBody>
      </p:sp>
      <p:sp>
        <p:nvSpPr>
          <p:cNvPr id="29" name="TextBox 28"/>
          <p:cNvSpPr txBox="1"/>
          <p:nvPr/>
        </p:nvSpPr>
        <p:spPr>
          <a:xfrm>
            <a:off x="1005840" y="3749039"/>
            <a:ext cx="3474720" cy="822960"/>
          </a:xfrm>
          <a:prstGeom prst="rect">
            <a:avLst/>
          </a:prstGeom>
          <a:noFill/>
        </p:spPr>
        <p:txBody>
          <a:bodyPr wrap="square" lIns="0" tIns="0" rIns="0" bIns="0" anchor="t">
            <a:spAutoFit/>
          </a:bodyPr>
          <a:lstStyle/>
          <a:p>
            <a:pPr>
              <a:spcAft>
                <a:spcPts val="300"/>
              </a:spcAft>
            </a:pPr>
            <a:r>
              <a:rPr sz="1000" b="0" i="0">
                <a:solidFill>
                  <a:srgbClr val="5A5A7A"/>
                </a:solidFill>
                <a:latin typeface="Inter"/>
              </a:rPr>
              <a:t>Elle identifie la source réellement traitée : un bilan n'est réutilisé que si l'identifiant d'exécution et l'empreinte source correspondent.</a:t>
            </a:r>
          </a:p>
        </p:txBody>
      </p:sp>
      <p:sp>
        <p:nvSpPr>
          <p:cNvPr id="30" name="Rounded Rectangle 29"/>
          <p:cNvSpPr/>
          <p:nvPr/>
        </p:nvSpPr>
        <p:spPr>
          <a:xfrm>
            <a:off x="4754880" y="3337560"/>
            <a:ext cx="3749039" cy="1280160"/>
          </a:xfrm>
          <a:prstGeom prst="roundRect">
            <a:avLst>
              <a:gd name="adj" fmla="val 8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4892040" y="3429000"/>
            <a:ext cx="3474720" cy="274320"/>
          </a:xfrm>
          <a:prstGeom prst="rect">
            <a:avLst/>
          </a:prstGeom>
          <a:noFill/>
        </p:spPr>
        <p:txBody>
          <a:bodyPr wrap="square" lIns="0" tIns="0" rIns="0" bIns="0" anchor="t">
            <a:spAutoFit/>
          </a:bodyPr>
          <a:lstStyle/>
          <a:p>
            <a:pPr>
              <a:spcAft>
                <a:spcPts val="300"/>
              </a:spcAft>
            </a:pPr>
            <a:r>
              <a:rPr sz="1150" b="1" i="0">
                <a:solidFill>
                  <a:srgbClr val="FCBD0E"/>
                </a:solidFill>
                <a:latin typeface="Inter"/>
              </a:rPr>
              <a:t>Résultat</a:t>
            </a:r>
          </a:p>
        </p:txBody>
      </p:sp>
      <p:sp>
        <p:nvSpPr>
          <p:cNvPr id="32" name="TextBox 31"/>
          <p:cNvSpPr txBox="1"/>
          <p:nvPr/>
        </p:nvSpPr>
        <p:spPr>
          <a:xfrm>
            <a:off x="4892040" y="3749039"/>
            <a:ext cx="3474720" cy="822960"/>
          </a:xfrm>
          <a:prstGeom prst="rect">
            <a:avLst/>
          </a:prstGeom>
          <a:noFill/>
        </p:spPr>
        <p:txBody>
          <a:bodyPr wrap="square" lIns="0" tIns="0" rIns="0" bIns="0" anchor="t">
            <a:spAutoFit/>
          </a:bodyPr>
          <a:lstStyle/>
          <a:p>
            <a:pPr>
              <a:spcAft>
                <a:spcPts val="300"/>
              </a:spcAft>
            </a:pPr>
            <a:r>
              <a:rPr sz="1000" b="0" i="0">
                <a:solidFill>
                  <a:srgbClr val="FFFFFF"/>
                </a:solidFill>
                <a:latin typeface="Inter"/>
              </a:rPr>
              <a:t>Transaction validée mais réponse perdue : le cas est couvert automatiquement, sans intervention manuelle.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 Architecture et fiabilité</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i. Le jeu de données et les motifs de rejet</a:t>
            </a:r>
          </a:p>
        </p:txBody>
      </p:sp>
      <p:sp>
        <p:nvSpPr>
          <p:cNvPr id="4" name="TextBox 3"/>
          <p:cNvSpPr txBox="1"/>
          <p:nvPr/>
        </p:nvSpPr>
        <p:spPr>
          <a:xfrm>
            <a:off x="868680" y="1143000"/>
            <a:ext cx="4572000" cy="22860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Lignes rejetées par motif (1 556 au total)</a:t>
            </a:r>
          </a:p>
        </p:txBody>
      </p:sp>
      <p:graphicFrame>
        <p:nvGraphicFramePr>
          <p:cNvPr id="5" name="Chart 4"/>
          <p:cNvGraphicFramePr>
            <a:graphicFrameLocks noGrp="1"/>
          </p:cNvGraphicFramePr>
          <p:nvPr/>
        </p:nvGraphicFramePr>
        <p:xfrm>
          <a:off x="777240" y="1371600"/>
          <a:ext cx="457200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5532120" y="1280160"/>
            <a:ext cx="2971800" cy="9601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669280" y="1280160"/>
            <a:ext cx="1005840" cy="960120"/>
          </a:xfrm>
          <a:prstGeom prst="rect">
            <a:avLst/>
          </a:prstGeom>
          <a:noFill/>
        </p:spPr>
        <p:txBody>
          <a:bodyPr wrap="square" lIns="0" tIns="0" rIns="0" bIns="0" anchor="ctr">
            <a:spAutoFit/>
          </a:bodyPr>
          <a:lstStyle/>
          <a:p>
            <a:pPr>
              <a:spcAft>
                <a:spcPts val="300"/>
              </a:spcAft>
            </a:pPr>
            <a:r>
              <a:rPr sz="1500" b="1" i="0">
                <a:solidFill>
                  <a:srgbClr val="17175A"/>
                </a:solidFill>
                <a:latin typeface="Inter"/>
              </a:rPr>
              <a:t>541 909</a:t>
            </a:r>
          </a:p>
        </p:txBody>
      </p:sp>
      <p:sp>
        <p:nvSpPr>
          <p:cNvPr id="8" name="TextBox 7"/>
          <p:cNvSpPr txBox="1"/>
          <p:nvPr/>
        </p:nvSpPr>
        <p:spPr>
          <a:xfrm>
            <a:off x="6675120" y="1280160"/>
            <a:ext cx="1737360" cy="960120"/>
          </a:xfrm>
          <a:prstGeom prst="rect">
            <a:avLst/>
          </a:prstGeom>
          <a:noFill/>
        </p:spPr>
        <p:txBody>
          <a:bodyPr wrap="square" lIns="0" tIns="0" rIns="0" bIns="0" anchor="ctr">
            <a:spAutoFit/>
          </a:bodyPr>
          <a:lstStyle/>
          <a:p>
            <a:pPr>
              <a:spcAft>
                <a:spcPts val="300"/>
              </a:spcAft>
            </a:pPr>
            <a:r>
              <a:rPr sz="850" b="0" i="0">
                <a:solidFill>
                  <a:srgbClr val="17175A"/>
                </a:solidFill>
                <a:latin typeface="Inter"/>
              </a:rPr>
              <a:t>lignes d'origine : un export réel de ventes</a:t>
            </a:r>
          </a:p>
        </p:txBody>
      </p:sp>
      <p:sp>
        <p:nvSpPr>
          <p:cNvPr id="9" name="Rounded Rectangle 8"/>
          <p:cNvSpPr/>
          <p:nvPr/>
        </p:nvSpPr>
        <p:spPr>
          <a:xfrm>
            <a:off x="5532120" y="2377439"/>
            <a:ext cx="2971800" cy="9601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669280" y="2377439"/>
            <a:ext cx="1005840" cy="960120"/>
          </a:xfrm>
          <a:prstGeom prst="rect">
            <a:avLst/>
          </a:prstGeom>
          <a:noFill/>
        </p:spPr>
        <p:txBody>
          <a:bodyPr wrap="square" lIns="0" tIns="0" rIns="0" bIns="0" anchor="ctr">
            <a:spAutoFit/>
          </a:bodyPr>
          <a:lstStyle/>
          <a:p>
            <a:pPr>
              <a:spcAft>
                <a:spcPts val="300"/>
              </a:spcAft>
            </a:pPr>
            <a:r>
              <a:rPr sz="1500" b="1" i="0">
                <a:solidFill>
                  <a:srgbClr val="17175A"/>
                </a:solidFill>
                <a:latin typeface="Inter"/>
              </a:rPr>
              <a:t>+ 100</a:t>
            </a:r>
          </a:p>
        </p:txBody>
      </p:sp>
      <p:sp>
        <p:nvSpPr>
          <p:cNvPr id="11" name="TextBox 10"/>
          <p:cNvSpPr txBox="1"/>
          <p:nvPr/>
        </p:nvSpPr>
        <p:spPr>
          <a:xfrm>
            <a:off x="6675120" y="2377439"/>
            <a:ext cx="1737360" cy="960120"/>
          </a:xfrm>
          <a:prstGeom prst="rect">
            <a:avLst/>
          </a:prstGeom>
          <a:noFill/>
        </p:spPr>
        <p:txBody>
          <a:bodyPr wrap="square" lIns="0" tIns="0" rIns="0" bIns="0" anchor="ctr">
            <a:spAutoFit/>
          </a:bodyPr>
          <a:lstStyle/>
          <a:p>
            <a:pPr>
              <a:spcAft>
                <a:spcPts val="300"/>
              </a:spcAft>
            </a:pPr>
            <a:r>
              <a:rPr sz="850" b="0" i="0">
                <a:solidFill>
                  <a:srgbClr val="17175A"/>
                </a:solidFill>
                <a:latin typeface="Inter"/>
              </a:rPr>
              <a:t>lignes ajoutées : 25 par motif manquant, copiées d'une ligne réelle puis modifiées sur un seul champ</a:t>
            </a:r>
          </a:p>
        </p:txBody>
      </p:sp>
      <p:sp>
        <p:nvSpPr>
          <p:cNvPr id="12" name="Rounded Rectangle 11"/>
          <p:cNvSpPr/>
          <p:nvPr/>
        </p:nvSpPr>
        <p:spPr>
          <a:xfrm>
            <a:off x="5532120" y="3520440"/>
            <a:ext cx="2971800" cy="1097280"/>
          </a:xfrm>
          <a:prstGeom prst="roundRect">
            <a:avLst>
              <a:gd name="adj" fmla="val 8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669280" y="3520440"/>
            <a:ext cx="2697480" cy="1097280"/>
          </a:xfrm>
          <a:prstGeom prst="rect">
            <a:avLst/>
          </a:prstGeom>
          <a:noFill/>
        </p:spPr>
        <p:txBody>
          <a:bodyPr wrap="square" lIns="0" tIns="0" rIns="0" bIns="0" anchor="ctr">
            <a:spAutoFit/>
          </a:bodyPr>
          <a:lstStyle/>
          <a:p>
            <a:pPr>
              <a:spcAft>
                <a:spcPts val="300"/>
              </a:spcAft>
            </a:pPr>
            <a:r>
              <a:rPr sz="1050" b="0" i="0">
                <a:solidFill>
                  <a:srgbClr val="FFFFFF"/>
                </a:solidFill>
                <a:latin typeface="Inter"/>
              </a:rPr>
              <a:t>Les six motifs sont prouvés sur le fichier réellement traité, pas seulement dans les tests.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Installation et exécution</a:t>
            </a:r>
          </a:p>
        </p:txBody>
      </p:sp>
      <p:sp>
        <p:nvSpPr>
          <p:cNvPr id="3" name="Title 2"/>
          <p:cNvSpPr>
            <a:spLocks noGrp="1"/>
          </p:cNvSpPr>
          <p:nvPr>
            <p:ph type="title" idx="2"/>
          </p:nvPr>
        </p:nvSpPr>
        <p:spPr/>
        <p:txBody>
          <a:bodyPr/>
          <a:lstStyle/>
          <a:p>
            <a:r>
              <a:t>03.</a:t>
            </a:r>
          </a:p>
        </p:txBody>
      </p:sp>
      <p:sp>
        <p:nvSpPr>
          <p:cNvPr id="4" name="Subtitle 3"/>
          <p:cNvSpPr>
            <a:spLocks noGrp="1"/>
          </p:cNvSpPr>
          <p:nvPr>
            <p:ph type="subTitle" idx="1"/>
          </p:nvPr>
        </p:nvSpPr>
        <p:spPr/>
        <p:txBody>
          <a:bodyPr/>
          <a:lstStyle/>
          <a:p>
            <a:r>
              <a:rPr sz="1300"/>
              <a:t>Docker Compose, environnements, lancement et résultat du job</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III. Installation et exécution</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a. Installation reproductible en quatre étapes</a:t>
            </a:r>
          </a:p>
        </p:txBody>
      </p:sp>
      <p:sp>
        <p:nvSpPr>
          <p:cNvPr id="4" name="TextBox 3"/>
          <p:cNvSpPr txBox="1"/>
          <p:nvPr/>
        </p:nvSpPr>
        <p:spPr>
          <a:xfrm>
            <a:off x="868680" y="1143000"/>
            <a:ext cx="1097280" cy="274320"/>
          </a:xfrm>
          <a:prstGeom prst="rect">
            <a:avLst/>
          </a:prstGeom>
          <a:noFill/>
        </p:spPr>
        <p:txBody>
          <a:bodyPr wrap="square" lIns="0" tIns="0" rIns="0" bIns="0" anchor="ctr">
            <a:spAutoFit/>
          </a:bodyPr>
          <a:lstStyle/>
          <a:p>
            <a:pPr>
              <a:spcAft>
                <a:spcPts val="300"/>
              </a:spcAft>
            </a:pPr>
            <a:r>
              <a:rPr sz="1050" b="1" i="0">
                <a:solidFill>
                  <a:srgbClr val="7A7BE0"/>
                </a:solidFill>
                <a:latin typeface="Inter"/>
              </a:rPr>
              <a:t>Prérequis</a:t>
            </a:r>
          </a:p>
        </p:txBody>
      </p:sp>
      <p:sp>
        <p:nvSpPr>
          <p:cNvPr id="5" name="Rounded Rectangle 4"/>
          <p:cNvSpPr/>
          <p:nvPr/>
        </p:nvSpPr>
        <p:spPr>
          <a:xfrm>
            <a:off x="1828800" y="1143000"/>
            <a:ext cx="1463040" cy="274320"/>
          </a:xfrm>
          <a:prstGeom prst="roundRect">
            <a:avLst>
              <a:gd name="adj" fmla="val 5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828800" y="1143000"/>
            <a:ext cx="1463040" cy="274320"/>
          </a:xfrm>
          <a:prstGeom prst="rect">
            <a:avLst/>
          </a:prstGeom>
          <a:noFill/>
        </p:spPr>
        <p:txBody>
          <a:bodyPr wrap="square" lIns="0" tIns="0" rIns="0" bIns="0" anchor="ctr">
            <a:spAutoFit/>
          </a:bodyPr>
          <a:lstStyle/>
          <a:p>
            <a:pPr algn="ctr">
              <a:spcAft>
                <a:spcPts val="300"/>
              </a:spcAft>
            </a:pPr>
            <a:r>
              <a:rPr sz="950" b="1" i="0">
                <a:solidFill>
                  <a:srgbClr val="FFFFFF"/>
                </a:solidFill>
                <a:latin typeface="Inter"/>
              </a:rPr>
              <a:t>Docker + Compose v2</a:t>
            </a:r>
          </a:p>
        </p:txBody>
      </p:sp>
      <p:sp>
        <p:nvSpPr>
          <p:cNvPr id="7" name="Rounded Rectangle 6"/>
          <p:cNvSpPr/>
          <p:nvPr/>
        </p:nvSpPr>
        <p:spPr>
          <a:xfrm>
            <a:off x="3429000" y="1143000"/>
            <a:ext cx="1463040" cy="274320"/>
          </a:xfrm>
          <a:prstGeom prst="roundRect">
            <a:avLst>
              <a:gd name="adj" fmla="val 5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429000" y="1143000"/>
            <a:ext cx="1463040" cy="274320"/>
          </a:xfrm>
          <a:prstGeom prst="rect">
            <a:avLst/>
          </a:prstGeom>
          <a:noFill/>
        </p:spPr>
        <p:txBody>
          <a:bodyPr wrap="square" lIns="0" tIns="0" rIns="0" bIns="0" anchor="ctr">
            <a:spAutoFit/>
          </a:bodyPr>
          <a:lstStyle/>
          <a:p>
            <a:pPr algn="ctr">
              <a:spcAft>
                <a:spcPts val="300"/>
              </a:spcAft>
            </a:pPr>
            <a:r>
              <a:rPr sz="950" b="1" i="0">
                <a:solidFill>
                  <a:srgbClr val="FFFFFF"/>
                </a:solidFill>
                <a:latin typeface="Inter"/>
              </a:rPr>
              <a:t>Python 3.10+</a:t>
            </a:r>
          </a:p>
        </p:txBody>
      </p:sp>
      <p:sp>
        <p:nvSpPr>
          <p:cNvPr id="9" name="Rounded Rectangle 8"/>
          <p:cNvSpPr/>
          <p:nvPr/>
        </p:nvSpPr>
        <p:spPr>
          <a:xfrm>
            <a:off x="5029200" y="1143000"/>
            <a:ext cx="1463040" cy="274320"/>
          </a:xfrm>
          <a:prstGeom prst="roundRect">
            <a:avLst>
              <a:gd name="adj" fmla="val 5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029200" y="1143000"/>
            <a:ext cx="1463040" cy="274320"/>
          </a:xfrm>
          <a:prstGeom prst="rect">
            <a:avLst/>
          </a:prstGeom>
          <a:noFill/>
        </p:spPr>
        <p:txBody>
          <a:bodyPr wrap="square" lIns="0" tIns="0" rIns="0" bIns="0" anchor="ctr">
            <a:spAutoFit/>
          </a:bodyPr>
          <a:lstStyle/>
          <a:p>
            <a:pPr algn="ctr">
              <a:spcAft>
                <a:spcPts val="300"/>
              </a:spcAft>
            </a:pPr>
            <a:r>
              <a:rPr sz="950" b="1" i="0">
                <a:solidFill>
                  <a:srgbClr val="FFFFFF"/>
                </a:solidFill>
                <a:latin typeface="Inter"/>
              </a:rPr>
              <a:t>Node.js 18+</a:t>
            </a:r>
          </a:p>
        </p:txBody>
      </p:sp>
      <p:sp>
        <p:nvSpPr>
          <p:cNvPr id="11" name="Rounded Rectangle 10"/>
          <p:cNvSpPr/>
          <p:nvPr/>
        </p:nvSpPr>
        <p:spPr>
          <a:xfrm>
            <a:off x="868680" y="1600200"/>
            <a:ext cx="1783080" cy="2240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78407" y="1709928"/>
            <a:ext cx="329184" cy="329184"/>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78407" y="1709928"/>
            <a:ext cx="329184" cy="329184"/>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1</a:t>
            </a:r>
          </a:p>
        </p:txBody>
      </p:sp>
      <p:sp>
        <p:nvSpPr>
          <p:cNvPr id="14" name="TextBox 13"/>
          <p:cNvSpPr txBox="1"/>
          <p:nvPr/>
        </p:nvSpPr>
        <p:spPr>
          <a:xfrm>
            <a:off x="1371600" y="1709928"/>
            <a:ext cx="1234440" cy="329184"/>
          </a:xfrm>
          <a:prstGeom prst="rect">
            <a:avLst/>
          </a:prstGeom>
          <a:noFill/>
        </p:spPr>
        <p:txBody>
          <a:bodyPr wrap="square" lIns="0" tIns="0" rIns="0" bIns="0" anchor="ctr">
            <a:spAutoFit/>
          </a:bodyPr>
          <a:lstStyle/>
          <a:p>
            <a:pPr>
              <a:spcAft>
                <a:spcPts val="300"/>
              </a:spcAft>
            </a:pPr>
            <a:r>
              <a:rPr sz="1050" b="1" i="0">
                <a:solidFill>
                  <a:srgbClr val="17175A"/>
                </a:solidFill>
                <a:latin typeface="Inter"/>
              </a:rPr>
              <a:t>Configurer</a:t>
            </a:r>
          </a:p>
        </p:txBody>
      </p:sp>
      <p:sp>
        <p:nvSpPr>
          <p:cNvPr id="15" name="Rounded Rectangle 14"/>
          <p:cNvSpPr/>
          <p:nvPr/>
        </p:nvSpPr>
        <p:spPr>
          <a:xfrm>
            <a:off x="960120" y="2176272"/>
            <a:ext cx="1600200" cy="73152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69848" y="2176272"/>
            <a:ext cx="1380744" cy="731520"/>
          </a:xfrm>
          <a:prstGeom prst="rect">
            <a:avLst/>
          </a:prstGeom>
          <a:noFill/>
        </p:spPr>
        <p:txBody>
          <a:bodyPr wrap="square" lIns="0" tIns="0" rIns="0" bIns="0" anchor="ctr">
            <a:spAutoFit/>
          </a:bodyPr>
          <a:lstStyle/>
          <a:p>
            <a:pPr>
              <a:spcAft>
                <a:spcPts val="100"/>
              </a:spcAft>
            </a:pPr>
            <a:r>
              <a:rPr sz="850" b="0" i="0">
                <a:solidFill>
                  <a:srgbClr val="FFFFFF"/>
                </a:solidFill>
                <a:latin typeface="Courier New"/>
              </a:rPr>
              <a:t>cp .env.exemple .env</a:t>
            </a:r>
          </a:p>
        </p:txBody>
      </p:sp>
      <p:sp>
        <p:nvSpPr>
          <p:cNvPr id="17" name="TextBox 16"/>
          <p:cNvSpPr txBox="1"/>
          <p:nvPr/>
        </p:nvSpPr>
        <p:spPr>
          <a:xfrm>
            <a:off x="978407" y="3017520"/>
            <a:ext cx="1600200" cy="777240"/>
          </a:xfrm>
          <a:prstGeom prst="rect">
            <a:avLst/>
          </a:prstGeom>
          <a:noFill/>
        </p:spPr>
        <p:txBody>
          <a:bodyPr wrap="square" lIns="0" tIns="0" rIns="0" bIns="0" anchor="t">
            <a:spAutoFit/>
          </a:bodyPr>
          <a:lstStyle/>
          <a:p>
            <a:pPr>
              <a:spcAft>
                <a:spcPts val="300"/>
              </a:spcAft>
            </a:pPr>
            <a:r>
              <a:rPr sz="950" b="0" i="0">
                <a:solidFill>
                  <a:srgbClr val="5A5A7A"/>
                </a:solidFill>
                <a:latin typeface="Inter"/>
              </a:rPr>
              <a:t>Renseigner PGPASSWORD : l'unique endroit de configuration.</a:t>
            </a:r>
          </a:p>
        </p:txBody>
      </p:sp>
      <p:sp>
        <p:nvSpPr>
          <p:cNvPr id="18" name="Rounded Rectangle 17"/>
          <p:cNvSpPr/>
          <p:nvPr/>
        </p:nvSpPr>
        <p:spPr>
          <a:xfrm>
            <a:off x="2788920" y="1600200"/>
            <a:ext cx="1783080" cy="2240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2898648" y="1709928"/>
            <a:ext cx="329184" cy="329184"/>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898648" y="1709928"/>
            <a:ext cx="329184" cy="329184"/>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2</a:t>
            </a:r>
          </a:p>
        </p:txBody>
      </p:sp>
      <p:sp>
        <p:nvSpPr>
          <p:cNvPr id="21" name="TextBox 20"/>
          <p:cNvSpPr txBox="1"/>
          <p:nvPr/>
        </p:nvSpPr>
        <p:spPr>
          <a:xfrm>
            <a:off x="3291839" y="1709928"/>
            <a:ext cx="1234440" cy="329184"/>
          </a:xfrm>
          <a:prstGeom prst="rect">
            <a:avLst/>
          </a:prstGeom>
          <a:noFill/>
        </p:spPr>
        <p:txBody>
          <a:bodyPr wrap="square" lIns="0" tIns="0" rIns="0" bIns="0" anchor="ctr">
            <a:spAutoFit/>
          </a:bodyPr>
          <a:lstStyle/>
          <a:p>
            <a:pPr>
              <a:spcAft>
                <a:spcPts val="300"/>
              </a:spcAft>
            </a:pPr>
            <a:r>
              <a:rPr sz="1050" b="1" i="0">
                <a:solidFill>
                  <a:srgbClr val="17175A"/>
                </a:solidFill>
                <a:latin typeface="Inter"/>
              </a:rPr>
              <a:t>PostgreSQL</a:t>
            </a:r>
          </a:p>
        </p:txBody>
      </p:sp>
      <p:sp>
        <p:nvSpPr>
          <p:cNvPr id="22" name="Rounded Rectangle 21"/>
          <p:cNvSpPr/>
          <p:nvPr/>
        </p:nvSpPr>
        <p:spPr>
          <a:xfrm>
            <a:off x="2880360" y="2176272"/>
            <a:ext cx="1600200" cy="73152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2990088" y="2176272"/>
            <a:ext cx="1380744" cy="731520"/>
          </a:xfrm>
          <a:prstGeom prst="rect">
            <a:avLst/>
          </a:prstGeom>
          <a:noFill/>
        </p:spPr>
        <p:txBody>
          <a:bodyPr wrap="square" lIns="0" tIns="0" rIns="0" bIns="0" anchor="ctr">
            <a:spAutoFit/>
          </a:bodyPr>
          <a:lstStyle/>
          <a:p>
            <a:pPr>
              <a:spcAft>
                <a:spcPts val="100"/>
              </a:spcAft>
            </a:pPr>
            <a:r>
              <a:rPr sz="850" b="0" i="0">
                <a:solidFill>
                  <a:srgbClr val="FFFFFF"/>
                </a:solidFill>
                <a:latin typeface="Courier New"/>
              </a:rPr>
              <a:t>docker compose up -d</a:t>
            </a:r>
          </a:p>
        </p:txBody>
      </p:sp>
      <p:sp>
        <p:nvSpPr>
          <p:cNvPr id="24" name="TextBox 23"/>
          <p:cNvSpPr txBox="1"/>
          <p:nvPr/>
        </p:nvSpPr>
        <p:spPr>
          <a:xfrm>
            <a:off x="2898648" y="3017520"/>
            <a:ext cx="1600200" cy="777240"/>
          </a:xfrm>
          <a:prstGeom prst="rect">
            <a:avLst/>
          </a:prstGeom>
          <a:noFill/>
        </p:spPr>
        <p:txBody>
          <a:bodyPr wrap="square" lIns="0" tIns="0" rIns="0" bIns="0" anchor="t">
            <a:spAutoFit/>
          </a:bodyPr>
          <a:lstStyle/>
          <a:p>
            <a:pPr>
              <a:spcAft>
                <a:spcPts val="300"/>
              </a:spcAft>
            </a:pPr>
            <a:r>
              <a:rPr sz="950" b="0" i="0">
                <a:solidFill>
                  <a:srgbClr val="5A5A7A"/>
                </a:solidFill>
                <a:latin typeface="Inter"/>
              </a:rPr>
              <a:t>Crée la base etl_produits et ses trois tables.</a:t>
            </a:r>
          </a:p>
        </p:txBody>
      </p:sp>
      <p:sp>
        <p:nvSpPr>
          <p:cNvPr id="25" name="Rounded Rectangle 24"/>
          <p:cNvSpPr/>
          <p:nvPr/>
        </p:nvSpPr>
        <p:spPr>
          <a:xfrm>
            <a:off x="4709160" y="1600200"/>
            <a:ext cx="1783080" cy="2240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4818888" y="1709928"/>
            <a:ext cx="329184" cy="329184"/>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818888" y="1709928"/>
            <a:ext cx="329184" cy="329184"/>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3</a:t>
            </a:r>
          </a:p>
        </p:txBody>
      </p:sp>
      <p:sp>
        <p:nvSpPr>
          <p:cNvPr id="28" name="TextBox 27"/>
          <p:cNvSpPr txBox="1"/>
          <p:nvPr/>
        </p:nvSpPr>
        <p:spPr>
          <a:xfrm>
            <a:off x="5212080" y="1709928"/>
            <a:ext cx="1234440" cy="329184"/>
          </a:xfrm>
          <a:prstGeom prst="rect">
            <a:avLst/>
          </a:prstGeom>
          <a:noFill/>
        </p:spPr>
        <p:txBody>
          <a:bodyPr wrap="square" lIns="0" tIns="0" rIns="0" bIns="0" anchor="ctr">
            <a:spAutoFit/>
          </a:bodyPr>
          <a:lstStyle/>
          <a:p>
            <a:pPr>
              <a:spcAft>
                <a:spcPts val="300"/>
              </a:spcAft>
            </a:pPr>
            <a:r>
              <a:rPr sz="1050" b="1" i="0">
                <a:solidFill>
                  <a:srgbClr val="17175A"/>
                </a:solidFill>
                <a:latin typeface="Inter"/>
              </a:rPr>
              <a:t>Pipeline Python</a:t>
            </a:r>
          </a:p>
        </p:txBody>
      </p:sp>
      <p:sp>
        <p:nvSpPr>
          <p:cNvPr id="29" name="Rounded Rectangle 28"/>
          <p:cNvSpPr/>
          <p:nvPr/>
        </p:nvSpPr>
        <p:spPr>
          <a:xfrm>
            <a:off x="4800600" y="2176272"/>
            <a:ext cx="1600200" cy="73152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910328" y="2176272"/>
            <a:ext cx="1380744" cy="731520"/>
          </a:xfrm>
          <a:prstGeom prst="rect">
            <a:avLst/>
          </a:prstGeom>
          <a:noFill/>
        </p:spPr>
        <p:txBody>
          <a:bodyPr wrap="square" lIns="0" tIns="0" rIns="0" bIns="0" anchor="ctr">
            <a:spAutoFit/>
          </a:bodyPr>
          <a:lstStyle/>
          <a:p>
            <a:pPr>
              <a:spcAft>
                <a:spcPts val="100"/>
              </a:spcAft>
            </a:pPr>
            <a:r>
              <a:rPr sz="850" b="0" i="0">
                <a:solidFill>
                  <a:srgbClr val="FFFFFF"/>
                </a:solidFill>
                <a:latin typeface="Courier New"/>
              </a:rPr>
              <a:t>python -m venv .venv</a:t>
            </a:r>
          </a:p>
          <a:p>
            <a:pPr>
              <a:spcAft>
                <a:spcPts val="100"/>
              </a:spcAft>
            </a:pPr>
            <a:r>
              <a:rPr sz="850" b="0" i="0">
                <a:solidFill>
                  <a:srgbClr val="FFFFFF"/>
                </a:solidFill>
                <a:latin typeface="Courier New"/>
              </a:rPr>
              <a:t>pip install -r</a:t>
            </a:r>
          </a:p>
          <a:p>
            <a:pPr>
              <a:spcAft>
                <a:spcPts val="100"/>
              </a:spcAft>
            </a:pPr>
            <a:r>
              <a:rPr sz="850" b="0" i="0">
                <a:solidFill>
                  <a:srgbClr val="FFFFFF"/>
                </a:solidFill>
                <a:latin typeface="Courier New"/>
              </a:rPr>
              <a:t>  requirements.txt</a:t>
            </a:r>
          </a:p>
        </p:txBody>
      </p:sp>
      <p:sp>
        <p:nvSpPr>
          <p:cNvPr id="31" name="TextBox 30"/>
          <p:cNvSpPr txBox="1"/>
          <p:nvPr/>
        </p:nvSpPr>
        <p:spPr>
          <a:xfrm>
            <a:off x="4818888" y="3017520"/>
            <a:ext cx="1600200" cy="777240"/>
          </a:xfrm>
          <a:prstGeom prst="rect">
            <a:avLst/>
          </a:prstGeom>
          <a:noFill/>
        </p:spPr>
        <p:txBody>
          <a:bodyPr wrap="square" lIns="0" tIns="0" rIns="0" bIns="0" anchor="t">
            <a:spAutoFit/>
          </a:bodyPr>
          <a:lstStyle/>
          <a:p>
            <a:pPr>
              <a:spcAft>
                <a:spcPts val="300"/>
              </a:spcAft>
            </a:pPr>
            <a:r>
              <a:rPr sz="950" b="0" i="0">
                <a:solidFill>
                  <a:srgbClr val="5A5A7A"/>
                </a:solidFill>
                <a:latin typeface="Inter"/>
              </a:rPr>
              <a:t>Environnement isolé : Dagster, psycopg.</a:t>
            </a:r>
          </a:p>
        </p:txBody>
      </p:sp>
      <p:sp>
        <p:nvSpPr>
          <p:cNvPr id="32" name="Rounded Rectangle 31"/>
          <p:cNvSpPr/>
          <p:nvPr/>
        </p:nvSpPr>
        <p:spPr>
          <a:xfrm>
            <a:off x="6629400" y="1600200"/>
            <a:ext cx="1783080" cy="2240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6739128" y="1709928"/>
            <a:ext cx="329184" cy="329184"/>
          </a:xfrm>
          <a:prstGeom prst="ellipse">
            <a:avLst/>
          </a:prstGeom>
          <a:solidFill>
            <a:srgbClr val="6E6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6739128" y="1709928"/>
            <a:ext cx="329184" cy="329184"/>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4</a:t>
            </a:r>
          </a:p>
        </p:txBody>
      </p:sp>
      <p:sp>
        <p:nvSpPr>
          <p:cNvPr id="35" name="TextBox 34"/>
          <p:cNvSpPr txBox="1"/>
          <p:nvPr/>
        </p:nvSpPr>
        <p:spPr>
          <a:xfrm>
            <a:off x="7132320" y="1709928"/>
            <a:ext cx="1234440" cy="329184"/>
          </a:xfrm>
          <a:prstGeom prst="rect">
            <a:avLst/>
          </a:prstGeom>
          <a:noFill/>
        </p:spPr>
        <p:txBody>
          <a:bodyPr wrap="square" lIns="0" tIns="0" rIns="0" bIns="0" anchor="ctr">
            <a:spAutoFit/>
          </a:bodyPr>
          <a:lstStyle/>
          <a:p>
            <a:pPr>
              <a:spcAft>
                <a:spcPts val="300"/>
              </a:spcAft>
            </a:pPr>
            <a:r>
              <a:rPr sz="1050" b="1" i="0">
                <a:solidFill>
                  <a:srgbClr val="17175A"/>
                </a:solidFill>
                <a:latin typeface="Inter"/>
              </a:rPr>
              <a:t>API Express.js</a:t>
            </a:r>
          </a:p>
        </p:txBody>
      </p:sp>
      <p:sp>
        <p:nvSpPr>
          <p:cNvPr id="36" name="Rounded Rectangle 35"/>
          <p:cNvSpPr/>
          <p:nvPr/>
        </p:nvSpPr>
        <p:spPr>
          <a:xfrm>
            <a:off x="6720840" y="2176272"/>
            <a:ext cx="1600200" cy="73152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830568" y="2176272"/>
            <a:ext cx="1380744" cy="731520"/>
          </a:xfrm>
          <a:prstGeom prst="rect">
            <a:avLst/>
          </a:prstGeom>
          <a:noFill/>
        </p:spPr>
        <p:txBody>
          <a:bodyPr wrap="square" lIns="0" tIns="0" rIns="0" bIns="0" anchor="ctr">
            <a:spAutoFit/>
          </a:bodyPr>
          <a:lstStyle/>
          <a:p>
            <a:pPr>
              <a:spcAft>
                <a:spcPts val="100"/>
              </a:spcAft>
            </a:pPr>
            <a:r>
              <a:rPr sz="850" b="0" i="0">
                <a:solidFill>
                  <a:srgbClr val="FFFFFF"/>
                </a:solidFill>
                <a:latin typeface="Courier New"/>
              </a:rPr>
              <a:t>cd api</a:t>
            </a:r>
          </a:p>
          <a:p>
            <a:pPr>
              <a:spcAft>
                <a:spcPts val="100"/>
              </a:spcAft>
            </a:pPr>
            <a:r>
              <a:rPr sz="850" b="0" i="0">
                <a:solidFill>
                  <a:srgbClr val="FFFFFF"/>
                </a:solidFill>
                <a:latin typeface="Courier New"/>
              </a:rPr>
              <a:t>npm ci</a:t>
            </a:r>
          </a:p>
        </p:txBody>
      </p:sp>
      <p:sp>
        <p:nvSpPr>
          <p:cNvPr id="38" name="TextBox 37"/>
          <p:cNvSpPr txBox="1"/>
          <p:nvPr/>
        </p:nvSpPr>
        <p:spPr>
          <a:xfrm>
            <a:off x="6739128" y="3017520"/>
            <a:ext cx="1600200" cy="777240"/>
          </a:xfrm>
          <a:prstGeom prst="rect">
            <a:avLst/>
          </a:prstGeom>
          <a:noFill/>
        </p:spPr>
        <p:txBody>
          <a:bodyPr wrap="square" lIns="0" tIns="0" rIns="0" bIns="0" anchor="t">
            <a:spAutoFit/>
          </a:bodyPr>
          <a:lstStyle/>
          <a:p>
            <a:pPr>
              <a:spcAft>
                <a:spcPts val="300"/>
              </a:spcAft>
            </a:pPr>
            <a:r>
              <a:rPr sz="950" b="0" i="0">
                <a:solidFill>
                  <a:srgbClr val="5A5A7A"/>
                </a:solidFill>
                <a:latin typeface="Inter"/>
              </a:rPr>
              <a:t>Installe les dépendances Node.js figées.</a:t>
            </a:r>
          </a:p>
        </p:txBody>
      </p:sp>
      <p:sp>
        <p:nvSpPr>
          <p:cNvPr id="39" name="Rounded Rectangle 38"/>
          <p:cNvSpPr/>
          <p:nvPr/>
        </p:nvSpPr>
        <p:spPr>
          <a:xfrm>
            <a:off x="868680" y="4023360"/>
            <a:ext cx="7635240" cy="6400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1051560" y="4023360"/>
            <a:ext cx="7315200" cy="640080"/>
          </a:xfrm>
          <a:prstGeom prst="rect">
            <a:avLst/>
          </a:prstGeom>
          <a:noFill/>
        </p:spPr>
        <p:txBody>
          <a:bodyPr wrap="square" lIns="0" tIns="0" rIns="0" bIns="0" anchor="ctr">
            <a:spAutoFit/>
          </a:bodyPr>
          <a:lstStyle/>
          <a:p>
            <a:pPr>
              <a:spcAft>
                <a:spcPts val="300"/>
              </a:spcAft>
            </a:pPr>
            <a:r>
              <a:rPr sz="950" b="1" i="0">
                <a:solidFill>
                  <a:srgbClr val="17175A"/>
                </a:solidFill>
                <a:latin typeface="Inter"/>
              </a:rPr>
              <a:t>Avant de démarrer : </a:t>
            </a:r>
            <a:r>
              <a:rPr sz="950" b="0" i="0">
                <a:solidFill>
                  <a:srgbClr val="17175A"/>
                </a:solidFill>
                <a:latin typeface="Inter"/>
              </a:rPr>
              <a:t>vérifier que le port 5432 est libre (lsof -i :5432 ou Get-NetTCPConnection -LocalPort 5432). Sinon, un autre PostgreSQL répond à la place du conteneur et l'erreur d'authentification est trompeuse.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III. Installation et exécution</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b. PostgreSQL avec Docker Compose</a:t>
            </a:r>
          </a:p>
        </p:txBody>
      </p:sp>
      <p:sp>
        <p:nvSpPr>
          <p:cNvPr id="4" name="Rounded Rectangle 3"/>
          <p:cNvSpPr/>
          <p:nvPr/>
        </p:nvSpPr>
        <p:spPr>
          <a:xfrm>
            <a:off x="868680" y="1188720"/>
            <a:ext cx="3200400" cy="36576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78407" y="1188720"/>
            <a:ext cx="2980944" cy="365760"/>
          </a:xfrm>
          <a:prstGeom prst="rect">
            <a:avLst/>
          </a:prstGeom>
          <a:noFill/>
        </p:spPr>
        <p:txBody>
          <a:bodyPr wrap="square" lIns="0" tIns="0" rIns="0" bIns="0" anchor="ctr">
            <a:spAutoFit/>
          </a:bodyPr>
          <a:lstStyle/>
          <a:p>
            <a:pPr>
              <a:spcAft>
                <a:spcPts val="100"/>
              </a:spcAft>
            </a:pPr>
            <a:r>
              <a:rPr sz="1000" b="0" i="0">
                <a:solidFill>
                  <a:srgbClr val="FFFFFF"/>
                </a:solidFill>
                <a:latin typeface="Courier New"/>
              </a:rPr>
              <a:t>docker compose up -d</a:t>
            </a:r>
          </a:p>
        </p:txBody>
      </p:sp>
      <p:sp>
        <p:nvSpPr>
          <p:cNvPr id="6" name="TextBox 5"/>
          <p:cNvSpPr txBox="1"/>
          <p:nvPr/>
        </p:nvSpPr>
        <p:spPr>
          <a:xfrm>
            <a:off x="868680" y="1783080"/>
            <a:ext cx="3200400" cy="2926080"/>
          </a:xfrm>
          <a:prstGeom prst="rect">
            <a:avLst/>
          </a:prstGeom>
          <a:noFill/>
        </p:spPr>
        <p:txBody>
          <a:bodyPr wrap="square" lIns="0" tIns="0" rIns="0" bIns="0" anchor="t">
            <a:spAutoFit/>
          </a:bodyPr>
          <a:lstStyle/>
          <a:p>
            <a:pPr marL="171450" indent="-171450">
              <a:lnSpc>
                <a:spcPct val="110000"/>
              </a:lnSpc>
              <a:spcAft>
                <a:spcPts val="700"/>
              </a:spcAft>
              <a:buClr>
                <a:srgbClr val="FA9D02"/>
              </a:buClr>
              <a:buSzPct val="80000"/>
              <a:buFont typeface="Arial"/>
              <a:buChar char="●"/>
            </a:pPr>
            <a:r>
              <a:rPr sz="1050" b="0" i="0">
                <a:solidFill>
                  <a:srgbClr val="17175A"/>
                </a:solidFill>
                <a:latin typeface="Inter"/>
              </a:rPr>
              <a:t>Au premier démarrage, PostgreSQL crée la base etl_produits</a:t>
            </a:r>
          </a:p>
          <a:p>
            <a:pPr marL="171450" indent="-171450">
              <a:lnSpc>
                <a:spcPct val="110000"/>
              </a:lnSpc>
              <a:spcAft>
                <a:spcPts val="700"/>
              </a:spcAft>
              <a:buClr>
                <a:srgbClr val="FA9D02"/>
              </a:buClr>
              <a:buSzPct val="80000"/>
              <a:buFont typeface="Arial"/>
              <a:buChar char="●"/>
            </a:pPr>
            <a:r>
              <a:rPr sz="1050" b="0" i="0">
                <a:solidFill>
                  <a:srgbClr val="17175A"/>
                </a:solidFill>
                <a:latin typeface="Inter"/>
              </a:rPr>
              <a:t>sql/01_creation_tables.sql crée la table produits (référence et description non vides, prix ≥ 0)</a:t>
            </a:r>
          </a:p>
          <a:p>
            <a:pPr marL="171450" indent="-171450">
              <a:lnSpc>
                <a:spcPct val="110000"/>
              </a:lnSpc>
              <a:spcAft>
                <a:spcPts val="700"/>
              </a:spcAft>
              <a:buClr>
                <a:srgbClr val="FA9D02"/>
              </a:buClr>
              <a:buSzPct val="80000"/>
              <a:buFont typeface="Arial"/>
              <a:buChar char="●"/>
            </a:pPr>
            <a:r>
              <a:rPr sz="1050" b="0" i="0">
                <a:solidFill>
                  <a:srgbClr val="17175A"/>
                </a:solidFill>
                <a:latin typeface="Inter"/>
              </a:rPr>
              <a:t>sql/02_creation_suivi.sql crée etl_executions et etl_rejets</a:t>
            </a:r>
          </a:p>
          <a:p>
            <a:pPr marL="171450" indent="-171450">
              <a:lnSpc>
                <a:spcPct val="110000"/>
              </a:lnSpc>
              <a:spcAft>
                <a:spcPts val="700"/>
              </a:spcAft>
              <a:buClr>
                <a:srgbClr val="FA9D02"/>
              </a:buClr>
              <a:buSzPct val="80000"/>
              <a:buFont typeface="Arial"/>
              <a:buChar char="●"/>
            </a:pPr>
            <a:r>
              <a:rPr sz="1050" b="0" i="0">
                <a:solidFill>
                  <a:srgbClr val="17175A"/>
                </a:solidFill>
                <a:latin typeface="Inter"/>
              </a:rPr>
              <a:t>Ensuite, les scripts ne sont pas rejoués : les données du volume pgdata sont conservées</a:t>
            </a:r>
          </a:p>
        </p:txBody>
      </p:sp>
      <p:pic>
        <p:nvPicPr>
          <p:cNvPr id="7" name="Picture 6" descr="fig02_compose_up.png"/>
          <p:cNvPicPr>
            <a:picLocks noChangeAspect="1"/>
          </p:cNvPicPr>
          <p:nvPr/>
        </p:nvPicPr>
        <p:blipFill>
          <a:blip r:embed="rId3"/>
          <a:stretch>
            <a:fillRect/>
          </a:stretch>
        </p:blipFill>
        <p:spPr>
          <a:xfrm>
            <a:off x="4343400" y="1188720"/>
            <a:ext cx="4160520" cy="925923"/>
          </a:xfrm>
          <a:prstGeom prst="rect">
            <a:avLst/>
          </a:prstGeom>
          <a:ln w="9525">
            <a:solidFill>
              <a:srgbClr val="D8D2A0"/>
            </a:solidFill>
          </a:ln>
        </p:spPr>
      </p:pic>
      <p:sp>
        <p:nvSpPr>
          <p:cNvPr id="8" name="TextBox 7"/>
          <p:cNvSpPr txBox="1"/>
          <p:nvPr/>
        </p:nvSpPr>
        <p:spPr>
          <a:xfrm>
            <a:off x="4343400" y="2151219"/>
            <a:ext cx="41605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docker compose up -d : réseau, volume et conteneur créés</a:t>
            </a:r>
          </a:p>
        </p:txBody>
      </p:sp>
      <p:pic>
        <p:nvPicPr>
          <p:cNvPr id="9" name="Picture 8" descr="fig03_compose_ps.png"/>
          <p:cNvPicPr>
            <a:picLocks noChangeAspect="1"/>
          </p:cNvPicPr>
          <p:nvPr/>
        </p:nvPicPr>
        <p:blipFill>
          <a:blip r:embed="rId4"/>
          <a:stretch>
            <a:fillRect/>
          </a:stretch>
        </p:blipFill>
        <p:spPr>
          <a:xfrm>
            <a:off x="4343400" y="2434682"/>
            <a:ext cx="4160520" cy="421788"/>
          </a:xfrm>
          <a:prstGeom prst="rect">
            <a:avLst/>
          </a:prstGeom>
          <a:ln w="9525">
            <a:solidFill>
              <a:srgbClr val="D8D2A0"/>
            </a:solidFill>
          </a:ln>
        </p:spPr>
      </p:pic>
      <p:sp>
        <p:nvSpPr>
          <p:cNvPr id="10" name="TextBox 9"/>
          <p:cNvSpPr txBox="1"/>
          <p:nvPr/>
        </p:nvSpPr>
        <p:spPr>
          <a:xfrm>
            <a:off x="4343400" y="2893046"/>
            <a:ext cx="41605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docker compose ps : le conteneur est à l'état healthy</a:t>
            </a:r>
          </a:p>
        </p:txBody>
      </p:sp>
      <p:pic>
        <p:nvPicPr>
          <p:cNvPr id="11" name="Picture 10" descr="fig04_pg_isready.png"/>
          <p:cNvPicPr>
            <a:picLocks noChangeAspect="1"/>
          </p:cNvPicPr>
          <p:nvPr/>
        </p:nvPicPr>
        <p:blipFill>
          <a:blip r:embed="rId5"/>
          <a:stretch>
            <a:fillRect/>
          </a:stretch>
        </p:blipFill>
        <p:spPr>
          <a:xfrm>
            <a:off x="4343400" y="3176511"/>
            <a:ext cx="4160520" cy="947657"/>
          </a:xfrm>
          <a:prstGeom prst="rect">
            <a:avLst/>
          </a:prstGeom>
          <a:ln w="9525">
            <a:solidFill>
              <a:srgbClr val="D8D2A0"/>
            </a:solidFill>
          </a:ln>
        </p:spPr>
      </p:pic>
      <p:sp>
        <p:nvSpPr>
          <p:cNvPr id="12" name="TextBox 11"/>
          <p:cNvSpPr txBox="1"/>
          <p:nvPr/>
        </p:nvSpPr>
        <p:spPr>
          <a:xfrm>
            <a:off x="4343400" y="4160743"/>
            <a:ext cx="41605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pg_isready : la base accepte les connexions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III. Installation et exécution</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c. Environnements Python et Node.js</a:t>
            </a:r>
          </a:p>
        </p:txBody>
      </p:sp>
      <p:sp>
        <p:nvSpPr>
          <p:cNvPr id="4" name="TextBox 3"/>
          <p:cNvSpPr txBox="1"/>
          <p:nvPr/>
        </p:nvSpPr>
        <p:spPr>
          <a:xfrm>
            <a:off x="868680" y="1188720"/>
            <a:ext cx="3200400" cy="228600"/>
          </a:xfrm>
          <a:prstGeom prst="rect">
            <a:avLst/>
          </a:prstGeom>
          <a:noFill/>
        </p:spPr>
        <p:txBody>
          <a:bodyPr wrap="square" lIns="0" tIns="0" rIns="0" bIns="0" anchor="t">
            <a:spAutoFit/>
          </a:bodyPr>
          <a:lstStyle/>
          <a:p>
            <a:pPr>
              <a:spcAft>
                <a:spcPts val="300"/>
              </a:spcAft>
            </a:pPr>
            <a:r>
              <a:rPr sz="1150" b="1" i="0">
                <a:solidFill>
                  <a:srgbClr val="7A7BE0"/>
                </a:solidFill>
                <a:latin typeface="Inter"/>
              </a:rPr>
              <a:t>Pipeline Python</a:t>
            </a:r>
          </a:p>
        </p:txBody>
      </p:sp>
      <p:sp>
        <p:nvSpPr>
          <p:cNvPr id="5" name="Rounded Rectangle 4"/>
          <p:cNvSpPr/>
          <p:nvPr/>
        </p:nvSpPr>
        <p:spPr>
          <a:xfrm>
            <a:off x="868680" y="1463040"/>
            <a:ext cx="3200400" cy="77724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78407" y="1463040"/>
            <a:ext cx="2980944" cy="777240"/>
          </a:xfrm>
          <a:prstGeom prst="rect">
            <a:avLst/>
          </a:prstGeom>
          <a:noFill/>
        </p:spPr>
        <p:txBody>
          <a:bodyPr wrap="square" lIns="0" tIns="0" rIns="0" bIns="0" anchor="ctr">
            <a:spAutoFit/>
          </a:bodyPr>
          <a:lstStyle/>
          <a:p>
            <a:pPr>
              <a:spcAft>
                <a:spcPts val="100"/>
              </a:spcAft>
            </a:pPr>
            <a:r>
              <a:rPr sz="850" b="0" i="0">
                <a:solidFill>
                  <a:srgbClr val="FFFFFF"/>
                </a:solidFill>
                <a:latin typeface="Courier New"/>
              </a:rPr>
              <a:t>python -m venv .venv</a:t>
            </a:r>
          </a:p>
          <a:p>
            <a:pPr>
              <a:spcAft>
                <a:spcPts val="100"/>
              </a:spcAft>
            </a:pPr>
            <a:r>
              <a:rPr sz="850" b="0" i="0">
                <a:solidFill>
                  <a:srgbClr val="FFFFFF"/>
                </a:solidFill>
                <a:latin typeface="Courier New"/>
              </a:rPr>
              <a:t>.\.venv\Scripts\Activate.ps1</a:t>
            </a:r>
          </a:p>
          <a:p>
            <a:pPr>
              <a:spcAft>
                <a:spcPts val="100"/>
              </a:spcAft>
            </a:pPr>
            <a:r>
              <a:rPr sz="850" b="0" i="0">
                <a:solidFill>
                  <a:srgbClr val="FFFFFF"/>
                </a:solidFill>
                <a:latin typeface="Courier New"/>
              </a:rPr>
              <a:t>pip install -r requirements.txt</a:t>
            </a:r>
          </a:p>
        </p:txBody>
      </p:sp>
      <p:sp>
        <p:nvSpPr>
          <p:cNvPr id="7" name="TextBox 6"/>
          <p:cNvSpPr txBox="1"/>
          <p:nvPr/>
        </p:nvSpPr>
        <p:spPr>
          <a:xfrm>
            <a:off x="868680" y="2468880"/>
            <a:ext cx="3200400" cy="228600"/>
          </a:xfrm>
          <a:prstGeom prst="rect">
            <a:avLst/>
          </a:prstGeom>
          <a:noFill/>
        </p:spPr>
        <p:txBody>
          <a:bodyPr wrap="square" lIns="0" tIns="0" rIns="0" bIns="0" anchor="t">
            <a:spAutoFit/>
          </a:bodyPr>
          <a:lstStyle/>
          <a:p>
            <a:pPr>
              <a:spcAft>
                <a:spcPts val="300"/>
              </a:spcAft>
            </a:pPr>
            <a:r>
              <a:rPr sz="1150" b="1" i="0">
                <a:solidFill>
                  <a:srgbClr val="7A7BE0"/>
                </a:solidFill>
                <a:latin typeface="Inter"/>
              </a:rPr>
              <a:t>API Express.js</a:t>
            </a:r>
          </a:p>
        </p:txBody>
      </p:sp>
      <p:sp>
        <p:nvSpPr>
          <p:cNvPr id="8" name="Rounded Rectangle 7"/>
          <p:cNvSpPr/>
          <p:nvPr/>
        </p:nvSpPr>
        <p:spPr>
          <a:xfrm>
            <a:off x="868680" y="2743200"/>
            <a:ext cx="3200400" cy="54864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78407" y="2743200"/>
            <a:ext cx="2980944" cy="548640"/>
          </a:xfrm>
          <a:prstGeom prst="rect">
            <a:avLst/>
          </a:prstGeom>
          <a:noFill/>
        </p:spPr>
        <p:txBody>
          <a:bodyPr wrap="square" lIns="0" tIns="0" rIns="0" bIns="0" anchor="ctr">
            <a:spAutoFit/>
          </a:bodyPr>
          <a:lstStyle/>
          <a:p>
            <a:pPr>
              <a:spcAft>
                <a:spcPts val="100"/>
              </a:spcAft>
            </a:pPr>
            <a:r>
              <a:rPr sz="900" b="0" i="0">
                <a:solidFill>
                  <a:srgbClr val="FFFFFF"/>
                </a:solidFill>
                <a:latin typeface="Courier New"/>
              </a:rPr>
              <a:t>cd api</a:t>
            </a:r>
          </a:p>
          <a:p>
            <a:pPr>
              <a:spcAft>
                <a:spcPts val="100"/>
              </a:spcAft>
            </a:pPr>
            <a:r>
              <a:rPr sz="900" b="0" i="0">
                <a:solidFill>
                  <a:srgbClr val="FFFFFF"/>
                </a:solidFill>
                <a:latin typeface="Courier New"/>
              </a:rPr>
              <a:t>npm ci</a:t>
            </a:r>
          </a:p>
        </p:txBody>
      </p:sp>
      <p:sp>
        <p:nvSpPr>
          <p:cNvPr id="10" name="Rounded Rectangle 9"/>
          <p:cNvSpPr/>
          <p:nvPr/>
        </p:nvSpPr>
        <p:spPr>
          <a:xfrm>
            <a:off x="868680" y="3520440"/>
            <a:ext cx="3200400" cy="1097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05840" y="3520440"/>
            <a:ext cx="2926080" cy="1097280"/>
          </a:xfrm>
          <a:prstGeom prst="rect">
            <a:avLst/>
          </a:prstGeom>
          <a:noFill/>
        </p:spPr>
        <p:txBody>
          <a:bodyPr wrap="square" lIns="0" tIns="0" rIns="0" bIns="0" anchor="ctr">
            <a:spAutoFit/>
          </a:bodyPr>
          <a:lstStyle/>
          <a:p>
            <a:pPr>
              <a:spcAft>
                <a:spcPts val="300"/>
              </a:spcAft>
            </a:pPr>
            <a:r>
              <a:rPr sz="1000" b="0" i="0">
                <a:solidFill>
                  <a:srgbClr val="17175A"/>
                </a:solidFill>
                <a:latin typeface="Inter"/>
              </a:rPr>
              <a:t>L'environnement virtuel isole les dépendances (Dagster 1.13.26, psycopg…) de la machine ; npm ci installe exactement les versions figées.</a:t>
            </a:r>
          </a:p>
        </p:txBody>
      </p:sp>
      <p:pic>
        <p:nvPicPr>
          <p:cNvPr id="12" name="Picture 11" descr="fig07_pip.png"/>
          <p:cNvPicPr>
            <a:picLocks noChangeAspect="1"/>
          </p:cNvPicPr>
          <p:nvPr/>
        </p:nvPicPr>
        <p:blipFill>
          <a:blip r:embed="rId3"/>
          <a:stretch>
            <a:fillRect/>
          </a:stretch>
        </p:blipFill>
        <p:spPr>
          <a:xfrm>
            <a:off x="4343400" y="1188720"/>
            <a:ext cx="4160520" cy="1359528"/>
          </a:xfrm>
          <a:prstGeom prst="rect">
            <a:avLst/>
          </a:prstGeom>
          <a:ln w="9525">
            <a:solidFill>
              <a:srgbClr val="D8D2A0"/>
            </a:solidFill>
          </a:ln>
        </p:spPr>
      </p:pic>
      <p:sp>
        <p:nvSpPr>
          <p:cNvPr id="13" name="TextBox 12"/>
          <p:cNvSpPr txBox="1"/>
          <p:nvPr/>
        </p:nvSpPr>
        <p:spPr>
          <a:xfrm>
            <a:off x="4343400" y="2584824"/>
            <a:ext cx="41605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pip install -r requirements.txt : dépendances Python installées</a:t>
            </a:r>
          </a:p>
        </p:txBody>
      </p:sp>
      <p:pic>
        <p:nvPicPr>
          <p:cNvPr id="14" name="Picture 13" descr="fig08_npm.png"/>
          <p:cNvPicPr>
            <a:picLocks noChangeAspect="1"/>
          </p:cNvPicPr>
          <p:nvPr/>
        </p:nvPicPr>
        <p:blipFill>
          <a:blip r:embed="rId4"/>
          <a:stretch>
            <a:fillRect/>
          </a:stretch>
        </p:blipFill>
        <p:spPr>
          <a:xfrm>
            <a:off x="4343400" y="2868287"/>
            <a:ext cx="4160520" cy="1368512"/>
          </a:xfrm>
          <a:prstGeom prst="rect">
            <a:avLst/>
          </a:prstGeom>
          <a:ln w="9525">
            <a:solidFill>
              <a:srgbClr val="D8D2A0"/>
            </a:solidFill>
          </a:ln>
        </p:spPr>
      </p:pic>
      <p:sp>
        <p:nvSpPr>
          <p:cNvPr id="15" name="TextBox 14"/>
          <p:cNvSpPr txBox="1"/>
          <p:nvPr/>
        </p:nvSpPr>
        <p:spPr>
          <a:xfrm>
            <a:off x="4343400" y="4273376"/>
            <a:ext cx="41605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npm ci : 80 paquets installés, 0 vulnérabilité</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III. Installation et exécution</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d. Démarrer Dagster</a:t>
            </a:r>
          </a:p>
        </p:txBody>
      </p:sp>
      <p:sp>
        <p:nvSpPr>
          <p:cNvPr id="4" name="Oval 3"/>
          <p:cNvSpPr/>
          <p:nvPr/>
        </p:nvSpPr>
        <p:spPr>
          <a:xfrm>
            <a:off x="868680" y="1188720"/>
            <a:ext cx="329184" cy="329184"/>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68680" y="1188720"/>
            <a:ext cx="329184" cy="329184"/>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1</a:t>
            </a:r>
          </a:p>
        </p:txBody>
      </p:sp>
      <p:sp>
        <p:nvSpPr>
          <p:cNvPr id="6" name="TextBox 5"/>
          <p:cNvSpPr txBox="1"/>
          <p:nvPr/>
        </p:nvSpPr>
        <p:spPr>
          <a:xfrm>
            <a:off x="1325880" y="1161288"/>
            <a:ext cx="2651760" cy="22860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Dossier d'état</a:t>
            </a:r>
          </a:p>
        </p:txBody>
      </p:sp>
      <p:sp>
        <p:nvSpPr>
          <p:cNvPr id="7" name="TextBox 6"/>
          <p:cNvSpPr txBox="1"/>
          <p:nvPr/>
        </p:nvSpPr>
        <p:spPr>
          <a:xfrm>
            <a:off x="1325880" y="1417320"/>
            <a:ext cx="265176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Créer .dagster/ (non versionné) et pointer DAGSTER_HOME dessus : historique, logs et copies du CSV y sont écrits.</a:t>
            </a:r>
          </a:p>
        </p:txBody>
      </p:sp>
      <p:sp>
        <p:nvSpPr>
          <p:cNvPr id="8" name="Oval 7"/>
          <p:cNvSpPr/>
          <p:nvPr/>
        </p:nvSpPr>
        <p:spPr>
          <a:xfrm>
            <a:off x="868680" y="2103120"/>
            <a:ext cx="329184" cy="329184"/>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68680" y="2103120"/>
            <a:ext cx="329184" cy="329184"/>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2</a:t>
            </a:r>
          </a:p>
        </p:txBody>
      </p:sp>
      <p:sp>
        <p:nvSpPr>
          <p:cNvPr id="10" name="TextBox 9"/>
          <p:cNvSpPr txBox="1"/>
          <p:nvPr/>
        </p:nvSpPr>
        <p:spPr>
          <a:xfrm>
            <a:off x="1325880" y="2075688"/>
            <a:ext cx="2651760" cy="22860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Démarrer l'interface</a:t>
            </a:r>
          </a:p>
        </p:txBody>
      </p:sp>
      <p:sp>
        <p:nvSpPr>
          <p:cNvPr id="11" name="TextBox 10"/>
          <p:cNvSpPr txBox="1"/>
          <p:nvPr/>
        </p:nvSpPr>
        <p:spPr>
          <a:xfrm>
            <a:off x="1325880" y="2331720"/>
            <a:ext cx="265176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Lancer la commande ci-dessous dans l'environnement virtuel.</a:t>
            </a:r>
          </a:p>
        </p:txBody>
      </p:sp>
      <p:sp>
        <p:nvSpPr>
          <p:cNvPr id="12" name="Oval 11"/>
          <p:cNvSpPr/>
          <p:nvPr/>
        </p:nvSpPr>
        <p:spPr>
          <a:xfrm>
            <a:off x="868680" y="3017520"/>
            <a:ext cx="329184" cy="329184"/>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68680" y="3017520"/>
            <a:ext cx="329184" cy="329184"/>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3</a:t>
            </a:r>
          </a:p>
        </p:txBody>
      </p:sp>
      <p:sp>
        <p:nvSpPr>
          <p:cNvPr id="14" name="TextBox 13"/>
          <p:cNvSpPr txBox="1"/>
          <p:nvPr/>
        </p:nvSpPr>
        <p:spPr>
          <a:xfrm>
            <a:off x="1325880" y="2990088"/>
            <a:ext cx="2651760" cy="228600"/>
          </a:xfrm>
          <a:prstGeom prst="rect">
            <a:avLst/>
          </a:prstGeom>
          <a:noFill/>
        </p:spPr>
        <p:txBody>
          <a:bodyPr wrap="square" lIns="0" tIns="0" rIns="0" bIns="0" anchor="t">
            <a:spAutoFit/>
          </a:bodyPr>
          <a:lstStyle/>
          <a:p>
            <a:pPr>
              <a:spcAft>
                <a:spcPts val="300"/>
              </a:spcAft>
            </a:pPr>
            <a:r>
              <a:rPr sz="1150" b="1" i="0">
                <a:solidFill>
                  <a:srgbClr val="17175A"/>
                </a:solidFill>
                <a:latin typeface="Inter"/>
              </a:rPr>
              <a:t>Lancer le job</a:t>
            </a:r>
          </a:p>
        </p:txBody>
      </p:sp>
      <p:sp>
        <p:nvSpPr>
          <p:cNvPr id="15" name="TextBox 14"/>
          <p:cNvSpPr txBox="1"/>
          <p:nvPr/>
        </p:nvSpPr>
        <p:spPr>
          <a:xfrm>
            <a:off x="1325880" y="3246120"/>
            <a:ext cx="265176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Ouvrir http://localhost:3001/jobs, onglet Launchpad, puis Launch Run.</a:t>
            </a:r>
          </a:p>
        </p:txBody>
      </p:sp>
      <p:sp>
        <p:nvSpPr>
          <p:cNvPr id="16" name="Rounded Rectangle 15"/>
          <p:cNvSpPr/>
          <p:nvPr/>
        </p:nvSpPr>
        <p:spPr>
          <a:xfrm>
            <a:off x="868680" y="4023360"/>
            <a:ext cx="3108960" cy="45720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78407" y="4023360"/>
            <a:ext cx="2889504" cy="457200"/>
          </a:xfrm>
          <a:prstGeom prst="rect">
            <a:avLst/>
          </a:prstGeom>
          <a:noFill/>
        </p:spPr>
        <p:txBody>
          <a:bodyPr wrap="square" lIns="0" tIns="0" rIns="0" bIns="0" anchor="ctr">
            <a:spAutoFit/>
          </a:bodyPr>
          <a:lstStyle/>
          <a:p>
            <a:pPr>
              <a:spcAft>
                <a:spcPts val="100"/>
              </a:spcAft>
            </a:pPr>
            <a:r>
              <a:rPr sz="900" b="0" i="0">
                <a:solidFill>
                  <a:srgbClr val="FFFFFF"/>
                </a:solidFill>
                <a:latin typeface="Courier New"/>
              </a:rPr>
              <a:t>dagster dev -m etl.definitions -p 3001</a:t>
            </a:r>
          </a:p>
        </p:txBody>
      </p:sp>
      <p:pic>
        <p:nvPicPr>
          <p:cNvPr id="18" name="Picture 17" descr="fig11_dagster_dev.png"/>
          <p:cNvPicPr>
            <a:picLocks noChangeAspect="1"/>
          </p:cNvPicPr>
          <p:nvPr/>
        </p:nvPicPr>
        <p:blipFill>
          <a:blip r:embed="rId3"/>
          <a:stretch>
            <a:fillRect/>
          </a:stretch>
        </p:blipFill>
        <p:spPr>
          <a:xfrm>
            <a:off x="4251960" y="1188720"/>
            <a:ext cx="4251960" cy="1404833"/>
          </a:xfrm>
          <a:prstGeom prst="rect">
            <a:avLst/>
          </a:prstGeom>
          <a:ln w="9525">
            <a:solidFill>
              <a:srgbClr val="D8D2A0"/>
            </a:solidFill>
          </a:ln>
        </p:spPr>
      </p:pic>
      <p:sp>
        <p:nvSpPr>
          <p:cNvPr id="19" name="TextBox 18"/>
          <p:cNvSpPr txBox="1"/>
          <p:nvPr/>
        </p:nvSpPr>
        <p:spPr>
          <a:xfrm>
            <a:off x="4251960" y="2630129"/>
            <a:ext cx="425196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Dagster démarré : interface servie sur le port 3001</a:t>
            </a:r>
          </a:p>
        </p:txBody>
      </p:sp>
      <p:sp>
        <p:nvSpPr>
          <p:cNvPr id="20" name="Rounded Rectangle 19"/>
          <p:cNvSpPr/>
          <p:nvPr/>
        </p:nvSpPr>
        <p:spPr>
          <a:xfrm>
            <a:off x="4251960" y="2959312"/>
            <a:ext cx="4251960" cy="128016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389120" y="3023320"/>
            <a:ext cx="3977639" cy="228600"/>
          </a:xfrm>
          <a:prstGeom prst="rect">
            <a:avLst/>
          </a:prstGeom>
          <a:noFill/>
        </p:spPr>
        <p:txBody>
          <a:bodyPr wrap="square" lIns="0" tIns="0" rIns="0" bIns="0" anchor="t">
            <a:spAutoFit/>
          </a:bodyPr>
          <a:lstStyle/>
          <a:p>
            <a:pPr>
              <a:spcAft>
                <a:spcPts val="300"/>
              </a:spcAft>
            </a:pPr>
            <a:r>
              <a:rPr sz="1100" b="1" i="0">
                <a:solidFill>
                  <a:srgbClr val="17175A"/>
                </a:solidFill>
                <a:latin typeface="Inter"/>
              </a:rPr>
              <a:t>Que fait la commande ?</a:t>
            </a:r>
          </a:p>
        </p:txBody>
      </p:sp>
      <p:sp>
        <p:nvSpPr>
          <p:cNvPr id="22" name="TextBox 21"/>
          <p:cNvSpPr txBox="1"/>
          <p:nvPr/>
        </p:nvSpPr>
        <p:spPr>
          <a:xfrm>
            <a:off x="4389120" y="3306785"/>
            <a:ext cx="3977639" cy="914400"/>
          </a:xfrm>
          <a:prstGeom prst="rect">
            <a:avLst/>
          </a:prstGeom>
          <a:noFill/>
        </p:spPr>
        <p:txBody>
          <a:bodyPr wrap="square" lIns="0" tIns="0" rIns="0" bIns="0" anchor="t">
            <a:spAutoFit/>
          </a:bodyPr>
          <a:lstStyle/>
          <a:p>
            <a:pPr marL="171450" indent="-171450">
              <a:lnSpc>
                <a:spcPct val="105000"/>
              </a:lnSpc>
              <a:spcAft>
                <a:spcPts val="200"/>
              </a:spcAft>
              <a:buClr>
                <a:srgbClr val="FA9D02"/>
              </a:buClr>
              <a:buSzPct val="80000"/>
              <a:buFont typeface="Arial"/>
              <a:buChar char="●"/>
            </a:pPr>
            <a:r>
              <a:rPr sz="950" b="0" i="0">
                <a:solidFill>
                  <a:srgbClr val="17175A"/>
                </a:solidFill>
                <a:latin typeface="Inter"/>
              </a:rPr>
              <a:t>dev : interface web locale de suivi, en plus de l'exécution des jobs</a:t>
            </a:r>
          </a:p>
          <a:p>
            <a:pPr marL="171450" indent="-171450">
              <a:lnSpc>
                <a:spcPct val="105000"/>
              </a:lnSpc>
              <a:spcAft>
                <a:spcPts val="200"/>
              </a:spcAft>
              <a:buClr>
                <a:srgbClr val="FA9D02"/>
              </a:buClr>
              <a:buSzPct val="80000"/>
              <a:buFont typeface="Arial"/>
              <a:buChar char="●"/>
            </a:pPr>
            <a:r>
              <a:rPr sz="950" b="0" i="0">
                <a:solidFill>
                  <a:srgbClr val="17175A"/>
                </a:solidFill>
                <a:latin typeface="Inter"/>
              </a:rPr>
              <a:t>-m etl.definitions : charge le module où le job est défini</a:t>
            </a:r>
          </a:p>
          <a:p>
            <a:pPr marL="171450" indent="-171450">
              <a:lnSpc>
                <a:spcPct val="105000"/>
              </a:lnSpc>
              <a:spcAft>
                <a:spcPts val="200"/>
              </a:spcAft>
              <a:buClr>
                <a:srgbClr val="FA9D02"/>
              </a:buClr>
              <a:buSzPct val="80000"/>
              <a:buFont typeface="Arial"/>
              <a:buChar char="●"/>
            </a:pPr>
            <a:r>
              <a:rPr sz="950" b="0" i="0">
                <a:solidFill>
                  <a:srgbClr val="17175A"/>
                </a:solidFill>
                <a:latin typeface="Inter"/>
              </a:rPr>
              <a:t>-p 3001 : fixe le port de l'interface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III. Installation et exécution</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e. Exécuter le job synchronisation_produits</a:t>
            </a:r>
          </a:p>
        </p:txBody>
      </p:sp>
      <p:pic>
        <p:nvPicPr>
          <p:cNvPr id="4" name="Picture 3" descr="fig12_jobs.png"/>
          <p:cNvPicPr>
            <a:picLocks noChangeAspect="1"/>
          </p:cNvPicPr>
          <p:nvPr/>
        </p:nvPicPr>
        <p:blipFill>
          <a:blip r:embed="rId3"/>
          <a:stretch>
            <a:fillRect/>
          </a:stretch>
        </p:blipFill>
        <p:spPr>
          <a:xfrm>
            <a:off x="868680" y="1188720"/>
            <a:ext cx="3703320" cy="1967389"/>
          </a:xfrm>
          <a:prstGeom prst="rect">
            <a:avLst/>
          </a:prstGeom>
          <a:ln w="9525">
            <a:solidFill>
              <a:srgbClr val="D8D2A0"/>
            </a:solidFill>
          </a:ln>
        </p:spPr>
      </p:pic>
      <p:sp>
        <p:nvSpPr>
          <p:cNvPr id="5" name="TextBox 4"/>
          <p:cNvSpPr txBox="1"/>
          <p:nvPr/>
        </p:nvSpPr>
        <p:spPr>
          <a:xfrm>
            <a:off x="868680" y="3192685"/>
            <a:ext cx="37033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Le job est listé dans l'interface Dagster</a:t>
            </a:r>
          </a:p>
        </p:txBody>
      </p:sp>
      <p:pic>
        <p:nvPicPr>
          <p:cNvPr id="6" name="Picture 5" descr="fig13_run.png"/>
          <p:cNvPicPr>
            <a:picLocks noChangeAspect="1"/>
          </p:cNvPicPr>
          <p:nvPr/>
        </p:nvPicPr>
        <p:blipFill>
          <a:blip r:embed="rId4"/>
          <a:stretch>
            <a:fillRect/>
          </a:stretch>
        </p:blipFill>
        <p:spPr>
          <a:xfrm>
            <a:off x="4800600" y="1188720"/>
            <a:ext cx="3703320" cy="1967389"/>
          </a:xfrm>
          <a:prstGeom prst="rect">
            <a:avLst/>
          </a:prstGeom>
          <a:ln w="9525">
            <a:solidFill>
              <a:srgbClr val="D8D2A0"/>
            </a:solidFill>
          </a:ln>
        </p:spPr>
      </p:pic>
      <p:sp>
        <p:nvSpPr>
          <p:cNvPr id="7" name="TextBox 6"/>
          <p:cNvSpPr txBox="1"/>
          <p:nvPr/>
        </p:nvSpPr>
        <p:spPr>
          <a:xfrm>
            <a:off x="4800600" y="3192685"/>
            <a:ext cx="37033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Détail de l'exécution : les trois étapes réussies</a:t>
            </a:r>
          </a:p>
        </p:txBody>
      </p:sp>
      <p:sp>
        <p:nvSpPr>
          <p:cNvPr id="8" name="Rounded Rectangle 7"/>
          <p:cNvSpPr/>
          <p:nvPr/>
        </p:nvSpPr>
        <p:spPr>
          <a:xfrm>
            <a:off x="868680" y="3520440"/>
            <a:ext cx="2468880" cy="1097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05839" y="3593592"/>
            <a:ext cx="1554480" cy="274320"/>
          </a:xfrm>
          <a:prstGeom prst="rect">
            <a:avLst/>
          </a:prstGeom>
          <a:noFill/>
        </p:spPr>
        <p:txBody>
          <a:bodyPr wrap="square" lIns="0" tIns="0" rIns="0" bIns="0" anchor="ctr">
            <a:spAutoFit/>
          </a:bodyPr>
          <a:lstStyle/>
          <a:p>
            <a:pPr>
              <a:spcAft>
                <a:spcPts val="300"/>
              </a:spcAft>
            </a:pPr>
            <a:r>
              <a:rPr sz="1000" b="1" i="0">
                <a:solidFill>
                  <a:srgbClr val="17175A"/>
                </a:solidFill>
                <a:latin typeface="Courier New"/>
              </a:rPr>
              <a:t>extraire_source</a:t>
            </a:r>
          </a:p>
        </p:txBody>
      </p:sp>
      <p:sp>
        <p:nvSpPr>
          <p:cNvPr id="10" name="Rounded Rectangle 9"/>
          <p:cNvSpPr/>
          <p:nvPr/>
        </p:nvSpPr>
        <p:spPr>
          <a:xfrm>
            <a:off x="2532888" y="3621024"/>
            <a:ext cx="713232" cy="219456"/>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532888" y="3621024"/>
            <a:ext cx="713232" cy="219456"/>
          </a:xfrm>
          <a:prstGeom prst="rect">
            <a:avLst/>
          </a:prstGeom>
          <a:noFill/>
        </p:spPr>
        <p:txBody>
          <a:bodyPr wrap="square" lIns="0" tIns="0" rIns="0" bIns="0" anchor="ctr">
            <a:spAutoFit/>
          </a:bodyPr>
          <a:lstStyle/>
          <a:p>
            <a:pPr algn="ctr">
              <a:spcAft>
                <a:spcPts val="300"/>
              </a:spcAft>
            </a:pPr>
            <a:r>
              <a:rPr sz="800" b="1" i="0">
                <a:solidFill>
                  <a:srgbClr val="FFFFFF"/>
                </a:solidFill>
                <a:latin typeface="Inter"/>
              </a:rPr>
              <a:t>SUCCESS</a:t>
            </a:r>
          </a:p>
        </p:txBody>
      </p:sp>
      <p:sp>
        <p:nvSpPr>
          <p:cNvPr id="12" name="TextBox 11"/>
          <p:cNvSpPr txBox="1"/>
          <p:nvPr/>
        </p:nvSpPr>
        <p:spPr>
          <a:xfrm>
            <a:off x="1005839" y="3931920"/>
            <a:ext cx="219456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Copie le CSV dans .dagster/sources/ et calcule son SHA-256.</a:t>
            </a:r>
          </a:p>
        </p:txBody>
      </p:sp>
      <p:sp>
        <p:nvSpPr>
          <p:cNvPr id="13" name="Rounded Rectangle 12"/>
          <p:cNvSpPr/>
          <p:nvPr/>
        </p:nvSpPr>
        <p:spPr>
          <a:xfrm>
            <a:off x="3447287" y="3520440"/>
            <a:ext cx="2468880" cy="1097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584447" y="3593592"/>
            <a:ext cx="1554480" cy="274320"/>
          </a:xfrm>
          <a:prstGeom prst="rect">
            <a:avLst/>
          </a:prstGeom>
          <a:noFill/>
        </p:spPr>
        <p:txBody>
          <a:bodyPr wrap="square" lIns="0" tIns="0" rIns="0" bIns="0" anchor="ctr">
            <a:spAutoFit/>
          </a:bodyPr>
          <a:lstStyle/>
          <a:p>
            <a:pPr>
              <a:spcAft>
                <a:spcPts val="300"/>
              </a:spcAft>
            </a:pPr>
            <a:r>
              <a:rPr sz="1000" b="1" i="0">
                <a:solidFill>
                  <a:srgbClr val="17175A"/>
                </a:solidFill>
                <a:latin typeface="Courier New"/>
              </a:rPr>
              <a:t>transformer_source</a:t>
            </a:r>
          </a:p>
        </p:txBody>
      </p:sp>
      <p:sp>
        <p:nvSpPr>
          <p:cNvPr id="15" name="Rounded Rectangle 14"/>
          <p:cNvSpPr/>
          <p:nvPr/>
        </p:nvSpPr>
        <p:spPr>
          <a:xfrm>
            <a:off x="5111496" y="3621024"/>
            <a:ext cx="713232" cy="219456"/>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11496" y="3621024"/>
            <a:ext cx="713232" cy="219456"/>
          </a:xfrm>
          <a:prstGeom prst="rect">
            <a:avLst/>
          </a:prstGeom>
          <a:noFill/>
        </p:spPr>
        <p:txBody>
          <a:bodyPr wrap="square" lIns="0" tIns="0" rIns="0" bIns="0" anchor="ctr">
            <a:spAutoFit/>
          </a:bodyPr>
          <a:lstStyle/>
          <a:p>
            <a:pPr algn="ctr">
              <a:spcAft>
                <a:spcPts val="300"/>
              </a:spcAft>
            </a:pPr>
            <a:r>
              <a:rPr sz="800" b="1" i="0">
                <a:solidFill>
                  <a:srgbClr val="FFFFFF"/>
                </a:solidFill>
                <a:latin typeface="Inter"/>
              </a:rPr>
              <a:t>SUCCESS</a:t>
            </a:r>
          </a:p>
        </p:txBody>
      </p:sp>
      <p:sp>
        <p:nvSpPr>
          <p:cNvPr id="17" name="TextBox 16"/>
          <p:cNvSpPr txBox="1"/>
          <p:nvPr/>
        </p:nvSpPr>
        <p:spPr>
          <a:xfrm>
            <a:off x="3584447" y="3931920"/>
            <a:ext cx="219456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Valide chaque ligne, garde l'observation la plus récente, produit le bilan.</a:t>
            </a:r>
          </a:p>
        </p:txBody>
      </p:sp>
      <p:sp>
        <p:nvSpPr>
          <p:cNvPr id="18" name="Rounded Rectangle 17"/>
          <p:cNvSpPr/>
          <p:nvPr/>
        </p:nvSpPr>
        <p:spPr>
          <a:xfrm>
            <a:off x="6025896" y="3520440"/>
            <a:ext cx="2468880" cy="1097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163056" y="3593592"/>
            <a:ext cx="1554480" cy="274320"/>
          </a:xfrm>
          <a:prstGeom prst="rect">
            <a:avLst/>
          </a:prstGeom>
          <a:noFill/>
        </p:spPr>
        <p:txBody>
          <a:bodyPr wrap="square" lIns="0" tIns="0" rIns="0" bIns="0" anchor="ctr">
            <a:spAutoFit/>
          </a:bodyPr>
          <a:lstStyle/>
          <a:p>
            <a:pPr>
              <a:spcAft>
                <a:spcPts val="300"/>
              </a:spcAft>
            </a:pPr>
            <a:r>
              <a:rPr sz="1000" b="1" i="0">
                <a:solidFill>
                  <a:srgbClr val="17175A"/>
                </a:solidFill>
                <a:latin typeface="Courier New"/>
              </a:rPr>
              <a:t>charger_destination</a:t>
            </a:r>
          </a:p>
        </p:txBody>
      </p:sp>
      <p:sp>
        <p:nvSpPr>
          <p:cNvPr id="20" name="Rounded Rectangle 19"/>
          <p:cNvSpPr/>
          <p:nvPr/>
        </p:nvSpPr>
        <p:spPr>
          <a:xfrm>
            <a:off x="7690104" y="3621024"/>
            <a:ext cx="713232" cy="219456"/>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690104" y="3621024"/>
            <a:ext cx="713232" cy="219456"/>
          </a:xfrm>
          <a:prstGeom prst="rect">
            <a:avLst/>
          </a:prstGeom>
          <a:noFill/>
        </p:spPr>
        <p:txBody>
          <a:bodyPr wrap="square" lIns="0" tIns="0" rIns="0" bIns="0" anchor="ctr">
            <a:spAutoFit/>
          </a:bodyPr>
          <a:lstStyle/>
          <a:p>
            <a:pPr algn="ctr">
              <a:spcAft>
                <a:spcPts val="300"/>
              </a:spcAft>
            </a:pPr>
            <a:r>
              <a:rPr sz="800" b="1" i="0">
                <a:solidFill>
                  <a:srgbClr val="FFFFFF"/>
                </a:solidFill>
                <a:latin typeface="Inter"/>
              </a:rPr>
              <a:t>SUCCESS</a:t>
            </a:r>
          </a:p>
        </p:txBody>
      </p:sp>
      <p:sp>
        <p:nvSpPr>
          <p:cNvPr id="22" name="TextBox 21"/>
          <p:cNvSpPr txBox="1"/>
          <p:nvPr/>
        </p:nvSpPr>
        <p:spPr>
          <a:xfrm>
            <a:off x="6163056" y="3931920"/>
            <a:ext cx="2194560" cy="6400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Écrit dans PostgreSQL avec idempotence et reprise automatique.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III. Installation et exécution</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f. Le résultat dans PostgreSQL</a:t>
            </a:r>
          </a:p>
        </p:txBody>
      </p:sp>
      <p:pic>
        <p:nvPicPr>
          <p:cNvPr id="4" name="Picture 3" descr="fig14_catalogue.png"/>
          <p:cNvPicPr>
            <a:picLocks noChangeAspect="1"/>
          </p:cNvPicPr>
          <p:nvPr/>
        </p:nvPicPr>
        <p:blipFill>
          <a:blip r:embed="rId3"/>
          <a:stretch>
            <a:fillRect/>
          </a:stretch>
        </p:blipFill>
        <p:spPr>
          <a:xfrm>
            <a:off x="868680" y="1188720"/>
            <a:ext cx="3703320" cy="1215407"/>
          </a:xfrm>
          <a:prstGeom prst="rect">
            <a:avLst/>
          </a:prstGeom>
          <a:ln w="9525">
            <a:solidFill>
              <a:srgbClr val="D8D2A0"/>
            </a:solidFill>
          </a:ln>
        </p:spPr>
      </p:pic>
      <p:sp>
        <p:nvSpPr>
          <p:cNvPr id="5" name="TextBox 4"/>
          <p:cNvSpPr txBox="1"/>
          <p:nvPr/>
        </p:nvSpPr>
        <p:spPr>
          <a:xfrm>
            <a:off x="868680" y="2440703"/>
            <a:ext cx="37033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SELECT sur la table produits</a:t>
            </a:r>
          </a:p>
        </p:txBody>
      </p:sp>
      <p:pic>
        <p:nvPicPr>
          <p:cNvPr id="6" name="Picture 5" descr="fig15_bilan.png"/>
          <p:cNvPicPr>
            <a:picLocks noChangeAspect="1"/>
          </p:cNvPicPr>
          <p:nvPr/>
        </p:nvPicPr>
        <p:blipFill>
          <a:blip r:embed="rId4"/>
          <a:stretch>
            <a:fillRect/>
          </a:stretch>
        </p:blipFill>
        <p:spPr>
          <a:xfrm>
            <a:off x="4800600" y="1188720"/>
            <a:ext cx="3703320" cy="1399998"/>
          </a:xfrm>
          <a:prstGeom prst="rect">
            <a:avLst/>
          </a:prstGeom>
          <a:ln w="9525">
            <a:solidFill>
              <a:srgbClr val="D8D2A0"/>
            </a:solidFill>
          </a:ln>
        </p:spPr>
      </p:pic>
      <p:sp>
        <p:nvSpPr>
          <p:cNvPr id="7" name="TextBox 6"/>
          <p:cNvSpPr txBox="1"/>
          <p:nvPr/>
        </p:nvSpPr>
        <p:spPr>
          <a:xfrm>
            <a:off x="4800600" y="2625294"/>
            <a:ext cx="37033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Bilan JSON de la dernière exécution (etl_executions)</a:t>
            </a:r>
          </a:p>
        </p:txBody>
      </p:sp>
      <p:sp>
        <p:nvSpPr>
          <p:cNvPr id="8" name="Rounded Rectangle 7"/>
          <p:cNvSpPr/>
          <p:nvPr/>
        </p:nvSpPr>
        <p:spPr>
          <a:xfrm>
            <a:off x="868680" y="3383280"/>
            <a:ext cx="1783080" cy="8686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68680" y="3429000"/>
            <a:ext cx="1783080" cy="457200"/>
          </a:xfrm>
          <a:prstGeom prst="rect">
            <a:avLst/>
          </a:prstGeom>
          <a:noFill/>
        </p:spPr>
        <p:txBody>
          <a:bodyPr wrap="square" lIns="0" tIns="0" rIns="0" bIns="0" anchor="ctr">
            <a:spAutoFit/>
          </a:bodyPr>
          <a:lstStyle/>
          <a:p>
            <a:pPr algn="ctr">
              <a:spcAft>
                <a:spcPts val="300"/>
              </a:spcAft>
            </a:pPr>
            <a:r>
              <a:rPr sz="1800" b="1" i="0">
                <a:solidFill>
                  <a:srgbClr val="17175A"/>
                </a:solidFill>
                <a:latin typeface="Inter"/>
              </a:rPr>
              <a:t>542 009</a:t>
            </a:r>
          </a:p>
        </p:txBody>
      </p:sp>
      <p:sp>
        <p:nvSpPr>
          <p:cNvPr id="10" name="TextBox 9"/>
          <p:cNvSpPr txBox="1"/>
          <p:nvPr/>
        </p:nvSpPr>
        <p:spPr>
          <a:xfrm>
            <a:off x="868680" y="3886200"/>
            <a:ext cx="1783080" cy="274320"/>
          </a:xfrm>
          <a:prstGeom prst="rect">
            <a:avLst/>
          </a:prstGeom>
          <a:noFill/>
        </p:spPr>
        <p:txBody>
          <a:bodyPr wrap="square" lIns="0" tIns="0" rIns="0" bIns="0" anchor="t">
            <a:spAutoFit/>
          </a:bodyPr>
          <a:lstStyle/>
          <a:p>
            <a:pPr algn="ctr">
              <a:spcAft>
                <a:spcPts val="300"/>
              </a:spcAft>
            </a:pPr>
            <a:r>
              <a:rPr sz="1000" b="0" i="0">
                <a:solidFill>
                  <a:srgbClr val="17175A"/>
                </a:solidFill>
                <a:latin typeface="Inter"/>
              </a:rPr>
              <a:t>lignes extraites</a:t>
            </a:r>
          </a:p>
        </p:txBody>
      </p:sp>
      <p:sp>
        <p:nvSpPr>
          <p:cNvPr id="11" name="Rounded Rectangle 10"/>
          <p:cNvSpPr/>
          <p:nvPr/>
        </p:nvSpPr>
        <p:spPr>
          <a:xfrm>
            <a:off x="2788920" y="3383280"/>
            <a:ext cx="1783080" cy="8686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788920" y="3429000"/>
            <a:ext cx="1783080" cy="457200"/>
          </a:xfrm>
          <a:prstGeom prst="rect">
            <a:avLst/>
          </a:prstGeom>
          <a:noFill/>
        </p:spPr>
        <p:txBody>
          <a:bodyPr wrap="square" lIns="0" tIns="0" rIns="0" bIns="0" anchor="ctr">
            <a:spAutoFit/>
          </a:bodyPr>
          <a:lstStyle/>
          <a:p>
            <a:pPr algn="ctr">
              <a:spcAft>
                <a:spcPts val="300"/>
              </a:spcAft>
            </a:pPr>
            <a:r>
              <a:rPr sz="1800" b="1" i="0">
                <a:solidFill>
                  <a:srgbClr val="17175A"/>
                </a:solidFill>
                <a:latin typeface="Inter"/>
              </a:rPr>
              <a:t>540 453</a:t>
            </a:r>
          </a:p>
        </p:txBody>
      </p:sp>
      <p:sp>
        <p:nvSpPr>
          <p:cNvPr id="13" name="TextBox 12"/>
          <p:cNvSpPr txBox="1"/>
          <p:nvPr/>
        </p:nvSpPr>
        <p:spPr>
          <a:xfrm>
            <a:off x="2788920" y="3886200"/>
            <a:ext cx="1783080" cy="274320"/>
          </a:xfrm>
          <a:prstGeom prst="rect">
            <a:avLst/>
          </a:prstGeom>
          <a:noFill/>
        </p:spPr>
        <p:txBody>
          <a:bodyPr wrap="square" lIns="0" tIns="0" rIns="0" bIns="0" anchor="t">
            <a:spAutoFit/>
          </a:bodyPr>
          <a:lstStyle/>
          <a:p>
            <a:pPr algn="ctr">
              <a:spcAft>
                <a:spcPts val="300"/>
              </a:spcAft>
            </a:pPr>
            <a:r>
              <a:rPr sz="1000" b="0" i="0">
                <a:solidFill>
                  <a:srgbClr val="17175A"/>
                </a:solidFill>
                <a:latin typeface="Inter"/>
              </a:rPr>
              <a:t>lignes valides</a:t>
            </a:r>
          </a:p>
        </p:txBody>
      </p:sp>
      <p:sp>
        <p:nvSpPr>
          <p:cNvPr id="14" name="Rounded Rectangle 13"/>
          <p:cNvSpPr/>
          <p:nvPr/>
        </p:nvSpPr>
        <p:spPr>
          <a:xfrm>
            <a:off x="4709160" y="3383280"/>
            <a:ext cx="1783080" cy="8686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709160" y="3429000"/>
            <a:ext cx="1783080" cy="457200"/>
          </a:xfrm>
          <a:prstGeom prst="rect">
            <a:avLst/>
          </a:prstGeom>
          <a:noFill/>
        </p:spPr>
        <p:txBody>
          <a:bodyPr wrap="square" lIns="0" tIns="0" rIns="0" bIns="0" anchor="ctr">
            <a:spAutoFit/>
          </a:bodyPr>
          <a:lstStyle/>
          <a:p>
            <a:pPr algn="ctr">
              <a:spcAft>
                <a:spcPts val="300"/>
              </a:spcAft>
            </a:pPr>
            <a:r>
              <a:rPr sz="1800" b="1" i="0">
                <a:solidFill>
                  <a:srgbClr val="D93F45"/>
                </a:solidFill>
                <a:latin typeface="Inter"/>
              </a:rPr>
              <a:t>1 556</a:t>
            </a:r>
          </a:p>
        </p:txBody>
      </p:sp>
      <p:sp>
        <p:nvSpPr>
          <p:cNvPr id="16" name="TextBox 15"/>
          <p:cNvSpPr txBox="1"/>
          <p:nvPr/>
        </p:nvSpPr>
        <p:spPr>
          <a:xfrm>
            <a:off x="4709160" y="3886200"/>
            <a:ext cx="1783080" cy="274320"/>
          </a:xfrm>
          <a:prstGeom prst="rect">
            <a:avLst/>
          </a:prstGeom>
          <a:noFill/>
        </p:spPr>
        <p:txBody>
          <a:bodyPr wrap="square" lIns="0" tIns="0" rIns="0" bIns="0" anchor="t">
            <a:spAutoFit/>
          </a:bodyPr>
          <a:lstStyle/>
          <a:p>
            <a:pPr algn="ctr">
              <a:spcAft>
                <a:spcPts val="300"/>
              </a:spcAft>
            </a:pPr>
            <a:r>
              <a:rPr sz="1000" b="0" i="0">
                <a:solidFill>
                  <a:srgbClr val="17175A"/>
                </a:solidFill>
                <a:latin typeface="Inter"/>
              </a:rPr>
              <a:t>lignes rejetées</a:t>
            </a:r>
          </a:p>
        </p:txBody>
      </p:sp>
      <p:sp>
        <p:nvSpPr>
          <p:cNvPr id="17" name="Rounded Rectangle 16"/>
          <p:cNvSpPr/>
          <p:nvPr/>
        </p:nvSpPr>
        <p:spPr>
          <a:xfrm>
            <a:off x="6629400" y="3383280"/>
            <a:ext cx="1783080" cy="8686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629400" y="3429000"/>
            <a:ext cx="1783080" cy="457200"/>
          </a:xfrm>
          <a:prstGeom prst="rect">
            <a:avLst/>
          </a:prstGeom>
          <a:noFill/>
        </p:spPr>
        <p:txBody>
          <a:bodyPr wrap="square" lIns="0" tIns="0" rIns="0" bIns="0" anchor="ctr">
            <a:spAutoFit/>
          </a:bodyPr>
          <a:lstStyle/>
          <a:p>
            <a:pPr algn="ctr">
              <a:spcAft>
                <a:spcPts val="300"/>
              </a:spcAft>
            </a:pPr>
            <a:r>
              <a:rPr sz="1800" b="1" i="0">
                <a:solidFill>
                  <a:srgbClr val="1FA58F"/>
                </a:solidFill>
                <a:latin typeface="Inter"/>
              </a:rPr>
              <a:t>3 958</a:t>
            </a:r>
          </a:p>
        </p:txBody>
      </p:sp>
      <p:sp>
        <p:nvSpPr>
          <p:cNvPr id="19" name="TextBox 18"/>
          <p:cNvSpPr txBox="1"/>
          <p:nvPr/>
        </p:nvSpPr>
        <p:spPr>
          <a:xfrm>
            <a:off x="6629400" y="3886200"/>
            <a:ext cx="1783080" cy="274320"/>
          </a:xfrm>
          <a:prstGeom prst="rect">
            <a:avLst/>
          </a:prstGeom>
          <a:noFill/>
        </p:spPr>
        <p:txBody>
          <a:bodyPr wrap="square" lIns="0" tIns="0" rIns="0" bIns="0" anchor="t">
            <a:spAutoFit/>
          </a:bodyPr>
          <a:lstStyle/>
          <a:p>
            <a:pPr algn="ctr">
              <a:spcAft>
                <a:spcPts val="300"/>
              </a:spcAft>
            </a:pPr>
            <a:r>
              <a:rPr sz="1000" b="0" i="0">
                <a:solidFill>
                  <a:srgbClr val="17175A"/>
                </a:solidFill>
                <a:latin typeface="Inter"/>
              </a:rPr>
              <a:t>produits retenus</a:t>
            </a:r>
          </a:p>
        </p:txBody>
      </p:sp>
      <p:sp>
        <p:nvSpPr>
          <p:cNvPr id="20" name="TextBox 19"/>
          <p:cNvSpPr txBox="1"/>
          <p:nvPr/>
        </p:nvSpPr>
        <p:spPr>
          <a:xfrm>
            <a:off x="868680" y="4370832"/>
            <a:ext cx="7635240" cy="365760"/>
          </a:xfrm>
          <a:prstGeom prst="rect">
            <a:avLst/>
          </a:prstGeom>
          <a:noFill/>
        </p:spPr>
        <p:txBody>
          <a:bodyPr wrap="square" lIns="0" tIns="0" rIns="0" bIns="0" anchor="t">
            <a:spAutoFit/>
          </a:bodyPr>
          <a:lstStyle/>
          <a:p>
            <a:pPr>
              <a:spcAft>
                <a:spcPts val="300"/>
              </a:spcAft>
            </a:pPr>
            <a:r>
              <a:rPr sz="950" b="1" i="0">
                <a:solidFill>
                  <a:srgbClr val="5A5A7A"/>
                </a:solidFill>
                <a:latin typeface="Inter"/>
              </a:rPr>
              <a:t>Statut AVEC_REJETS · </a:t>
            </a:r>
            <a:r>
              <a:rPr sz="950" b="0" i="0">
                <a:solidFill>
                  <a:srgbClr val="5A5A7A"/>
                </a:solidFill>
                <a:latin typeface="Inter"/>
              </a:rPr>
              <a:t>3 958 produits insérés, 0 modifié, 536 495 observations valides non retenues (anciennes observations d'un même produit).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API, tests et résultats</a:t>
            </a:r>
          </a:p>
        </p:txBody>
      </p:sp>
      <p:sp>
        <p:nvSpPr>
          <p:cNvPr id="3" name="Title 2"/>
          <p:cNvSpPr>
            <a:spLocks noGrp="1"/>
          </p:cNvSpPr>
          <p:nvPr>
            <p:ph type="title" idx="2"/>
          </p:nvPr>
        </p:nvSpPr>
        <p:spPr/>
        <p:txBody>
          <a:bodyPr/>
          <a:lstStyle/>
          <a:p>
            <a:r>
              <a:t>04.</a:t>
            </a:r>
          </a:p>
        </p:txBody>
      </p:sp>
      <p:sp>
        <p:nvSpPr>
          <p:cNvPr id="4" name="Subtitle 3"/>
          <p:cNvSpPr>
            <a:spLocks noGrp="1"/>
          </p:cNvSpPr>
          <p:nvPr>
            <p:ph type="subTitle" idx="1"/>
          </p:nvPr>
        </p:nvSpPr>
        <p:spPr/>
        <p:txBody>
          <a:bodyPr/>
          <a:lstStyle/>
          <a:p>
            <a:r>
              <a:rPr sz="1300"/>
              <a:t>Routes, tests manuels et automatisés, scénario et bilan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IV. API, tests et résultats</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a. L'API REST et son contrat OpenAPI</a:t>
            </a:r>
          </a:p>
        </p:txBody>
      </p:sp>
      <p:graphicFrame>
        <p:nvGraphicFramePr>
          <p:cNvPr id="4" name="Table 3"/>
          <p:cNvGraphicFramePr>
            <a:graphicFrameLocks noGrp="1"/>
          </p:cNvGraphicFramePr>
          <p:nvPr/>
        </p:nvGraphicFramePr>
        <p:xfrm>
          <a:off x="868680" y="1234440"/>
          <a:ext cx="7635240" cy="1737360"/>
        </p:xfrm>
        <a:graphic>
          <a:graphicData uri="http://schemas.openxmlformats.org/drawingml/2006/table">
            <a:tbl>
              <a:tblPr>
                <a:tableStyleId>{2D5ABB26-0587-4C30-8999-92F81FD0307C}</a:tableStyleId>
              </a:tblPr>
              <a:tblGrid>
                <a:gridCol w="310896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47472">
                <a:tc>
                  <a:txBody>
                    <a:bodyPr/>
                    <a:lstStyle/>
                    <a:p>
                      <a:r>
                        <a:rPr sz="1000" b="1" i="0">
                          <a:solidFill>
                            <a:srgbClr val="FFFFFF"/>
                          </a:solidFill>
                          <a:latin typeface="Inter"/>
                        </a:rPr>
                        <a:t>Route</a:t>
                      </a:r>
                    </a:p>
                  </a:txBody>
                  <a:tcPr marL="64008" marR="64008" marT="22860" marB="22860" anchor="ctr">
                    <a:solidFill>
                      <a:srgbClr val="17175A"/>
                    </a:solidFill>
                  </a:tcPr>
                </a:tc>
                <a:tc>
                  <a:txBody>
                    <a:bodyPr/>
                    <a:lstStyle/>
                    <a:p>
                      <a:r>
                        <a:rPr sz="1000" b="1" i="0">
                          <a:solidFill>
                            <a:srgbClr val="FFFFFF"/>
                          </a:solidFill>
                          <a:latin typeface="Inter"/>
                        </a:rPr>
                        <a:t>Fonction</a:t>
                      </a:r>
                    </a:p>
                  </a:txBody>
                  <a:tcPr marL="64008" marR="64008" marT="22860" marB="22860" anchor="ctr">
                    <a:solidFill>
                      <a:srgbClr val="17175A"/>
                    </a:solidFill>
                  </a:tcPr>
                </a:tc>
                <a:tc>
                  <a:txBody>
                    <a:bodyPr/>
                    <a:lstStyle/>
                    <a:p>
                      <a:r>
                        <a:rPr sz="1000" b="1" i="0">
                          <a:solidFill>
                            <a:srgbClr val="FFFFFF"/>
                          </a:solidFill>
                          <a:latin typeface="Inter"/>
                        </a:rPr>
                        <a:t>Codes possibles</a:t>
                      </a:r>
                    </a:p>
                  </a:txBody>
                  <a:tcPr marL="64008" marR="64008" marT="22860" marB="22860" anchor="ctr">
                    <a:solidFill>
                      <a:srgbClr val="17175A"/>
                    </a:solidFill>
                  </a:tcPr>
                </a:tc>
                <a:extLst>
                  <a:ext uri="{0D108BD9-81ED-4DB2-BD59-A6C34878D82A}">
                    <a16:rowId xmlns:a16="http://schemas.microsoft.com/office/drawing/2014/main" val="10000"/>
                  </a:ext>
                </a:extLst>
              </a:tr>
              <a:tr h="347472">
                <a:tc>
                  <a:txBody>
                    <a:bodyPr/>
                    <a:lstStyle/>
                    <a:p>
                      <a:r>
                        <a:rPr sz="1000" b="0" i="0">
                          <a:solidFill>
                            <a:srgbClr val="17175A"/>
                          </a:solidFill>
                          <a:latin typeface="Courier New"/>
                        </a:rPr>
                        <a:t>GET /sante</a:t>
                      </a:r>
                    </a:p>
                  </a:txBody>
                  <a:tcPr marL="64008" marR="64008" marT="22860" marB="22860" anchor="ctr">
                    <a:solidFill>
                      <a:srgbClr val="FFFFFF"/>
                    </a:solidFill>
                  </a:tcPr>
                </a:tc>
                <a:tc>
                  <a:txBody>
                    <a:bodyPr/>
                    <a:lstStyle/>
                    <a:p>
                      <a:r>
                        <a:rPr sz="1000" b="0" i="0">
                          <a:solidFill>
                            <a:srgbClr val="17175A"/>
                          </a:solidFill>
                          <a:latin typeface="Inter"/>
                        </a:rPr>
                        <a:t>Vérifier l'accès à PostgreSQL</a:t>
                      </a:r>
                    </a:p>
                  </a:txBody>
                  <a:tcPr marL="64008" marR="64008" marT="22860" marB="22860" anchor="ctr">
                    <a:solidFill>
                      <a:srgbClr val="FFFFFF"/>
                    </a:solidFill>
                  </a:tcPr>
                </a:tc>
                <a:tc>
                  <a:txBody>
                    <a:bodyPr/>
                    <a:lstStyle/>
                    <a:p>
                      <a:r>
                        <a:rPr sz="1000" b="0" i="0">
                          <a:solidFill>
                            <a:srgbClr val="17175A"/>
                          </a:solidFill>
                          <a:latin typeface="Inter"/>
                        </a:rPr>
                        <a:t>200, 503</a:t>
                      </a:r>
                    </a:p>
                  </a:txBody>
                  <a:tcPr marL="64008" marR="64008" marT="22860" marB="22860" anchor="ctr">
                    <a:solidFill>
                      <a:srgbClr val="FFFFFF"/>
                    </a:solidFill>
                  </a:tcPr>
                </a:tc>
                <a:extLst>
                  <a:ext uri="{0D108BD9-81ED-4DB2-BD59-A6C34878D82A}">
                    <a16:rowId xmlns:a16="http://schemas.microsoft.com/office/drawing/2014/main" val="10001"/>
                  </a:ext>
                </a:extLst>
              </a:tr>
              <a:tr h="347472">
                <a:tc>
                  <a:txBody>
                    <a:bodyPr/>
                    <a:lstStyle/>
                    <a:p>
                      <a:r>
                        <a:rPr sz="1000" b="0" i="0">
                          <a:solidFill>
                            <a:srgbClr val="17175A"/>
                          </a:solidFill>
                          <a:latin typeface="Courier New"/>
                        </a:rPr>
                        <a:t>GET /produits?page=1&amp;limite=20</a:t>
                      </a:r>
                    </a:p>
                  </a:txBody>
                  <a:tcPr marL="64008" marR="64008" marT="22860" marB="22860" anchor="ctr">
                    <a:solidFill>
                      <a:srgbClr val="F6F2CC"/>
                    </a:solidFill>
                  </a:tcPr>
                </a:tc>
                <a:tc>
                  <a:txBody>
                    <a:bodyPr/>
                    <a:lstStyle/>
                    <a:p>
                      <a:r>
                        <a:rPr sz="1000" b="0" i="0">
                          <a:solidFill>
                            <a:srgbClr val="17175A"/>
                          </a:solidFill>
                          <a:latin typeface="Inter"/>
                        </a:rPr>
                        <a:t>Lister les produits (pagination 1 à 100)</a:t>
                      </a:r>
                    </a:p>
                  </a:txBody>
                  <a:tcPr marL="64008" marR="64008" marT="22860" marB="22860" anchor="ctr">
                    <a:solidFill>
                      <a:srgbClr val="F6F2CC"/>
                    </a:solidFill>
                  </a:tcPr>
                </a:tc>
                <a:tc>
                  <a:txBody>
                    <a:bodyPr/>
                    <a:lstStyle/>
                    <a:p>
                      <a:r>
                        <a:rPr sz="1000" b="0" i="0">
                          <a:solidFill>
                            <a:srgbClr val="17175A"/>
                          </a:solidFill>
                          <a:latin typeface="Inter"/>
                        </a:rPr>
                        <a:t>200, 400, 503</a:t>
                      </a:r>
                    </a:p>
                  </a:txBody>
                  <a:tcPr marL="64008" marR="64008" marT="22860" marB="22860" anchor="ctr">
                    <a:solidFill>
                      <a:srgbClr val="F6F2CC"/>
                    </a:solidFill>
                  </a:tcPr>
                </a:tc>
                <a:extLst>
                  <a:ext uri="{0D108BD9-81ED-4DB2-BD59-A6C34878D82A}">
                    <a16:rowId xmlns:a16="http://schemas.microsoft.com/office/drawing/2014/main" val="10002"/>
                  </a:ext>
                </a:extLst>
              </a:tr>
              <a:tr h="347472">
                <a:tc>
                  <a:txBody>
                    <a:bodyPr/>
                    <a:lstStyle/>
                    <a:p>
                      <a:r>
                        <a:rPr sz="1000" b="0" i="0">
                          <a:solidFill>
                            <a:srgbClr val="17175A"/>
                          </a:solidFill>
                          <a:latin typeface="Courier New"/>
                        </a:rPr>
                        <a:t>GET /produits/:reference</a:t>
                      </a:r>
                    </a:p>
                  </a:txBody>
                  <a:tcPr marL="64008" marR="64008" marT="22860" marB="22860" anchor="ctr">
                    <a:solidFill>
                      <a:srgbClr val="FFFFFF"/>
                    </a:solidFill>
                  </a:tcPr>
                </a:tc>
                <a:tc>
                  <a:txBody>
                    <a:bodyPr/>
                    <a:lstStyle/>
                    <a:p>
                      <a:r>
                        <a:rPr sz="1000" b="0" i="0">
                          <a:solidFill>
                            <a:srgbClr val="17175A"/>
                          </a:solidFill>
                          <a:latin typeface="Inter"/>
                        </a:rPr>
                        <a:t>Consulter un produit</a:t>
                      </a:r>
                    </a:p>
                  </a:txBody>
                  <a:tcPr marL="64008" marR="64008" marT="22860" marB="22860" anchor="ctr">
                    <a:solidFill>
                      <a:srgbClr val="FFFFFF"/>
                    </a:solidFill>
                  </a:tcPr>
                </a:tc>
                <a:tc>
                  <a:txBody>
                    <a:bodyPr/>
                    <a:lstStyle/>
                    <a:p>
                      <a:r>
                        <a:rPr sz="1000" b="0" i="0">
                          <a:solidFill>
                            <a:srgbClr val="17175A"/>
                          </a:solidFill>
                          <a:latin typeface="Inter"/>
                        </a:rPr>
                        <a:t>200, 404, 503</a:t>
                      </a:r>
                    </a:p>
                  </a:txBody>
                  <a:tcPr marL="64008" marR="64008" marT="22860" marB="22860" anchor="ctr">
                    <a:solidFill>
                      <a:srgbClr val="FFFFFF"/>
                    </a:solidFill>
                  </a:tcPr>
                </a:tc>
                <a:extLst>
                  <a:ext uri="{0D108BD9-81ED-4DB2-BD59-A6C34878D82A}">
                    <a16:rowId xmlns:a16="http://schemas.microsoft.com/office/drawing/2014/main" val="10003"/>
                  </a:ext>
                </a:extLst>
              </a:tr>
              <a:tr h="347472">
                <a:tc>
                  <a:txBody>
                    <a:bodyPr/>
                    <a:lstStyle/>
                    <a:p>
                      <a:r>
                        <a:rPr sz="1000" b="0" i="0">
                          <a:solidFill>
                            <a:srgbClr val="17175A"/>
                          </a:solidFill>
                          <a:latin typeface="Courier New"/>
                        </a:rPr>
                        <a:t>GET /controles/dernier</a:t>
                      </a:r>
                    </a:p>
                  </a:txBody>
                  <a:tcPr marL="64008" marR="64008" marT="22860" marB="22860" anchor="ctr">
                    <a:solidFill>
                      <a:srgbClr val="F6F2CC"/>
                    </a:solidFill>
                  </a:tcPr>
                </a:tc>
                <a:tc>
                  <a:txBody>
                    <a:bodyPr/>
                    <a:lstStyle/>
                    <a:p>
                      <a:r>
                        <a:rPr sz="1000" b="0" i="0">
                          <a:solidFill>
                            <a:srgbClr val="17175A"/>
                          </a:solidFill>
                          <a:latin typeface="Inter"/>
                        </a:rPr>
                        <a:t>Consulter le dernier contrôle de chargement</a:t>
                      </a:r>
                    </a:p>
                  </a:txBody>
                  <a:tcPr marL="64008" marR="64008" marT="22860" marB="22860" anchor="ctr">
                    <a:solidFill>
                      <a:srgbClr val="F6F2CC"/>
                    </a:solidFill>
                  </a:tcPr>
                </a:tc>
                <a:tc>
                  <a:txBody>
                    <a:bodyPr/>
                    <a:lstStyle/>
                    <a:p>
                      <a:r>
                        <a:rPr sz="1000" b="0" i="0">
                          <a:solidFill>
                            <a:srgbClr val="17175A"/>
                          </a:solidFill>
                          <a:latin typeface="Inter"/>
                        </a:rPr>
                        <a:t>200, 404, 503</a:t>
                      </a:r>
                    </a:p>
                  </a:txBody>
                  <a:tcPr marL="64008" marR="64008" marT="22860" marB="22860" anchor="ctr">
                    <a:solidFill>
                      <a:srgbClr val="F6F2CC"/>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868680" y="3200400"/>
            <a:ext cx="2468880" cy="146304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05839" y="3310128"/>
            <a:ext cx="384048" cy="384048"/>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FaFileCode.png"/>
          <p:cNvPicPr>
            <a:picLocks noChangeAspect="1"/>
          </p:cNvPicPr>
          <p:nvPr/>
        </p:nvPicPr>
        <p:blipFill>
          <a:blip r:embed="rId3"/>
          <a:stretch>
            <a:fillRect/>
          </a:stretch>
        </p:blipFill>
        <p:spPr>
          <a:xfrm>
            <a:off x="1098011" y="3402299"/>
            <a:ext cx="199704" cy="199704"/>
          </a:xfrm>
          <a:prstGeom prst="rect">
            <a:avLst/>
          </a:prstGeom>
        </p:spPr>
      </p:pic>
      <p:sp>
        <p:nvSpPr>
          <p:cNvPr id="8" name="TextBox 7"/>
          <p:cNvSpPr txBox="1"/>
          <p:nvPr/>
        </p:nvSpPr>
        <p:spPr>
          <a:xfrm>
            <a:off x="1490472" y="3310128"/>
            <a:ext cx="1783080" cy="384048"/>
          </a:xfrm>
          <a:prstGeom prst="rect">
            <a:avLst/>
          </a:prstGeom>
          <a:noFill/>
        </p:spPr>
        <p:txBody>
          <a:bodyPr wrap="square" lIns="0" tIns="0" rIns="0" bIns="0" anchor="ctr">
            <a:spAutoFit/>
          </a:bodyPr>
          <a:lstStyle/>
          <a:p>
            <a:pPr>
              <a:spcAft>
                <a:spcPts val="300"/>
              </a:spcAft>
            </a:pPr>
            <a:r>
              <a:rPr sz="1050" b="1" i="0">
                <a:solidFill>
                  <a:srgbClr val="17175A"/>
                </a:solidFill>
                <a:latin typeface="Inter"/>
              </a:rPr>
              <a:t>Contrat OpenAPI 3.0</a:t>
            </a:r>
          </a:p>
        </p:txBody>
      </p:sp>
      <p:sp>
        <p:nvSpPr>
          <p:cNvPr id="9" name="TextBox 8"/>
          <p:cNvSpPr txBox="1"/>
          <p:nvPr/>
        </p:nvSpPr>
        <p:spPr>
          <a:xfrm>
            <a:off x="1005839" y="3794760"/>
            <a:ext cx="2240280" cy="8686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docs/openapi.yaml, visible en Swagger UI sur http://localhost:3000/docs, servie par l'API elle-même.</a:t>
            </a:r>
          </a:p>
        </p:txBody>
      </p:sp>
      <p:sp>
        <p:nvSpPr>
          <p:cNvPr id="10" name="Rounded Rectangle 9"/>
          <p:cNvSpPr/>
          <p:nvPr/>
        </p:nvSpPr>
        <p:spPr>
          <a:xfrm>
            <a:off x="3447287" y="3200400"/>
            <a:ext cx="2468880" cy="146304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3584447" y="3310128"/>
            <a:ext cx="384048" cy="384048"/>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FaPlug.png"/>
          <p:cNvPicPr>
            <a:picLocks noChangeAspect="1"/>
          </p:cNvPicPr>
          <p:nvPr/>
        </p:nvPicPr>
        <p:blipFill>
          <a:blip r:embed="rId4"/>
          <a:stretch>
            <a:fillRect/>
          </a:stretch>
        </p:blipFill>
        <p:spPr>
          <a:xfrm>
            <a:off x="3676619" y="3402299"/>
            <a:ext cx="199704" cy="199704"/>
          </a:xfrm>
          <a:prstGeom prst="rect">
            <a:avLst/>
          </a:prstGeom>
        </p:spPr>
      </p:pic>
      <p:sp>
        <p:nvSpPr>
          <p:cNvPr id="13" name="TextBox 12"/>
          <p:cNvSpPr txBox="1"/>
          <p:nvPr/>
        </p:nvSpPr>
        <p:spPr>
          <a:xfrm>
            <a:off x="4069079" y="3310128"/>
            <a:ext cx="1783080" cy="384048"/>
          </a:xfrm>
          <a:prstGeom prst="rect">
            <a:avLst/>
          </a:prstGeom>
          <a:noFill/>
        </p:spPr>
        <p:txBody>
          <a:bodyPr wrap="square" lIns="0" tIns="0" rIns="0" bIns="0" anchor="ctr">
            <a:spAutoFit/>
          </a:bodyPr>
          <a:lstStyle/>
          <a:p>
            <a:pPr>
              <a:spcAft>
                <a:spcPts val="300"/>
              </a:spcAft>
            </a:pPr>
            <a:r>
              <a:rPr sz="1050" b="1" i="0">
                <a:solidFill>
                  <a:srgbClr val="17175A"/>
                </a:solidFill>
                <a:latin typeface="Inter"/>
              </a:rPr>
              <a:t>503 : base indisponible</a:t>
            </a:r>
          </a:p>
        </p:txBody>
      </p:sp>
      <p:sp>
        <p:nvSpPr>
          <p:cNvPr id="14" name="TextBox 13"/>
          <p:cNvSpPr txBox="1"/>
          <p:nvPr/>
        </p:nvSpPr>
        <p:spPr>
          <a:xfrm>
            <a:off x="3584447" y="3794760"/>
            <a:ext cx="2240280" cy="8686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L'API retrouve une connexion dès que PostgreSQL répond à nouveau, sans redémarrage.</a:t>
            </a:r>
          </a:p>
        </p:txBody>
      </p:sp>
      <p:sp>
        <p:nvSpPr>
          <p:cNvPr id="15" name="Rounded Rectangle 14"/>
          <p:cNvSpPr/>
          <p:nvPr/>
        </p:nvSpPr>
        <p:spPr>
          <a:xfrm>
            <a:off x="6025896" y="3200400"/>
            <a:ext cx="2468880" cy="146304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163056" y="3310128"/>
            <a:ext cx="384048" cy="384048"/>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FaShieldAlt.png"/>
          <p:cNvPicPr>
            <a:picLocks noChangeAspect="1"/>
          </p:cNvPicPr>
          <p:nvPr/>
        </p:nvPicPr>
        <p:blipFill>
          <a:blip r:embed="rId5"/>
          <a:stretch>
            <a:fillRect/>
          </a:stretch>
        </p:blipFill>
        <p:spPr>
          <a:xfrm>
            <a:off x="6255227" y="3402299"/>
            <a:ext cx="199704" cy="199704"/>
          </a:xfrm>
          <a:prstGeom prst="rect">
            <a:avLst/>
          </a:prstGeom>
        </p:spPr>
      </p:pic>
      <p:sp>
        <p:nvSpPr>
          <p:cNvPr id="18" name="TextBox 17"/>
          <p:cNvSpPr txBox="1"/>
          <p:nvPr/>
        </p:nvSpPr>
        <p:spPr>
          <a:xfrm>
            <a:off x="6647688" y="3310128"/>
            <a:ext cx="1783080" cy="384048"/>
          </a:xfrm>
          <a:prstGeom prst="rect">
            <a:avLst/>
          </a:prstGeom>
          <a:noFill/>
        </p:spPr>
        <p:txBody>
          <a:bodyPr wrap="square" lIns="0" tIns="0" rIns="0" bIns="0" anchor="ctr">
            <a:spAutoFit/>
          </a:bodyPr>
          <a:lstStyle/>
          <a:p>
            <a:pPr>
              <a:spcAft>
                <a:spcPts val="300"/>
              </a:spcAft>
            </a:pPr>
            <a:r>
              <a:rPr sz="1050" b="1" i="0">
                <a:solidFill>
                  <a:srgbClr val="17175A"/>
                </a:solidFill>
                <a:latin typeface="Inter"/>
              </a:rPr>
              <a:t>Lecture seule</a:t>
            </a:r>
          </a:p>
        </p:txBody>
      </p:sp>
      <p:sp>
        <p:nvSpPr>
          <p:cNvPr id="19" name="TextBox 18"/>
          <p:cNvSpPr txBox="1"/>
          <p:nvPr/>
        </p:nvSpPr>
        <p:spPr>
          <a:xfrm>
            <a:off x="6163056" y="3794760"/>
            <a:ext cx="2240280" cy="868680"/>
          </a:xfrm>
          <a:prstGeom prst="rect">
            <a:avLst/>
          </a:prstGeom>
          <a:noFill/>
        </p:spPr>
        <p:txBody>
          <a:bodyPr wrap="square" lIns="0" tIns="0" rIns="0" bIns="0" anchor="t">
            <a:spAutoFit/>
          </a:bodyPr>
          <a:lstStyle/>
          <a:p>
            <a:pPr>
              <a:spcAft>
                <a:spcPts val="300"/>
              </a:spcAft>
            </a:pPr>
            <a:r>
              <a:rPr sz="950" b="0" i="0">
                <a:solidFill>
                  <a:srgbClr val="5A5A7A"/>
                </a:solidFill>
                <a:latin typeface="Inter"/>
              </a:rPr>
              <a:t>Aucune route d'écriture : seul le pipeline modifie les données de PostgreSQL.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IV. API, tests et résultats</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b. Tests manuels : cas nominaux</a:t>
            </a:r>
          </a:p>
        </p:txBody>
      </p:sp>
      <p:pic>
        <p:nvPicPr>
          <p:cNvPr id="4" name="Picture 3" descr="fig17_sante.png"/>
          <p:cNvPicPr>
            <a:picLocks noChangeAspect="1"/>
          </p:cNvPicPr>
          <p:nvPr/>
        </p:nvPicPr>
        <p:blipFill>
          <a:blip r:embed="rId3"/>
          <a:stretch>
            <a:fillRect/>
          </a:stretch>
        </p:blipFill>
        <p:spPr>
          <a:xfrm>
            <a:off x="868680" y="1188720"/>
            <a:ext cx="3703320" cy="1726031"/>
          </a:xfrm>
          <a:prstGeom prst="rect">
            <a:avLst/>
          </a:prstGeom>
          <a:ln w="9525">
            <a:solidFill>
              <a:srgbClr val="D8D2A0"/>
            </a:solidFill>
          </a:ln>
        </p:spPr>
      </p:pic>
      <p:sp>
        <p:nvSpPr>
          <p:cNvPr id="5" name="TextBox 4"/>
          <p:cNvSpPr txBox="1"/>
          <p:nvPr/>
        </p:nvSpPr>
        <p:spPr>
          <a:xfrm>
            <a:off x="868680" y="2951327"/>
            <a:ext cx="37033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GET /sante : 200, l'API et PostgreSQL répondent</a:t>
            </a:r>
          </a:p>
        </p:txBody>
      </p:sp>
      <p:sp>
        <p:nvSpPr>
          <p:cNvPr id="6" name="Rounded Rectangle 5"/>
          <p:cNvSpPr/>
          <p:nvPr/>
        </p:nvSpPr>
        <p:spPr>
          <a:xfrm>
            <a:off x="868680" y="3291840"/>
            <a:ext cx="3703320" cy="13716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1005839" y="3401568"/>
            <a:ext cx="457200" cy="219456"/>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05839" y="3401568"/>
            <a:ext cx="457200" cy="219456"/>
          </a:xfrm>
          <a:prstGeom prst="rect">
            <a:avLst/>
          </a:prstGeom>
          <a:noFill/>
        </p:spPr>
        <p:txBody>
          <a:bodyPr wrap="square" lIns="0" tIns="0" rIns="0" bIns="0" anchor="ctr">
            <a:spAutoFit/>
          </a:bodyPr>
          <a:lstStyle/>
          <a:p>
            <a:pPr algn="ctr">
              <a:spcAft>
                <a:spcPts val="300"/>
              </a:spcAft>
            </a:pPr>
            <a:r>
              <a:rPr sz="850" b="1" i="0">
                <a:solidFill>
                  <a:srgbClr val="FFFFFF"/>
                </a:solidFill>
                <a:latin typeface="Inter"/>
              </a:rPr>
              <a:t>200</a:t>
            </a:r>
          </a:p>
        </p:txBody>
      </p:sp>
      <p:sp>
        <p:nvSpPr>
          <p:cNvPr id="9" name="TextBox 8"/>
          <p:cNvSpPr txBox="1"/>
          <p:nvPr/>
        </p:nvSpPr>
        <p:spPr>
          <a:xfrm>
            <a:off x="1554480" y="3383280"/>
            <a:ext cx="2926080" cy="256032"/>
          </a:xfrm>
          <a:prstGeom prst="rect">
            <a:avLst/>
          </a:prstGeom>
          <a:noFill/>
        </p:spPr>
        <p:txBody>
          <a:bodyPr wrap="square" lIns="0" tIns="0" rIns="0" bIns="0" anchor="ctr">
            <a:spAutoFit/>
          </a:bodyPr>
          <a:lstStyle/>
          <a:p>
            <a:pPr>
              <a:spcAft>
                <a:spcPts val="300"/>
              </a:spcAft>
            </a:pPr>
            <a:r>
              <a:rPr sz="1050" b="1" i="0">
                <a:solidFill>
                  <a:srgbClr val="17175A"/>
                </a:solidFill>
                <a:latin typeface="Courier New"/>
              </a:rPr>
              <a:t>GET /sante</a:t>
            </a:r>
          </a:p>
        </p:txBody>
      </p:sp>
      <p:sp>
        <p:nvSpPr>
          <p:cNvPr id="10" name="TextBox 9"/>
          <p:cNvSpPr txBox="1"/>
          <p:nvPr/>
        </p:nvSpPr>
        <p:spPr>
          <a:xfrm>
            <a:off x="1005839" y="3749039"/>
            <a:ext cx="3429000" cy="868680"/>
          </a:xfrm>
          <a:prstGeom prst="rect">
            <a:avLst/>
          </a:prstGeom>
          <a:noFill/>
        </p:spPr>
        <p:txBody>
          <a:bodyPr wrap="square" lIns="0" tIns="0" rIns="0" bIns="0" anchor="t">
            <a:spAutoFit/>
          </a:bodyPr>
          <a:lstStyle/>
          <a:p>
            <a:pPr>
              <a:spcAft>
                <a:spcPts val="300"/>
              </a:spcAft>
            </a:pPr>
            <a:r>
              <a:rPr sz="1000" b="0" i="0">
                <a:solidFill>
                  <a:srgbClr val="5A5A7A"/>
                </a:solidFill>
                <a:latin typeface="Inter"/>
              </a:rPr>
              <a:t>Vérifie l'accès à PostgreSQL et renvoie l'état de l'API et de la base.</a:t>
            </a:r>
          </a:p>
        </p:txBody>
      </p:sp>
      <p:pic>
        <p:nvPicPr>
          <p:cNvPr id="11" name="Picture 10" descr="fig18_liste.png"/>
          <p:cNvPicPr>
            <a:picLocks noChangeAspect="1"/>
          </p:cNvPicPr>
          <p:nvPr/>
        </p:nvPicPr>
        <p:blipFill>
          <a:blip r:embed="rId4"/>
          <a:stretch>
            <a:fillRect/>
          </a:stretch>
        </p:blipFill>
        <p:spPr>
          <a:xfrm>
            <a:off x="4800600" y="1188720"/>
            <a:ext cx="3703320" cy="1718427"/>
          </a:xfrm>
          <a:prstGeom prst="rect">
            <a:avLst/>
          </a:prstGeom>
          <a:ln w="9525">
            <a:solidFill>
              <a:srgbClr val="D8D2A0"/>
            </a:solidFill>
          </a:ln>
        </p:spPr>
      </p:pic>
      <p:sp>
        <p:nvSpPr>
          <p:cNvPr id="12" name="TextBox 11"/>
          <p:cNvSpPr txBox="1"/>
          <p:nvPr/>
        </p:nvSpPr>
        <p:spPr>
          <a:xfrm>
            <a:off x="4800600" y="2943723"/>
            <a:ext cx="37033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GET /produits?page=1&amp;limite=3 : 200</a:t>
            </a:r>
          </a:p>
        </p:txBody>
      </p:sp>
      <p:sp>
        <p:nvSpPr>
          <p:cNvPr id="13" name="Rounded Rectangle 12"/>
          <p:cNvSpPr/>
          <p:nvPr/>
        </p:nvSpPr>
        <p:spPr>
          <a:xfrm>
            <a:off x="4800600" y="3291840"/>
            <a:ext cx="3703320" cy="13716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4937760" y="3401568"/>
            <a:ext cx="457200" cy="219456"/>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937760" y="3401568"/>
            <a:ext cx="457200" cy="219456"/>
          </a:xfrm>
          <a:prstGeom prst="rect">
            <a:avLst/>
          </a:prstGeom>
          <a:noFill/>
        </p:spPr>
        <p:txBody>
          <a:bodyPr wrap="square" lIns="0" tIns="0" rIns="0" bIns="0" anchor="ctr">
            <a:spAutoFit/>
          </a:bodyPr>
          <a:lstStyle/>
          <a:p>
            <a:pPr algn="ctr">
              <a:spcAft>
                <a:spcPts val="300"/>
              </a:spcAft>
            </a:pPr>
            <a:r>
              <a:rPr sz="850" b="1" i="0">
                <a:solidFill>
                  <a:srgbClr val="FFFFFF"/>
                </a:solidFill>
                <a:latin typeface="Inter"/>
              </a:rPr>
              <a:t>200</a:t>
            </a:r>
          </a:p>
        </p:txBody>
      </p:sp>
      <p:sp>
        <p:nvSpPr>
          <p:cNvPr id="16" name="TextBox 15"/>
          <p:cNvSpPr txBox="1"/>
          <p:nvPr/>
        </p:nvSpPr>
        <p:spPr>
          <a:xfrm>
            <a:off x="5486400" y="3383280"/>
            <a:ext cx="2926080" cy="256032"/>
          </a:xfrm>
          <a:prstGeom prst="rect">
            <a:avLst/>
          </a:prstGeom>
          <a:noFill/>
        </p:spPr>
        <p:txBody>
          <a:bodyPr wrap="square" lIns="0" tIns="0" rIns="0" bIns="0" anchor="ctr">
            <a:spAutoFit/>
          </a:bodyPr>
          <a:lstStyle/>
          <a:p>
            <a:pPr>
              <a:spcAft>
                <a:spcPts val="300"/>
              </a:spcAft>
            </a:pPr>
            <a:r>
              <a:rPr sz="1050" b="1" i="0">
                <a:solidFill>
                  <a:srgbClr val="17175A"/>
                </a:solidFill>
                <a:latin typeface="Courier New"/>
              </a:rPr>
              <a:t>GET /produits?page=1&amp;limite=3</a:t>
            </a:r>
          </a:p>
        </p:txBody>
      </p:sp>
      <p:sp>
        <p:nvSpPr>
          <p:cNvPr id="17" name="TextBox 16"/>
          <p:cNvSpPr txBox="1"/>
          <p:nvPr/>
        </p:nvSpPr>
        <p:spPr>
          <a:xfrm>
            <a:off x="4937760" y="3749039"/>
            <a:ext cx="3429000" cy="868680"/>
          </a:xfrm>
          <a:prstGeom prst="rect">
            <a:avLst/>
          </a:prstGeom>
          <a:noFill/>
        </p:spPr>
        <p:txBody>
          <a:bodyPr wrap="square" lIns="0" tIns="0" rIns="0" bIns="0" anchor="t">
            <a:spAutoFit/>
          </a:bodyPr>
          <a:lstStyle/>
          <a:p>
            <a:pPr>
              <a:spcAft>
                <a:spcPts val="300"/>
              </a:spcAft>
            </a:pPr>
            <a:r>
              <a:rPr sz="1000" b="0" i="0">
                <a:solidFill>
                  <a:srgbClr val="5A5A7A"/>
                </a:solidFill>
                <a:latin typeface="Inter"/>
              </a:rPr>
              <a:t>Pagination : la réponse donne la page, la limite, le total (3 958) et la liste des produits.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IV. API, tests et résultats</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c. Consulter un produit et le dernier contrôle</a:t>
            </a:r>
          </a:p>
        </p:txBody>
      </p:sp>
      <p:pic>
        <p:nvPicPr>
          <p:cNvPr id="4" name="Picture 3" descr="fig19_produit.png"/>
          <p:cNvPicPr>
            <a:picLocks noChangeAspect="1"/>
          </p:cNvPicPr>
          <p:nvPr/>
        </p:nvPicPr>
        <p:blipFill>
          <a:blip r:embed="rId3"/>
          <a:stretch>
            <a:fillRect/>
          </a:stretch>
        </p:blipFill>
        <p:spPr>
          <a:xfrm>
            <a:off x="868680" y="1188720"/>
            <a:ext cx="3703320" cy="1713395"/>
          </a:xfrm>
          <a:prstGeom prst="rect">
            <a:avLst/>
          </a:prstGeom>
          <a:ln w="9525">
            <a:solidFill>
              <a:srgbClr val="D8D2A0"/>
            </a:solidFill>
          </a:ln>
        </p:spPr>
      </p:pic>
      <p:sp>
        <p:nvSpPr>
          <p:cNvPr id="5" name="TextBox 4"/>
          <p:cNvSpPr txBox="1"/>
          <p:nvPr/>
        </p:nvSpPr>
        <p:spPr>
          <a:xfrm>
            <a:off x="868680" y="2938691"/>
            <a:ext cx="37033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GET /produits/85123A : 200, un produit précis</a:t>
            </a:r>
          </a:p>
        </p:txBody>
      </p:sp>
      <p:sp>
        <p:nvSpPr>
          <p:cNvPr id="6" name="Rounded Rectangle 5"/>
          <p:cNvSpPr/>
          <p:nvPr/>
        </p:nvSpPr>
        <p:spPr>
          <a:xfrm>
            <a:off x="868680" y="3291840"/>
            <a:ext cx="3703320" cy="13716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1005839" y="3401568"/>
            <a:ext cx="457200" cy="219456"/>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05839" y="3401568"/>
            <a:ext cx="457200" cy="219456"/>
          </a:xfrm>
          <a:prstGeom prst="rect">
            <a:avLst/>
          </a:prstGeom>
          <a:noFill/>
        </p:spPr>
        <p:txBody>
          <a:bodyPr wrap="square" lIns="0" tIns="0" rIns="0" bIns="0" anchor="ctr">
            <a:spAutoFit/>
          </a:bodyPr>
          <a:lstStyle/>
          <a:p>
            <a:pPr algn="ctr">
              <a:spcAft>
                <a:spcPts val="300"/>
              </a:spcAft>
            </a:pPr>
            <a:r>
              <a:rPr sz="850" b="1" i="0">
                <a:solidFill>
                  <a:srgbClr val="FFFFFF"/>
                </a:solidFill>
                <a:latin typeface="Inter"/>
              </a:rPr>
              <a:t>200</a:t>
            </a:r>
          </a:p>
        </p:txBody>
      </p:sp>
      <p:sp>
        <p:nvSpPr>
          <p:cNvPr id="9" name="TextBox 8"/>
          <p:cNvSpPr txBox="1"/>
          <p:nvPr/>
        </p:nvSpPr>
        <p:spPr>
          <a:xfrm>
            <a:off x="1554480" y="3383280"/>
            <a:ext cx="2926080" cy="256032"/>
          </a:xfrm>
          <a:prstGeom prst="rect">
            <a:avLst/>
          </a:prstGeom>
          <a:noFill/>
        </p:spPr>
        <p:txBody>
          <a:bodyPr wrap="square" lIns="0" tIns="0" rIns="0" bIns="0" anchor="ctr">
            <a:spAutoFit/>
          </a:bodyPr>
          <a:lstStyle/>
          <a:p>
            <a:pPr>
              <a:spcAft>
                <a:spcPts val="300"/>
              </a:spcAft>
            </a:pPr>
            <a:r>
              <a:rPr sz="1050" b="1" i="0">
                <a:solidFill>
                  <a:srgbClr val="17175A"/>
                </a:solidFill>
                <a:latin typeface="Courier New"/>
              </a:rPr>
              <a:t>GET /produits/85123A</a:t>
            </a:r>
          </a:p>
        </p:txBody>
      </p:sp>
      <p:sp>
        <p:nvSpPr>
          <p:cNvPr id="10" name="TextBox 9"/>
          <p:cNvSpPr txBox="1"/>
          <p:nvPr/>
        </p:nvSpPr>
        <p:spPr>
          <a:xfrm>
            <a:off x="1005839" y="3749039"/>
            <a:ext cx="3429000" cy="868680"/>
          </a:xfrm>
          <a:prstGeom prst="rect">
            <a:avLst/>
          </a:prstGeom>
          <a:noFill/>
        </p:spPr>
        <p:txBody>
          <a:bodyPr wrap="square" lIns="0" tIns="0" rIns="0" bIns="0" anchor="t">
            <a:spAutoFit/>
          </a:bodyPr>
          <a:lstStyle/>
          <a:p>
            <a:pPr>
              <a:spcAft>
                <a:spcPts val="300"/>
              </a:spcAft>
            </a:pPr>
            <a:r>
              <a:rPr sz="1000" b="0" i="0">
                <a:solidFill>
                  <a:srgbClr val="5A5A7A"/>
                </a:solidFill>
                <a:latin typeface="Inter"/>
              </a:rPr>
              <a:t>Référence, description (CREAM HANGING HEART T-LIGHT HOLDER), prix unitaire 2.9500, dates d'observation et de modification.</a:t>
            </a:r>
          </a:p>
        </p:txBody>
      </p:sp>
      <p:pic>
        <p:nvPicPr>
          <p:cNvPr id="11" name="Picture 10" descr="fig22_controle.png"/>
          <p:cNvPicPr>
            <a:picLocks noChangeAspect="1"/>
          </p:cNvPicPr>
          <p:nvPr/>
        </p:nvPicPr>
        <p:blipFill>
          <a:blip r:embed="rId4"/>
          <a:stretch>
            <a:fillRect/>
          </a:stretch>
        </p:blipFill>
        <p:spPr>
          <a:xfrm>
            <a:off x="4800600" y="1188720"/>
            <a:ext cx="3703320" cy="1740970"/>
          </a:xfrm>
          <a:prstGeom prst="rect">
            <a:avLst/>
          </a:prstGeom>
          <a:ln w="9525">
            <a:solidFill>
              <a:srgbClr val="D8D2A0"/>
            </a:solidFill>
          </a:ln>
        </p:spPr>
      </p:pic>
      <p:sp>
        <p:nvSpPr>
          <p:cNvPr id="12" name="TextBox 11"/>
          <p:cNvSpPr txBox="1"/>
          <p:nvPr/>
        </p:nvSpPr>
        <p:spPr>
          <a:xfrm>
            <a:off x="4800600" y="2966266"/>
            <a:ext cx="37033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GET /controles/dernier : 200, bilan du dernier chargement</a:t>
            </a:r>
          </a:p>
        </p:txBody>
      </p:sp>
      <p:sp>
        <p:nvSpPr>
          <p:cNvPr id="13" name="Rounded Rectangle 12"/>
          <p:cNvSpPr/>
          <p:nvPr/>
        </p:nvSpPr>
        <p:spPr>
          <a:xfrm>
            <a:off x="4800600" y="3291840"/>
            <a:ext cx="3703320" cy="13716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4937760" y="3401568"/>
            <a:ext cx="457200" cy="219456"/>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937760" y="3401568"/>
            <a:ext cx="457200" cy="219456"/>
          </a:xfrm>
          <a:prstGeom prst="rect">
            <a:avLst/>
          </a:prstGeom>
          <a:noFill/>
        </p:spPr>
        <p:txBody>
          <a:bodyPr wrap="square" lIns="0" tIns="0" rIns="0" bIns="0" anchor="ctr">
            <a:spAutoFit/>
          </a:bodyPr>
          <a:lstStyle/>
          <a:p>
            <a:pPr algn="ctr">
              <a:spcAft>
                <a:spcPts val="300"/>
              </a:spcAft>
            </a:pPr>
            <a:r>
              <a:rPr sz="850" b="1" i="0">
                <a:solidFill>
                  <a:srgbClr val="FFFFFF"/>
                </a:solidFill>
                <a:latin typeface="Inter"/>
              </a:rPr>
              <a:t>200</a:t>
            </a:r>
          </a:p>
        </p:txBody>
      </p:sp>
      <p:sp>
        <p:nvSpPr>
          <p:cNvPr id="16" name="TextBox 15"/>
          <p:cNvSpPr txBox="1"/>
          <p:nvPr/>
        </p:nvSpPr>
        <p:spPr>
          <a:xfrm>
            <a:off x="5486400" y="3383280"/>
            <a:ext cx="2926080" cy="256032"/>
          </a:xfrm>
          <a:prstGeom prst="rect">
            <a:avLst/>
          </a:prstGeom>
          <a:noFill/>
        </p:spPr>
        <p:txBody>
          <a:bodyPr wrap="square" lIns="0" tIns="0" rIns="0" bIns="0" anchor="ctr">
            <a:spAutoFit/>
          </a:bodyPr>
          <a:lstStyle/>
          <a:p>
            <a:pPr>
              <a:spcAft>
                <a:spcPts val="300"/>
              </a:spcAft>
            </a:pPr>
            <a:r>
              <a:rPr sz="1050" b="1" i="0">
                <a:solidFill>
                  <a:srgbClr val="17175A"/>
                </a:solidFill>
                <a:latin typeface="Courier New"/>
              </a:rPr>
              <a:t>GET /controles/dernier</a:t>
            </a:r>
          </a:p>
        </p:txBody>
      </p:sp>
      <p:sp>
        <p:nvSpPr>
          <p:cNvPr id="17" name="TextBox 16"/>
          <p:cNvSpPr txBox="1"/>
          <p:nvPr/>
        </p:nvSpPr>
        <p:spPr>
          <a:xfrm>
            <a:off x="4937760" y="3749039"/>
            <a:ext cx="3429000" cy="868680"/>
          </a:xfrm>
          <a:prstGeom prst="rect">
            <a:avLst/>
          </a:prstGeom>
          <a:noFill/>
        </p:spPr>
        <p:txBody>
          <a:bodyPr wrap="square" lIns="0" tIns="0" rIns="0" bIns="0" anchor="t">
            <a:spAutoFit/>
          </a:bodyPr>
          <a:lstStyle/>
          <a:p>
            <a:pPr>
              <a:spcAft>
                <a:spcPts val="300"/>
              </a:spcAft>
            </a:pPr>
            <a:r>
              <a:rPr sz="1000" b="0" i="0">
                <a:solidFill>
                  <a:srgbClr val="5A5A7A"/>
                </a:solidFill>
                <a:latin typeface="Inter"/>
              </a:rPr>
              <a:t>Identifiant d'exécution, fichier source, empreinte SHA-256, début et bilan chiffré du dernier chargement.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IV. API, tests et résultats</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d. Tests manuels : cas d'erreur</a:t>
            </a:r>
          </a:p>
        </p:txBody>
      </p:sp>
      <p:pic>
        <p:nvPicPr>
          <p:cNvPr id="4" name="Picture 3" descr="fig20_404.png"/>
          <p:cNvPicPr>
            <a:picLocks noChangeAspect="1"/>
          </p:cNvPicPr>
          <p:nvPr/>
        </p:nvPicPr>
        <p:blipFill>
          <a:blip r:embed="rId3"/>
          <a:stretch>
            <a:fillRect/>
          </a:stretch>
        </p:blipFill>
        <p:spPr>
          <a:xfrm>
            <a:off x="868680" y="1188720"/>
            <a:ext cx="3703320" cy="1520343"/>
          </a:xfrm>
          <a:prstGeom prst="rect">
            <a:avLst/>
          </a:prstGeom>
          <a:ln w="9525">
            <a:solidFill>
              <a:srgbClr val="D8D2A0"/>
            </a:solidFill>
          </a:ln>
        </p:spPr>
      </p:pic>
      <p:sp>
        <p:nvSpPr>
          <p:cNvPr id="5" name="TextBox 4"/>
          <p:cNvSpPr txBox="1"/>
          <p:nvPr/>
        </p:nvSpPr>
        <p:spPr>
          <a:xfrm>
            <a:off x="868680" y="2745639"/>
            <a:ext cx="37033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GET /produits/REFERENCE_INEXISTANTE : 404</a:t>
            </a:r>
          </a:p>
        </p:txBody>
      </p:sp>
      <p:sp>
        <p:nvSpPr>
          <p:cNvPr id="6" name="Rounded Rectangle 5"/>
          <p:cNvSpPr/>
          <p:nvPr/>
        </p:nvSpPr>
        <p:spPr>
          <a:xfrm>
            <a:off x="868680" y="3291840"/>
            <a:ext cx="3703320" cy="13716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1005839" y="3401568"/>
            <a:ext cx="457200" cy="219456"/>
          </a:xfrm>
          <a:prstGeom prst="roundRect">
            <a:avLst>
              <a:gd name="adj" fmla="val 50000"/>
            </a:avLst>
          </a:prstGeom>
          <a:solidFill>
            <a:srgbClr val="D9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05839" y="3401568"/>
            <a:ext cx="457200" cy="219456"/>
          </a:xfrm>
          <a:prstGeom prst="rect">
            <a:avLst/>
          </a:prstGeom>
          <a:noFill/>
        </p:spPr>
        <p:txBody>
          <a:bodyPr wrap="square" lIns="0" tIns="0" rIns="0" bIns="0" anchor="ctr">
            <a:spAutoFit/>
          </a:bodyPr>
          <a:lstStyle/>
          <a:p>
            <a:pPr algn="ctr">
              <a:spcAft>
                <a:spcPts val="300"/>
              </a:spcAft>
            </a:pPr>
            <a:r>
              <a:rPr sz="850" b="1" i="0">
                <a:solidFill>
                  <a:srgbClr val="FFFFFF"/>
                </a:solidFill>
                <a:latin typeface="Inter"/>
              </a:rPr>
              <a:t>404</a:t>
            </a:r>
          </a:p>
        </p:txBody>
      </p:sp>
      <p:sp>
        <p:nvSpPr>
          <p:cNvPr id="9" name="TextBox 8"/>
          <p:cNvSpPr txBox="1"/>
          <p:nvPr/>
        </p:nvSpPr>
        <p:spPr>
          <a:xfrm>
            <a:off x="1554480" y="3383280"/>
            <a:ext cx="2926080" cy="256032"/>
          </a:xfrm>
          <a:prstGeom prst="rect">
            <a:avLst/>
          </a:prstGeom>
          <a:noFill/>
        </p:spPr>
        <p:txBody>
          <a:bodyPr wrap="square" lIns="0" tIns="0" rIns="0" bIns="0" anchor="ctr">
            <a:spAutoFit/>
          </a:bodyPr>
          <a:lstStyle/>
          <a:p>
            <a:pPr>
              <a:spcAft>
                <a:spcPts val="300"/>
              </a:spcAft>
            </a:pPr>
            <a:r>
              <a:rPr sz="1050" b="1" i="0">
                <a:solidFill>
                  <a:srgbClr val="17175A"/>
                </a:solidFill>
                <a:latin typeface="Courier New"/>
              </a:rPr>
              <a:t>Produit introuvable</a:t>
            </a:r>
          </a:p>
        </p:txBody>
      </p:sp>
      <p:sp>
        <p:nvSpPr>
          <p:cNvPr id="10" name="TextBox 9"/>
          <p:cNvSpPr txBox="1"/>
          <p:nvPr/>
        </p:nvSpPr>
        <p:spPr>
          <a:xfrm>
            <a:off x="1005839" y="3749039"/>
            <a:ext cx="3429000" cy="868680"/>
          </a:xfrm>
          <a:prstGeom prst="rect">
            <a:avLst/>
          </a:prstGeom>
          <a:noFill/>
        </p:spPr>
        <p:txBody>
          <a:bodyPr wrap="square" lIns="0" tIns="0" rIns="0" bIns="0" anchor="t">
            <a:spAutoFit/>
          </a:bodyPr>
          <a:lstStyle/>
          <a:p>
            <a:pPr>
              <a:spcAft>
                <a:spcPts val="300"/>
              </a:spcAft>
            </a:pPr>
            <a:r>
              <a:rPr sz="1000" b="0" i="0">
                <a:solidFill>
                  <a:srgbClr val="5A5A7A"/>
                </a:solidFill>
                <a:latin typeface="Inter"/>
              </a:rPr>
              <a:t>Référence inconnue : message d'erreur JSON explicite. Le 503 (PostgreSQL coupé) est démontré dans le scénario de bout en bout.</a:t>
            </a:r>
          </a:p>
        </p:txBody>
      </p:sp>
      <p:pic>
        <p:nvPicPr>
          <p:cNvPr id="11" name="Picture 10" descr="fig21_400.png"/>
          <p:cNvPicPr>
            <a:picLocks noChangeAspect="1"/>
          </p:cNvPicPr>
          <p:nvPr/>
        </p:nvPicPr>
        <p:blipFill>
          <a:blip r:embed="rId4"/>
          <a:stretch>
            <a:fillRect/>
          </a:stretch>
        </p:blipFill>
        <p:spPr>
          <a:xfrm>
            <a:off x="4800600" y="1188720"/>
            <a:ext cx="3703320" cy="1319291"/>
          </a:xfrm>
          <a:prstGeom prst="rect">
            <a:avLst/>
          </a:prstGeom>
          <a:ln w="9525">
            <a:solidFill>
              <a:srgbClr val="D8D2A0"/>
            </a:solidFill>
          </a:ln>
        </p:spPr>
      </p:pic>
      <p:sp>
        <p:nvSpPr>
          <p:cNvPr id="12" name="TextBox 11"/>
          <p:cNvSpPr txBox="1"/>
          <p:nvPr/>
        </p:nvSpPr>
        <p:spPr>
          <a:xfrm>
            <a:off x="4800600" y="2544587"/>
            <a:ext cx="37033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GET /produits?page=0 : 400, page invalide</a:t>
            </a:r>
          </a:p>
        </p:txBody>
      </p:sp>
      <p:sp>
        <p:nvSpPr>
          <p:cNvPr id="13" name="Rounded Rectangle 12"/>
          <p:cNvSpPr/>
          <p:nvPr/>
        </p:nvSpPr>
        <p:spPr>
          <a:xfrm>
            <a:off x="4800600" y="3291840"/>
            <a:ext cx="3703320" cy="13716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4937760" y="3401568"/>
            <a:ext cx="457200" cy="219456"/>
          </a:xfrm>
          <a:prstGeom prst="roundRect">
            <a:avLst>
              <a:gd name="adj" fmla="val 50000"/>
            </a:avLst>
          </a:prstGeom>
          <a:solidFill>
            <a:srgbClr val="D93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937760" y="3401568"/>
            <a:ext cx="457200" cy="219456"/>
          </a:xfrm>
          <a:prstGeom prst="rect">
            <a:avLst/>
          </a:prstGeom>
          <a:noFill/>
        </p:spPr>
        <p:txBody>
          <a:bodyPr wrap="square" lIns="0" tIns="0" rIns="0" bIns="0" anchor="ctr">
            <a:spAutoFit/>
          </a:bodyPr>
          <a:lstStyle/>
          <a:p>
            <a:pPr algn="ctr">
              <a:spcAft>
                <a:spcPts val="300"/>
              </a:spcAft>
            </a:pPr>
            <a:r>
              <a:rPr sz="850" b="1" i="0">
                <a:solidFill>
                  <a:srgbClr val="FFFFFF"/>
                </a:solidFill>
                <a:latin typeface="Inter"/>
              </a:rPr>
              <a:t>400</a:t>
            </a:r>
          </a:p>
        </p:txBody>
      </p:sp>
      <p:sp>
        <p:nvSpPr>
          <p:cNvPr id="16" name="TextBox 15"/>
          <p:cNvSpPr txBox="1"/>
          <p:nvPr/>
        </p:nvSpPr>
        <p:spPr>
          <a:xfrm>
            <a:off x="5486400" y="3383280"/>
            <a:ext cx="2926080" cy="256032"/>
          </a:xfrm>
          <a:prstGeom prst="rect">
            <a:avLst/>
          </a:prstGeom>
          <a:noFill/>
        </p:spPr>
        <p:txBody>
          <a:bodyPr wrap="square" lIns="0" tIns="0" rIns="0" bIns="0" anchor="ctr">
            <a:spAutoFit/>
          </a:bodyPr>
          <a:lstStyle/>
          <a:p>
            <a:pPr>
              <a:spcAft>
                <a:spcPts val="300"/>
              </a:spcAft>
            </a:pPr>
            <a:r>
              <a:rPr sz="1050" b="1" i="0">
                <a:solidFill>
                  <a:srgbClr val="17175A"/>
                </a:solidFill>
                <a:latin typeface="Courier New"/>
              </a:rPr>
              <a:t>Pagination invalide</a:t>
            </a:r>
          </a:p>
        </p:txBody>
      </p:sp>
      <p:sp>
        <p:nvSpPr>
          <p:cNvPr id="17" name="TextBox 16"/>
          <p:cNvSpPr txBox="1"/>
          <p:nvPr/>
        </p:nvSpPr>
        <p:spPr>
          <a:xfrm>
            <a:off x="4937760" y="3749039"/>
            <a:ext cx="3429000" cy="868680"/>
          </a:xfrm>
          <a:prstGeom prst="rect">
            <a:avLst/>
          </a:prstGeom>
          <a:noFill/>
        </p:spPr>
        <p:txBody>
          <a:bodyPr wrap="square" lIns="0" tIns="0" rIns="0" bIns="0" anchor="t">
            <a:spAutoFit/>
          </a:bodyPr>
          <a:lstStyle/>
          <a:p>
            <a:pPr>
              <a:spcAft>
                <a:spcPts val="300"/>
              </a:spcAft>
            </a:pPr>
            <a:r>
              <a:rPr sz="1000" b="0" i="0">
                <a:solidFill>
                  <a:srgbClr val="5A5A7A"/>
                </a:solidFill>
                <a:latin typeface="Inter"/>
              </a:rPr>
              <a:t>page et limite doivent être des entiers positifs (pagination de 1 à 100) : sinon l'API répond 400.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IV. API, tests et résultats</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e. Tests automatisés Python : 11 tests</a:t>
            </a:r>
          </a:p>
        </p:txBody>
      </p:sp>
      <p:sp>
        <p:nvSpPr>
          <p:cNvPr id="4" name="Rounded Rectangle 3"/>
          <p:cNvSpPr/>
          <p:nvPr/>
        </p:nvSpPr>
        <p:spPr>
          <a:xfrm>
            <a:off x="868680" y="1188720"/>
            <a:ext cx="4023360" cy="11430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ounded Rectangle 4"/>
          <p:cNvSpPr/>
          <p:nvPr/>
        </p:nvSpPr>
        <p:spPr>
          <a:xfrm>
            <a:off x="1005840" y="1298448"/>
            <a:ext cx="594360" cy="219456"/>
          </a:xfrm>
          <a:prstGeom prst="roundRect">
            <a:avLst>
              <a:gd name="adj" fmla="val 50000"/>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005840" y="1298448"/>
            <a:ext cx="594360" cy="219456"/>
          </a:xfrm>
          <a:prstGeom prst="rect">
            <a:avLst/>
          </a:prstGeom>
          <a:noFill/>
        </p:spPr>
        <p:txBody>
          <a:bodyPr wrap="square" lIns="0" tIns="0" rIns="0" bIns="0" anchor="ctr">
            <a:spAutoFit/>
          </a:bodyPr>
          <a:lstStyle/>
          <a:p>
            <a:pPr algn="ctr">
              <a:spcAft>
                <a:spcPts val="300"/>
              </a:spcAft>
            </a:pPr>
            <a:r>
              <a:rPr sz="850" b="1" i="0">
                <a:solidFill>
                  <a:srgbClr val="17175A"/>
                </a:solidFill>
                <a:latin typeface="Inter"/>
              </a:rPr>
              <a:t>4 tests</a:t>
            </a:r>
          </a:p>
        </p:txBody>
      </p:sp>
      <p:sp>
        <p:nvSpPr>
          <p:cNvPr id="7" name="TextBox 6"/>
          <p:cNvSpPr txBox="1"/>
          <p:nvPr/>
        </p:nvSpPr>
        <p:spPr>
          <a:xfrm>
            <a:off x="1691640" y="1280160"/>
            <a:ext cx="3108960" cy="256032"/>
          </a:xfrm>
          <a:prstGeom prst="rect">
            <a:avLst/>
          </a:prstGeom>
          <a:noFill/>
        </p:spPr>
        <p:txBody>
          <a:bodyPr wrap="square" lIns="0" tIns="0" rIns="0" bIns="0" anchor="ctr">
            <a:spAutoFit/>
          </a:bodyPr>
          <a:lstStyle/>
          <a:p>
            <a:pPr>
              <a:spcAft>
                <a:spcPts val="300"/>
              </a:spcAft>
            </a:pPr>
            <a:r>
              <a:rPr sz="1150" b="1" i="0">
                <a:solidFill>
                  <a:srgbClr val="17175A"/>
                </a:solidFill>
                <a:latin typeface="Inter"/>
              </a:rPr>
              <a:t>Transformation</a:t>
            </a:r>
          </a:p>
        </p:txBody>
      </p:sp>
      <p:sp>
        <p:nvSpPr>
          <p:cNvPr id="8" name="TextBox 7"/>
          <p:cNvSpPr txBox="1"/>
          <p:nvPr/>
        </p:nvSpPr>
        <p:spPr>
          <a:xfrm>
            <a:off x="1005840" y="1600200"/>
            <a:ext cx="3749039" cy="6858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Doublon exact : un seul produit. Observation la plus récente conservée. À date égale, dernière ligne retenue. Cinq motifs de rejet comptés séparément.</a:t>
            </a:r>
          </a:p>
        </p:txBody>
      </p:sp>
      <p:sp>
        <p:nvSpPr>
          <p:cNvPr id="9" name="Rounded Rectangle 8"/>
          <p:cNvSpPr/>
          <p:nvPr/>
        </p:nvSpPr>
        <p:spPr>
          <a:xfrm>
            <a:off x="868680" y="2441448"/>
            <a:ext cx="4023360" cy="9144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1005840" y="2551176"/>
            <a:ext cx="594360" cy="219456"/>
          </a:xfrm>
          <a:prstGeom prst="roundRect">
            <a:avLst>
              <a:gd name="adj" fmla="val 50000"/>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05840" y="2551176"/>
            <a:ext cx="594360" cy="219456"/>
          </a:xfrm>
          <a:prstGeom prst="rect">
            <a:avLst/>
          </a:prstGeom>
          <a:noFill/>
        </p:spPr>
        <p:txBody>
          <a:bodyPr wrap="square" lIns="0" tIns="0" rIns="0" bIns="0" anchor="ctr">
            <a:spAutoFit/>
          </a:bodyPr>
          <a:lstStyle/>
          <a:p>
            <a:pPr algn="ctr">
              <a:spcAft>
                <a:spcPts val="300"/>
              </a:spcAft>
            </a:pPr>
            <a:r>
              <a:rPr sz="850" b="1" i="0">
                <a:solidFill>
                  <a:srgbClr val="17175A"/>
                </a:solidFill>
                <a:latin typeface="Inter"/>
              </a:rPr>
              <a:t>1 test</a:t>
            </a:r>
          </a:p>
        </p:txBody>
      </p:sp>
      <p:sp>
        <p:nvSpPr>
          <p:cNvPr id="12" name="TextBox 11"/>
          <p:cNvSpPr txBox="1"/>
          <p:nvPr/>
        </p:nvSpPr>
        <p:spPr>
          <a:xfrm>
            <a:off x="1691640" y="2532888"/>
            <a:ext cx="3108960" cy="256032"/>
          </a:xfrm>
          <a:prstGeom prst="rect">
            <a:avLst/>
          </a:prstGeom>
          <a:noFill/>
        </p:spPr>
        <p:txBody>
          <a:bodyPr wrap="square" lIns="0" tIns="0" rIns="0" bIns="0" anchor="ctr">
            <a:spAutoFit/>
          </a:bodyPr>
          <a:lstStyle/>
          <a:p>
            <a:pPr>
              <a:spcAft>
                <a:spcPts val="300"/>
              </a:spcAft>
            </a:pPr>
            <a:r>
              <a:rPr sz="1150" b="1" i="0">
                <a:solidFill>
                  <a:srgbClr val="17175A"/>
                </a:solidFill>
                <a:latin typeface="Inter"/>
              </a:rPr>
              <a:t>Chargement</a:t>
            </a:r>
          </a:p>
        </p:txBody>
      </p:sp>
      <p:sp>
        <p:nvSpPr>
          <p:cNvPr id="13" name="TextBox 12"/>
          <p:cNvSpPr txBox="1"/>
          <p:nvPr/>
        </p:nvSpPr>
        <p:spPr>
          <a:xfrm>
            <a:off x="1005840" y="2852928"/>
            <a:ext cx="3749039" cy="4572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Insertion, modification, relance inchangée (0/0), puis reprise sur le même execution_id : même résultat.</a:t>
            </a:r>
          </a:p>
        </p:txBody>
      </p:sp>
      <p:sp>
        <p:nvSpPr>
          <p:cNvPr id="14" name="Rounded Rectangle 13"/>
          <p:cNvSpPr/>
          <p:nvPr/>
        </p:nvSpPr>
        <p:spPr>
          <a:xfrm>
            <a:off x="868680" y="3465576"/>
            <a:ext cx="4023360" cy="11430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1005840" y="3575304"/>
            <a:ext cx="594360" cy="219456"/>
          </a:xfrm>
          <a:prstGeom prst="roundRect">
            <a:avLst>
              <a:gd name="adj" fmla="val 50000"/>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05840" y="3575304"/>
            <a:ext cx="594360" cy="219456"/>
          </a:xfrm>
          <a:prstGeom prst="rect">
            <a:avLst/>
          </a:prstGeom>
          <a:noFill/>
        </p:spPr>
        <p:txBody>
          <a:bodyPr wrap="square" lIns="0" tIns="0" rIns="0" bIns="0" anchor="ctr">
            <a:spAutoFit/>
          </a:bodyPr>
          <a:lstStyle/>
          <a:p>
            <a:pPr algn="ctr">
              <a:spcAft>
                <a:spcPts val="300"/>
              </a:spcAft>
            </a:pPr>
            <a:r>
              <a:rPr sz="850" b="1" i="0">
                <a:solidFill>
                  <a:srgbClr val="17175A"/>
                </a:solidFill>
                <a:latin typeface="Inter"/>
              </a:rPr>
              <a:t>6 tests</a:t>
            </a:r>
          </a:p>
        </p:txBody>
      </p:sp>
      <p:sp>
        <p:nvSpPr>
          <p:cNvPr id="17" name="TextBox 16"/>
          <p:cNvSpPr txBox="1"/>
          <p:nvPr/>
        </p:nvSpPr>
        <p:spPr>
          <a:xfrm>
            <a:off x="1691640" y="3557016"/>
            <a:ext cx="3108960" cy="256032"/>
          </a:xfrm>
          <a:prstGeom prst="rect">
            <a:avLst/>
          </a:prstGeom>
          <a:noFill/>
        </p:spPr>
        <p:txBody>
          <a:bodyPr wrap="square" lIns="0" tIns="0" rIns="0" bIns="0" anchor="ctr">
            <a:spAutoFit/>
          </a:bodyPr>
          <a:lstStyle/>
          <a:p>
            <a:pPr>
              <a:spcAft>
                <a:spcPts val="300"/>
              </a:spcAft>
            </a:pPr>
            <a:r>
              <a:rPr sz="1150" b="1" i="0">
                <a:solidFill>
                  <a:srgbClr val="17175A"/>
                </a:solidFill>
                <a:latin typeface="Inter"/>
              </a:rPr>
              <a:t>Classification des erreurs</a:t>
            </a:r>
          </a:p>
        </p:txBody>
      </p:sp>
      <p:sp>
        <p:nvSpPr>
          <p:cNvPr id="18" name="TextBox 17"/>
          <p:cNvSpPr txBox="1"/>
          <p:nvPr/>
        </p:nvSpPr>
        <p:spPr>
          <a:xfrm>
            <a:off x="1005840" y="3877056"/>
            <a:ext cx="3749039" cy="685800"/>
          </a:xfrm>
          <a:prstGeom prst="rect">
            <a:avLst/>
          </a:prstGeom>
          <a:noFill/>
        </p:spPr>
        <p:txBody>
          <a:bodyPr wrap="square" lIns="0" tIns="0" rIns="0" bIns="0" anchor="t">
            <a:spAutoFit/>
          </a:bodyPr>
          <a:lstStyle/>
          <a:p>
            <a:pPr>
              <a:spcAft>
                <a:spcPts val="300"/>
              </a:spcAft>
            </a:pPr>
            <a:r>
              <a:rPr sz="950" b="0" i="0">
                <a:solidFill>
                  <a:srgbClr val="5A5A7A"/>
                </a:solidFill>
                <a:latin typeface="Inter"/>
              </a:rPr>
              <a:t>Sans code SQLSTATE : transitoire. Classe 08, 57P01/02/03, 53300, 40001, 40P01 : rejouées. Contrainte 23505 et syntaxe 42601 : jamais rejouées.</a:t>
            </a:r>
          </a:p>
        </p:txBody>
      </p:sp>
      <p:sp>
        <p:nvSpPr>
          <p:cNvPr id="19" name="Rounded Rectangle 18"/>
          <p:cNvSpPr/>
          <p:nvPr/>
        </p:nvSpPr>
        <p:spPr>
          <a:xfrm>
            <a:off x="5120640" y="1188720"/>
            <a:ext cx="3383280" cy="36576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230368" y="1188720"/>
            <a:ext cx="3163824" cy="365760"/>
          </a:xfrm>
          <a:prstGeom prst="rect">
            <a:avLst/>
          </a:prstGeom>
          <a:noFill/>
        </p:spPr>
        <p:txBody>
          <a:bodyPr wrap="square" lIns="0" tIns="0" rIns="0" bIns="0" anchor="ctr">
            <a:spAutoFit/>
          </a:bodyPr>
          <a:lstStyle/>
          <a:p>
            <a:pPr>
              <a:spcAft>
                <a:spcPts val="100"/>
              </a:spcAft>
            </a:pPr>
            <a:r>
              <a:rPr sz="750" b="0" i="0">
                <a:solidFill>
                  <a:srgbClr val="FFFFFF"/>
                </a:solidFill>
                <a:latin typeface="Courier New"/>
              </a:rPr>
              <a:t>python -m unittest discover -s tests -p "test_*.py" -v</a:t>
            </a:r>
          </a:p>
        </p:txBody>
      </p:sp>
      <p:pic>
        <p:nvPicPr>
          <p:cNvPr id="21" name="Picture 20" descr="fig23_tests_py.png"/>
          <p:cNvPicPr>
            <a:picLocks noChangeAspect="1"/>
          </p:cNvPicPr>
          <p:nvPr/>
        </p:nvPicPr>
        <p:blipFill>
          <a:blip r:embed="rId3"/>
          <a:stretch>
            <a:fillRect/>
          </a:stretch>
        </p:blipFill>
        <p:spPr>
          <a:xfrm>
            <a:off x="5120640" y="1691640"/>
            <a:ext cx="3383280" cy="1715501"/>
          </a:xfrm>
          <a:prstGeom prst="rect">
            <a:avLst/>
          </a:prstGeom>
          <a:ln w="9525">
            <a:solidFill>
              <a:srgbClr val="D8D2A0"/>
            </a:solidFill>
          </a:ln>
        </p:spPr>
      </p:pic>
      <p:sp>
        <p:nvSpPr>
          <p:cNvPr id="22" name="TextBox 21"/>
          <p:cNvSpPr txBox="1"/>
          <p:nvPr/>
        </p:nvSpPr>
        <p:spPr>
          <a:xfrm>
            <a:off x="5120640" y="3443717"/>
            <a:ext cx="338328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Sortie verbeuse : but, entrée et sortie de chaque test</a:t>
            </a:r>
          </a:p>
        </p:txBody>
      </p:sp>
      <p:sp>
        <p:nvSpPr>
          <p:cNvPr id="23" name="Rounded Rectangle 22"/>
          <p:cNvSpPr/>
          <p:nvPr/>
        </p:nvSpPr>
        <p:spPr>
          <a:xfrm>
            <a:off x="5120640" y="3772901"/>
            <a:ext cx="3383280" cy="548640"/>
          </a:xfrm>
          <a:prstGeom prst="roundRect">
            <a:avLst>
              <a:gd name="adj" fmla="val 8000"/>
            </a:avLst>
          </a:prstGeom>
          <a:solidFill>
            <a:srgbClr val="DD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120640" y="3772901"/>
            <a:ext cx="3383280" cy="548640"/>
          </a:xfrm>
          <a:prstGeom prst="rect">
            <a:avLst/>
          </a:prstGeom>
          <a:noFill/>
        </p:spPr>
        <p:txBody>
          <a:bodyPr wrap="square" lIns="0" tIns="0" rIns="0" bIns="0" anchor="ctr">
            <a:spAutoFit/>
          </a:bodyPr>
          <a:lstStyle/>
          <a:p>
            <a:pPr algn="ctr">
              <a:spcAft>
                <a:spcPts val="300"/>
              </a:spcAft>
            </a:pPr>
            <a:r>
              <a:rPr sz="1100" b="1" i="0">
                <a:solidFill>
                  <a:srgbClr val="17175A"/>
                </a:solidFill>
                <a:latin typeface="Courier New"/>
              </a:rPr>
              <a:t>Ran 11 tests in 0.940 s · OK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IV. API, tests et résultats</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f. Tests de l'API et intégration continue</a:t>
            </a:r>
          </a:p>
        </p:txBody>
      </p:sp>
      <p:sp>
        <p:nvSpPr>
          <p:cNvPr id="4" name="Rounded Rectangle 3"/>
          <p:cNvSpPr/>
          <p:nvPr/>
        </p:nvSpPr>
        <p:spPr>
          <a:xfrm>
            <a:off x="868680" y="1188720"/>
            <a:ext cx="1737360" cy="502920"/>
          </a:xfrm>
          <a:prstGeom prst="roundRect">
            <a:avLst>
              <a:gd name="adj" fmla="val 10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78407" y="1188720"/>
            <a:ext cx="1517904" cy="502920"/>
          </a:xfrm>
          <a:prstGeom prst="rect">
            <a:avLst/>
          </a:prstGeom>
          <a:noFill/>
        </p:spPr>
        <p:txBody>
          <a:bodyPr wrap="square" lIns="0" tIns="0" rIns="0" bIns="0" anchor="ctr">
            <a:spAutoFit/>
          </a:bodyPr>
          <a:lstStyle/>
          <a:p>
            <a:pPr>
              <a:spcAft>
                <a:spcPts val="100"/>
              </a:spcAft>
            </a:pPr>
            <a:r>
              <a:rPr sz="900" b="0" i="0">
                <a:solidFill>
                  <a:srgbClr val="FFFFFF"/>
                </a:solidFill>
                <a:latin typeface="Courier New"/>
              </a:rPr>
              <a:t>cd api</a:t>
            </a:r>
          </a:p>
          <a:p>
            <a:pPr>
              <a:spcAft>
                <a:spcPts val="100"/>
              </a:spcAft>
            </a:pPr>
            <a:r>
              <a:rPr sz="900" b="0" i="0">
                <a:solidFill>
                  <a:srgbClr val="FFFFFF"/>
                </a:solidFill>
                <a:latin typeface="Courier New"/>
              </a:rPr>
              <a:t>npm test</a:t>
            </a:r>
          </a:p>
        </p:txBody>
      </p:sp>
      <p:pic>
        <p:nvPicPr>
          <p:cNvPr id="6" name="Picture 5" descr="fig24_tests_api.png"/>
          <p:cNvPicPr>
            <a:picLocks noChangeAspect="1"/>
          </p:cNvPicPr>
          <p:nvPr/>
        </p:nvPicPr>
        <p:blipFill>
          <a:blip r:embed="rId3"/>
          <a:stretch>
            <a:fillRect/>
          </a:stretch>
        </p:blipFill>
        <p:spPr>
          <a:xfrm>
            <a:off x="868680" y="1874519"/>
            <a:ext cx="3931920" cy="1514048"/>
          </a:xfrm>
          <a:prstGeom prst="rect">
            <a:avLst/>
          </a:prstGeom>
          <a:ln w="9525">
            <a:solidFill>
              <a:srgbClr val="D8D2A0"/>
            </a:solidFill>
          </a:ln>
        </p:spPr>
      </p:pic>
      <p:sp>
        <p:nvSpPr>
          <p:cNvPr id="7" name="TextBox 6"/>
          <p:cNvSpPr txBox="1"/>
          <p:nvPr/>
        </p:nvSpPr>
        <p:spPr>
          <a:xfrm>
            <a:off x="868680" y="3425144"/>
            <a:ext cx="3931920" cy="182880"/>
          </a:xfrm>
          <a:prstGeom prst="rect">
            <a:avLst/>
          </a:prstGeom>
          <a:noFill/>
        </p:spPr>
        <p:txBody>
          <a:bodyPr wrap="square" lIns="0" tIns="0" rIns="0" bIns="0" anchor="t">
            <a:spAutoFit/>
          </a:bodyPr>
          <a:lstStyle/>
          <a:p>
            <a:pPr>
              <a:spcAft>
                <a:spcPts val="300"/>
              </a:spcAft>
            </a:pPr>
            <a:r>
              <a:rPr sz="900" b="0" i="1">
                <a:solidFill>
                  <a:srgbClr val="5A5A7A"/>
                </a:solidFill>
                <a:latin typeface="Inter"/>
              </a:rPr>
              <a:t>node --test : 6 tests réussis, 0 échec</a:t>
            </a:r>
          </a:p>
        </p:txBody>
      </p:sp>
      <p:sp>
        <p:nvSpPr>
          <p:cNvPr id="8" name="Rounded Rectangle 7"/>
          <p:cNvSpPr/>
          <p:nvPr/>
        </p:nvSpPr>
        <p:spPr>
          <a:xfrm>
            <a:off x="5029200" y="1188720"/>
            <a:ext cx="3474720" cy="23317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166360" y="1280160"/>
            <a:ext cx="3200400" cy="256032"/>
          </a:xfrm>
          <a:prstGeom prst="rect">
            <a:avLst/>
          </a:prstGeom>
          <a:noFill/>
        </p:spPr>
        <p:txBody>
          <a:bodyPr wrap="square" lIns="0" tIns="0" rIns="0" bIns="0" anchor="t">
            <a:spAutoFit/>
          </a:bodyPr>
          <a:lstStyle/>
          <a:p>
            <a:pPr>
              <a:spcAft>
                <a:spcPts val="300"/>
              </a:spcAft>
            </a:pPr>
            <a:r>
              <a:rPr sz="1150" b="1" i="0">
                <a:solidFill>
                  <a:srgbClr val="17175A"/>
                </a:solidFill>
                <a:latin typeface="Inter"/>
              </a:rPr>
              <a:t>Ce que vérifient les 6 tests</a:t>
            </a:r>
          </a:p>
        </p:txBody>
      </p:sp>
      <p:sp>
        <p:nvSpPr>
          <p:cNvPr id="10" name="TextBox 9"/>
          <p:cNvSpPr txBox="1"/>
          <p:nvPr/>
        </p:nvSpPr>
        <p:spPr>
          <a:xfrm>
            <a:off x="5166360" y="1627632"/>
            <a:ext cx="3200400" cy="1874519"/>
          </a:xfrm>
          <a:prstGeom prst="rect">
            <a:avLst/>
          </a:prstGeom>
          <a:noFill/>
        </p:spPr>
        <p:txBody>
          <a:bodyPr wrap="square" lIns="0" tIns="0" rIns="0" bIns="0" anchor="t">
            <a:spAutoFit/>
          </a:bodyPr>
          <a:lstStyle/>
          <a:p>
            <a:pPr marL="171450" indent="-171450">
              <a:lnSpc>
                <a:spcPct val="105000"/>
              </a:lnSpc>
              <a:spcAft>
                <a:spcPts val="300"/>
              </a:spcAft>
              <a:buClr>
                <a:srgbClr val="FA9D02"/>
              </a:buClr>
              <a:buSzPct val="80000"/>
              <a:buFont typeface="Arial"/>
              <a:buChar char="●"/>
            </a:pPr>
            <a:r>
              <a:rPr sz="950" b="0" i="0">
                <a:solidFill>
                  <a:srgbClr val="17175A"/>
                </a:solidFill>
                <a:latin typeface="Inter"/>
              </a:rPr>
              <a:t>Connexion refusée : indisponibilité (503)</a:t>
            </a:r>
          </a:p>
          <a:p>
            <a:pPr marL="171450" indent="-171450">
              <a:lnSpc>
                <a:spcPct val="105000"/>
              </a:lnSpc>
              <a:spcAft>
                <a:spcPts val="300"/>
              </a:spcAft>
              <a:buClr>
                <a:srgbClr val="FA9D02"/>
              </a:buClr>
              <a:buSzPct val="80000"/>
              <a:buFont typeface="Arial"/>
              <a:buChar char="●"/>
            </a:pPr>
            <a:r>
              <a:rPr sz="950" b="0" i="0">
                <a:solidFill>
                  <a:srgbClr val="17175A"/>
                </a:solidFill>
                <a:latin typeface="Inter"/>
              </a:rPr>
              <a:t>Base en cours de redémarrage : indisponibilité</a:t>
            </a:r>
          </a:p>
          <a:p>
            <a:pPr marL="171450" indent="-171450">
              <a:lnSpc>
                <a:spcPct val="105000"/>
              </a:lnSpc>
              <a:spcAft>
                <a:spcPts val="300"/>
              </a:spcAft>
              <a:buClr>
                <a:srgbClr val="FA9D02"/>
              </a:buClr>
              <a:buSzPct val="80000"/>
              <a:buFont typeface="Arial"/>
              <a:buChar char="●"/>
            </a:pPr>
            <a:r>
              <a:rPr sz="950" b="0" i="0">
                <a:solidFill>
                  <a:srgbClr val="17175A"/>
                </a:solidFill>
                <a:latin typeface="Inter"/>
              </a:rPr>
              <a:t>Classe d'erreur 08xx : indisponibilité</a:t>
            </a:r>
          </a:p>
          <a:p>
            <a:pPr marL="171450" indent="-171450">
              <a:lnSpc>
                <a:spcPct val="105000"/>
              </a:lnSpc>
              <a:spcAft>
                <a:spcPts val="300"/>
              </a:spcAft>
              <a:buClr>
                <a:srgbClr val="FA9D02"/>
              </a:buClr>
              <a:buSzPct val="80000"/>
              <a:buFont typeface="Arial"/>
              <a:buChar char="●"/>
            </a:pPr>
            <a:r>
              <a:rPr sz="950" b="0" i="0">
                <a:solidFill>
                  <a:srgbClr val="17175A"/>
                </a:solidFill>
                <a:latin typeface="Inter"/>
              </a:rPr>
              <a:t>Message de timeout sans code : indisponibilité</a:t>
            </a:r>
          </a:p>
          <a:p>
            <a:pPr marL="171450" indent="-171450">
              <a:lnSpc>
                <a:spcPct val="105000"/>
              </a:lnSpc>
              <a:spcAft>
                <a:spcPts val="300"/>
              </a:spcAft>
              <a:buClr>
                <a:srgbClr val="FA9D02"/>
              </a:buClr>
              <a:buSzPct val="80000"/>
              <a:buFont typeface="Arial"/>
              <a:buChar char="●"/>
            </a:pPr>
            <a:r>
              <a:rPr sz="950" b="0" i="0">
                <a:solidFill>
                  <a:srgbClr val="17175A"/>
                </a:solidFill>
                <a:latin typeface="Inter"/>
              </a:rPr>
              <a:t>Contrainte violée : pas une indisponibilité (500)</a:t>
            </a:r>
          </a:p>
          <a:p>
            <a:pPr marL="171450" indent="-171450">
              <a:lnSpc>
                <a:spcPct val="105000"/>
              </a:lnSpc>
              <a:spcAft>
                <a:spcPts val="300"/>
              </a:spcAft>
              <a:buClr>
                <a:srgbClr val="FA9D02"/>
              </a:buClr>
              <a:buSzPct val="80000"/>
              <a:buFont typeface="Arial"/>
              <a:buChar char="●"/>
            </a:pPr>
            <a:r>
              <a:rPr sz="950" b="0" i="0">
                <a:solidFill>
                  <a:srgbClr val="17175A"/>
                </a:solidFill>
                <a:latin typeface="Inter"/>
              </a:rPr>
              <a:t>Erreur sans code ni message : pas une indisponibilité</a:t>
            </a:r>
          </a:p>
        </p:txBody>
      </p:sp>
      <p:sp>
        <p:nvSpPr>
          <p:cNvPr id="11" name="Rounded Rectangle 10"/>
          <p:cNvSpPr/>
          <p:nvPr/>
        </p:nvSpPr>
        <p:spPr>
          <a:xfrm>
            <a:off x="868680" y="3840480"/>
            <a:ext cx="7635240" cy="822960"/>
          </a:xfrm>
          <a:prstGeom prst="roundRect">
            <a:avLst>
              <a:gd name="adj" fmla="val 8000"/>
            </a:avLst>
          </a:prstGeom>
          <a:solidFill>
            <a:srgbClr val="171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1005840" y="3977639"/>
            <a:ext cx="548640" cy="548640"/>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FaGithub.png"/>
          <p:cNvPicPr>
            <a:picLocks noChangeAspect="1"/>
          </p:cNvPicPr>
          <p:nvPr/>
        </p:nvPicPr>
        <p:blipFill>
          <a:blip r:embed="rId4"/>
          <a:stretch>
            <a:fillRect/>
          </a:stretch>
        </p:blipFill>
        <p:spPr>
          <a:xfrm>
            <a:off x="1137513" y="4109313"/>
            <a:ext cx="285292" cy="285292"/>
          </a:xfrm>
          <a:prstGeom prst="rect">
            <a:avLst/>
          </a:prstGeom>
        </p:spPr>
      </p:pic>
      <p:sp>
        <p:nvSpPr>
          <p:cNvPr id="14" name="TextBox 13"/>
          <p:cNvSpPr txBox="1"/>
          <p:nvPr/>
        </p:nvSpPr>
        <p:spPr>
          <a:xfrm>
            <a:off x="1737360" y="3840480"/>
            <a:ext cx="6675120" cy="822960"/>
          </a:xfrm>
          <a:prstGeom prst="rect">
            <a:avLst/>
          </a:prstGeom>
          <a:noFill/>
        </p:spPr>
        <p:txBody>
          <a:bodyPr wrap="square" lIns="0" tIns="0" rIns="0" bIns="0" anchor="ctr">
            <a:spAutoFit/>
          </a:bodyPr>
          <a:lstStyle/>
          <a:p>
            <a:pPr>
              <a:spcAft>
                <a:spcPts val="300"/>
              </a:spcAft>
            </a:pPr>
            <a:r>
              <a:rPr sz="1000" b="1" i="0">
                <a:solidFill>
                  <a:srgbClr val="FCBD0E"/>
                </a:solidFill>
                <a:latin typeface="Inter"/>
              </a:rPr>
              <a:t>Intégration continue : </a:t>
            </a:r>
            <a:r>
              <a:rPr sz="1000" b="0" i="0">
                <a:solidFill>
                  <a:srgbClr val="FFFFFF"/>
                </a:solidFill>
                <a:latin typeface="Inter"/>
              </a:rPr>
              <a:t>.github/workflows/tests.yml rejoue les tests Python et API à chaque git push, avec un PostgreSQL de service : preuve que l'installation documentée fonctionne sur une machine neuve.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IV. API, tests et résultats</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g. Scénario de bout en bout</a:t>
            </a:r>
          </a:p>
        </p:txBody>
      </p:sp>
      <p:sp>
        <p:nvSpPr>
          <p:cNvPr id="4" name="Rounded Rectangle 3"/>
          <p:cNvSpPr/>
          <p:nvPr/>
        </p:nvSpPr>
        <p:spPr>
          <a:xfrm>
            <a:off x="868680" y="1280160"/>
            <a:ext cx="3749039" cy="9601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978407" y="1389888"/>
            <a:ext cx="347472" cy="347472"/>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78407" y="1389888"/>
            <a:ext cx="347472" cy="347472"/>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1</a:t>
            </a:r>
          </a:p>
        </p:txBody>
      </p:sp>
      <p:sp>
        <p:nvSpPr>
          <p:cNvPr id="7" name="TextBox 6"/>
          <p:cNvSpPr txBox="1"/>
          <p:nvPr/>
        </p:nvSpPr>
        <p:spPr>
          <a:xfrm>
            <a:off x="1435607" y="1353312"/>
            <a:ext cx="3108960" cy="548640"/>
          </a:xfrm>
          <a:prstGeom prst="rect">
            <a:avLst/>
          </a:prstGeom>
          <a:noFill/>
        </p:spPr>
        <p:txBody>
          <a:bodyPr wrap="square" lIns="0" tIns="0" rIns="0" bIns="0" anchor="t">
            <a:spAutoFit/>
          </a:bodyPr>
          <a:lstStyle/>
          <a:p>
            <a:pPr>
              <a:lnSpc>
                <a:spcPct val="105000"/>
              </a:lnSpc>
              <a:spcAft>
                <a:spcPts val="300"/>
              </a:spcAft>
            </a:pPr>
            <a:r>
              <a:rPr sz="1000" b="0" i="0">
                <a:solidFill>
                  <a:srgbClr val="17175A"/>
                </a:solidFill>
                <a:latin typeface="Inter"/>
              </a:rPr>
              <a:t>docker compose up -d, puis vérification avec pg_isready</a:t>
            </a:r>
          </a:p>
        </p:txBody>
      </p:sp>
      <p:sp>
        <p:nvSpPr>
          <p:cNvPr id="8" name="Rounded Rectangle 7"/>
          <p:cNvSpPr/>
          <p:nvPr/>
        </p:nvSpPr>
        <p:spPr>
          <a:xfrm>
            <a:off x="1435607" y="1938528"/>
            <a:ext cx="640080" cy="201168"/>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435607" y="1938528"/>
            <a:ext cx="640080" cy="201168"/>
          </a:xfrm>
          <a:prstGeom prst="rect">
            <a:avLst/>
          </a:prstGeom>
          <a:noFill/>
        </p:spPr>
        <p:txBody>
          <a:bodyPr wrap="square" lIns="0" tIns="0" rIns="0" bIns="0" anchor="ctr">
            <a:spAutoFit/>
          </a:bodyPr>
          <a:lstStyle/>
          <a:p>
            <a:pPr algn="ctr">
              <a:spcAft>
                <a:spcPts val="300"/>
              </a:spcAft>
            </a:pPr>
            <a:r>
              <a:rPr sz="800" b="1" i="0">
                <a:solidFill>
                  <a:srgbClr val="FFFFFF"/>
                </a:solidFill>
                <a:latin typeface="Inter"/>
              </a:rPr>
              <a:t>RÉUSSI</a:t>
            </a:r>
          </a:p>
        </p:txBody>
      </p:sp>
      <p:sp>
        <p:nvSpPr>
          <p:cNvPr id="10" name="Rounded Rectangle 9"/>
          <p:cNvSpPr/>
          <p:nvPr/>
        </p:nvSpPr>
        <p:spPr>
          <a:xfrm>
            <a:off x="868680" y="2377439"/>
            <a:ext cx="3749039" cy="9601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978407" y="2487168"/>
            <a:ext cx="347472" cy="347472"/>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78407" y="2487168"/>
            <a:ext cx="347472" cy="347472"/>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2</a:t>
            </a:r>
          </a:p>
        </p:txBody>
      </p:sp>
      <p:sp>
        <p:nvSpPr>
          <p:cNvPr id="13" name="TextBox 12"/>
          <p:cNvSpPr txBox="1"/>
          <p:nvPr/>
        </p:nvSpPr>
        <p:spPr>
          <a:xfrm>
            <a:off x="1435607" y="2450591"/>
            <a:ext cx="3108960" cy="548640"/>
          </a:xfrm>
          <a:prstGeom prst="rect">
            <a:avLst/>
          </a:prstGeom>
          <a:noFill/>
        </p:spPr>
        <p:txBody>
          <a:bodyPr wrap="square" lIns="0" tIns="0" rIns="0" bIns="0" anchor="t">
            <a:spAutoFit/>
          </a:bodyPr>
          <a:lstStyle/>
          <a:p>
            <a:pPr>
              <a:lnSpc>
                <a:spcPct val="105000"/>
              </a:lnSpc>
              <a:spcAft>
                <a:spcPts val="300"/>
              </a:spcAft>
            </a:pPr>
            <a:r>
              <a:rPr sz="1000" b="0" i="0">
                <a:solidFill>
                  <a:srgbClr val="17175A"/>
                </a:solidFill>
                <a:latin typeface="Inter"/>
              </a:rPr>
              <a:t>Démarrage de Dagster et lancement du job synchronisation_produits</a:t>
            </a:r>
          </a:p>
        </p:txBody>
      </p:sp>
      <p:sp>
        <p:nvSpPr>
          <p:cNvPr id="14" name="Rounded Rectangle 13"/>
          <p:cNvSpPr/>
          <p:nvPr/>
        </p:nvSpPr>
        <p:spPr>
          <a:xfrm>
            <a:off x="1435607" y="3035807"/>
            <a:ext cx="640080" cy="201168"/>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435607" y="3035807"/>
            <a:ext cx="640080" cy="201168"/>
          </a:xfrm>
          <a:prstGeom prst="rect">
            <a:avLst/>
          </a:prstGeom>
          <a:noFill/>
        </p:spPr>
        <p:txBody>
          <a:bodyPr wrap="square" lIns="0" tIns="0" rIns="0" bIns="0" anchor="ctr">
            <a:spAutoFit/>
          </a:bodyPr>
          <a:lstStyle/>
          <a:p>
            <a:pPr algn="ctr">
              <a:spcAft>
                <a:spcPts val="300"/>
              </a:spcAft>
            </a:pPr>
            <a:r>
              <a:rPr sz="800" b="1" i="0">
                <a:solidFill>
                  <a:srgbClr val="FFFFFF"/>
                </a:solidFill>
                <a:latin typeface="Inter"/>
              </a:rPr>
              <a:t>RÉUSSI</a:t>
            </a:r>
          </a:p>
        </p:txBody>
      </p:sp>
      <p:sp>
        <p:nvSpPr>
          <p:cNvPr id="16" name="Rounded Rectangle 15"/>
          <p:cNvSpPr/>
          <p:nvPr/>
        </p:nvSpPr>
        <p:spPr>
          <a:xfrm>
            <a:off x="868680" y="3474720"/>
            <a:ext cx="3749039" cy="9601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78407" y="3584448"/>
            <a:ext cx="347472" cy="347472"/>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78407" y="3584448"/>
            <a:ext cx="347472" cy="347472"/>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3</a:t>
            </a:r>
          </a:p>
        </p:txBody>
      </p:sp>
      <p:sp>
        <p:nvSpPr>
          <p:cNvPr id="19" name="TextBox 18"/>
          <p:cNvSpPr txBox="1"/>
          <p:nvPr/>
        </p:nvSpPr>
        <p:spPr>
          <a:xfrm>
            <a:off x="1435607" y="3547872"/>
            <a:ext cx="3108960" cy="548640"/>
          </a:xfrm>
          <a:prstGeom prst="rect">
            <a:avLst/>
          </a:prstGeom>
          <a:noFill/>
        </p:spPr>
        <p:txBody>
          <a:bodyPr wrap="square" lIns="0" tIns="0" rIns="0" bIns="0" anchor="t">
            <a:spAutoFit/>
          </a:bodyPr>
          <a:lstStyle/>
          <a:p>
            <a:pPr>
              <a:lnSpc>
                <a:spcPct val="105000"/>
              </a:lnSpc>
              <a:spcAft>
                <a:spcPts val="300"/>
              </a:spcAft>
            </a:pPr>
            <a:r>
              <a:rPr sz="1000" b="0" i="0">
                <a:solidFill>
                  <a:srgbClr val="17175A"/>
                </a:solidFill>
                <a:latin typeface="Inter"/>
              </a:rPr>
              <a:t>Lecture du bilan dans les logs Dagster : extraites, rejetées, insérées, modifiées, inchangées</a:t>
            </a:r>
          </a:p>
        </p:txBody>
      </p:sp>
      <p:sp>
        <p:nvSpPr>
          <p:cNvPr id="20" name="Rounded Rectangle 19"/>
          <p:cNvSpPr/>
          <p:nvPr/>
        </p:nvSpPr>
        <p:spPr>
          <a:xfrm>
            <a:off x="1435607" y="4133087"/>
            <a:ext cx="640080" cy="201168"/>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435607" y="4133087"/>
            <a:ext cx="640080" cy="201168"/>
          </a:xfrm>
          <a:prstGeom prst="rect">
            <a:avLst/>
          </a:prstGeom>
          <a:noFill/>
        </p:spPr>
        <p:txBody>
          <a:bodyPr wrap="square" lIns="0" tIns="0" rIns="0" bIns="0" anchor="ctr">
            <a:spAutoFit/>
          </a:bodyPr>
          <a:lstStyle/>
          <a:p>
            <a:pPr algn="ctr">
              <a:spcAft>
                <a:spcPts val="300"/>
              </a:spcAft>
            </a:pPr>
            <a:r>
              <a:rPr sz="800" b="1" i="0">
                <a:solidFill>
                  <a:srgbClr val="FFFFFF"/>
                </a:solidFill>
                <a:latin typeface="Inter"/>
              </a:rPr>
              <a:t>RÉUSSI</a:t>
            </a:r>
          </a:p>
        </p:txBody>
      </p:sp>
      <p:sp>
        <p:nvSpPr>
          <p:cNvPr id="22" name="Rounded Rectangle 21"/>
          <p:cNvSpPr/>
          <p:nvPr/>
        </p:nvSpPr>
        <p:spPr>
          <a:xfrm>
            <a:off x="4754880" y="1280160"/>
            <a:ext cx="3749039" cy="9601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4864608" y="1389888"/>
            <a:ext cx="347472" cy="347472"/>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864608" y="1389888"/>
            <a:ext cx="347472" cy="347472"/>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4</a:t>
            </a:r>
          </a:p>
        </p:txBody>
      </p:sp>
      <p:sp>
        <p:nvSpPr>
          <p:cNvPr id="25" name="TextBox 24"/>
          <p:cNvSpPr txBox="1"/>
          <p:nvPr/>
        </p:nvSpPr>
        <p:spPr>
          <a:xfrm>
            <a:off x="5321808" y="1353312"/>
            <a:ext cx="3108960" cy="548640"/>
          </a:xfrm>
          <a:prstGeom prst="rect">
            <a:avLst/>
          </a:prstGeom>
          <a:noFill/>
        </p:spPr>
        <p:txBody>
          <a:bodyPr wrap="square" lIns="0" tIns="0" rIns="0" bIns="0" anchor="t">
            <a:spAutoFit/>
          </a:bodyPr>
          <a:lstStyle/>
          <a:p>
            <a:pPr>
              <a:lnSpc>
                <a:spcPct val="105000"/>
              </a:lnSpc>
              <a:spcAft>
                <a:spcPts val="300"/>
              </a:spcAft>
            </a:pPr>
            <a:r>
              <a:rPr sz="1000" b="0" i="0">
                <a:solidFill>
                  <a:srgbClr val="17175A"/>
                </a:solidFill>
                <a:latin typeface="Inter"/>
              </a:rPr>
              <a:t>Démarrage de l'API : GET /controles/dernier puis GET /produits?page=1&amp;limite=5</a:t>
            </a:r>
          </a:p>
        </p:txBody>
      </p:sp>
      <p:sp>
        <p:nvSpPr>
          <p:cNvPr id="26" name="Rounded Rectangle 25"/>
          <p:cNvSpPr/>
          <p:nvPr/>
        </p:nvSpPr>
        <p:spPr>
          <a:xfrm>
            <a:off x="5321808" y="1938528"/>
            <a:ext cx="640080" cy="201168"/>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321808" y="1938528"/>
            <a:ext cx="640080" cy="201168"/>
          </a:xfrm>
          <a:prstGeom prst="rect">
            <a:avLst/>
          </a:prstGeom>
          <a:noFill/>
        </p:spPr>
        <p:txBody>
          <a:bodyPr wrap="square" lIns="0" tIns="0" rIns="0" bIns="0" anchor="ctr">
            <a:spAutoFit/>
          </a:bodyPr>
          <a:lstStyle/>
          <a:p>
            <a:pPr algn="ctr">
              <a:spcAft>
                <a:spcPts val="300"/>
              </a:spcAft>
            </a:pPr>
            <a:r>
              <a:rPr sz="800" b="1" i="0">
                <a:solidFill>
                  <a:srgbClr val="FFFFFF"/>
                </a:solidFill>
                <a:latin typeface="Inter"/>
              </a:rPr>
              <a:t>RÉUSSI</a:t>
            </a:r>
          </a:p>
        </p:txBody>
      </p:sp>
      <p:sp>
        <p:nvSpPr>
          <p:cNvPr id="28" name="Rounded Rectangle 27"/>
          <p:cNvSpPr/>
          <p:nvPr/>
        </p:nvSpPr>
        <p:spPr>
          <a:xfrm>
            <a:off x="4754880" y="2377439"/>
            <a:ext cx="3749039" cy="9601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4864608" y="2487168"/>
            <a:ext cx="347472" cy="347472"/>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864608" y="2487168"/>
            <a:ext cx="347472" cy="347472"/>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5</a:t>
            </a:r>
          </a:p>
        </p:txBody>
      </p:sp>
      <p:sp>
        <p:nvSpPr>
          <p:cNvPr id="31" name="TextBox 30"/>
          <p:cNvSpPr txBox="1"/>
          <p:nvPr/>
        </p:nvSpPr>
        <p:spPr>
          <a:xfrm>
            <a:off x="5321808" y="2450591"/>
            <a:ext cx="3108960" cy="548640"/>
          </a:xfrm>
          <a:prstGeom prst="rect">
            <a:avLst/>
          </a:prstGeom>
          <a:noFill/>
        </p:spPr>
        <p:txBody>
          <a:bodyPr wrap="square" lIns="0" tIns="0" rIns="0" bIns="0" anchor="t">
            <a:spAutoFit/>
          </a:bodyPr>
          <a:lstStyle/>
          <a:p>
            <a:pPr>
              <a:lnSpc>
                <a:spcPct val="105000"/>
              </a:lnSpc>
              <a:spcAft>
                <a:spcPts val="300"/>
              </a:spcAft>
            </a:pPr>
            <a:r>
              <a:rPr sz="1000" b="0" i="0">
                <a:solidFill>
                  <a:srgbClr val="17175A"/>
                </a:solidFill>
                <a:latin typeface="Inter"/>
              </a:rPr>
              <a:t>Relance du même job : 0 insertion, 0 modification (idempotence vérifiée)</a:t>
            </a:r>
          </a:p>
        </p:txBody>
      </p:sp>
      <p:sp>
        <p:nvSpPr>
          <p:cNvPr id="32" name="Rounded Rectangle 31"/>
          <p:cNvSpPr/>
          <p:nvPr/>
        </p:nvSpPr>
        <p:spPr>
          <a:xfrm>
            <a:off x="5321808" y="3035807"/>
            <a:ext cx="640080" cy="201168"/>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321808" y="3035807"/>
            <a:ext cx="640080" cy="201168"/>
          </a:xfrm>
          <a:prstGeom prst="rect">
            <a:avLst/>
          </a:prstGeom>
          <a:noFill/>
        </p:spPr>
        <p:txBody>
          <a:bodyPr wrap="square" lIns="0" tIns="0" rIns="0" bIns="0" anchor="ctr">
            <a:spAutoFit/>
          </a:bodyPr>
          <a:lstStyle/>
          <a:p>
            <a:pPr algn="ctr">
              <a:spcAft>
                <a:spcPts val="300"/>
              </a:spcAft>
            </a:pPr>
            <a:r>
              <a:rPr sz="800" b="1" i="0">
                <a:solidFill>
                  <a:srgbClr val="FFFFFF"/>
                </a:solidFill>
                <a:latin typeface="Inter"/>
              </a:rPr>
              <a:t>RÉUSSI</a:t>
            </a:r>
          </a:p>
        </p:txBody>
      </p:sp>
      <p:sp>
        <p:nvSpPr>
          <p:cNvPr id="34" name="Rounded Rectangle 33"/>
          <p:cNvSpPr/>
          <p:nvPr/>
        </p:nvSpPr>
        <p:spPr>
          <a:xfrm>
            <a:off x="4754880" y="3474720"/>
            <a:ext cx="3749039" cy="96012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4864608" y="3584448"/>
            <a:ext cx="347472" cy="347472"/>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864608" y="3584448"/>
            <a:ext cx="347472" cy="347472"/>
          </a:xfrm>
          <a:prstGeom prst="rect">
            <a:avLst/>
          </a:prstGeom>
          <a:noFill/>
        </p:spPr>
        <p:txBody>
          <a:bodyPr wrap="square" lIns="0" tIns="0" rIns="0" bIns="0" anchor="ctr">
            <a:spAutoFit/>
          </a:bodyPr>
          <a:lstStyle/>
          <a:p>
            <a:pPr algn="ctr">
              <a:spcAft>
                <a:spcPts val="300"/>
              </a:spcAft>
            </a:pPr>
            <a:r>
              <a:rPr sz="1100" b="1" i="0">
                <a:solidFill>
                  <a:srgbClr val="17175A"/>
                </a:solidFill>
                <a:latin typeface="Inter"/>
              </a:rPr>
              <a:t>6</a:t>
            </a:r>
          </a:p>
        </p:txBody>
      </p:sp>
      <p:sp>
        <p:nvSpPr>
          <p:cNvPr id="37" name="TextBox 36"/>
          <p:cNvSpPr txBox="1"/>
          <p:nvPr/>
        </p:nvSpPr>
        <p:spPr>
          <a:xfrm>
            <a:off x="5321808" y="3547872"/>
            <a:ext cx="3108960" cy="548640"/>
          </a:xfrm>
          <a:prstGeom prst="rect">
            <a:avLst/>
          </a:prstGeom>
          <a:noFill/>
        </p:spPr>
        <p:txBody>
          <a:bodyPr wrap="square" lIns="0" tIns="0" rIns="0" bIns="0" anchor="t">
            <a:spAutoFit/>
          </a:bodyPr>
          <a:lstStyle/>
          <a:p>
            <a:pPr>
              <a:lnSpc>
                <a:spcPct val="105000"/>
              </a:lnSpc>
              <a:spcAft>
                <a:spcPts val="300"/>
              </a:spcAft>
            </a:pPr>
            <a:r>
              <a:rPr sz="1000" b="0" i="0">
                <a:solidFill>
                  <a:srgbClr val="17175A"/>
                </a:solidFill>
                <a:latin typeface="Inter"/>
              </a:rPr>
              <a:t>docker compose stop postgres : GET /sante répond 503 ; après docker compose start postgres : 200</a:t>
            </a:r>
          </a:p>
        </p:txBody>
      </p:sp>
      <p:sp>
        <p:nvSpPr>
          <p:cNvPr id="38" name="Rounded Rectangle 37"/>
          <p:cNvSpPr/>
          <p:nvPr/>
        </p:nvSpPr>
        <p:spPr>
          <a:xfrm>
            <a:off x="5321808" y="4133087"/>
            <a:ext cx="640080" cy="201168"/>
          </a:xfrm>
          <a:prstGeom prst="roundRect">
            <a:avLst>
              <a:gd name="adj" fmla="val 50000"/>
            </a:avLst>
          </a:prstGeom>
          <a:solidFill>
            <a:srgbClr val="1FA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5321808" y="4133087"/>
            <a:ext cx="640080" cy="201168"/>
          </a:xfrm>
          <a:prstGeom prst="rect">
            <a:avLst/>
          </a:prstGeom>
          <a:noFill/>
        </p:spPr>
        <p:txBody>
          <a:bodyPr wrap="square" lIns="0" tIns="0" rIns="0" bIns="0" anchor="ctr">
            <a:spAutoFit/>
          </a:bodyPr>
          <a:lstStyle/>
          <a:p>
            <a:pPr algn="ctr">
              <a:spcAft>
                <a:spcPts val="300"/>
              </a:spcAft>
            </a:pPr>
            <a:r>
              <a:rPr sz="800" b="1" i="0">
                <a:solidFill>
                  <a:srgbClr val="FFFFFF"/>
                </a:solidFill>
                <a:latin typeface="Inter"/>
              </a:rPr>
              <a:t>RÉUSSI</a:t>
            </a:r>
          </a:p>
        </p:txBody>
      </p:sp>
      <p:sp>
        <p:nvSpPr>
          <p:cNvPr id="40" name="TextBox 39"/>
          <p:cNvSpPr txBox="1"/>
          <p:nvPr/>
        </p:nvSpPr>
        <p:spPr>
          <a:xfrm>
            <a:off x="868680" y="4617720"/>
            <a:ext cx="7635240" cy="274320"/>
          </a:xfrm>
          <a:prstGeom prst="rect">
            <a:avLst/>
          </a:prstGeom>
          <a:noFill/>
        </p:spPr>
        <p:txBody>
          <a:bodyPr wrap="square" lIns="0" tIns="0" rIns="0" bIns="0" anchor="t">
            <a:spAutoFit/>
          </a:bodyPr>
          <a:lstStyle/>
          <a:p>
            <a:pPr>
              <a:spcAft>
                <a:spcPts val="300"/>
              </a:spcAft>
            </a:pPr>
            <a:r>
              <a:rPr sz="900" b="0" i="1">
                <a:solidFill>
                  <a:srgbClr val="5A5A7A"/>
                </a:solidFill>
                <a:latin typeface="Inter"/>
              </a:rPr>
              <a:t>Le sujet exige un test de bout en bout de la chaîne principale : il est démontré ici avec les six étapes ci-dessus.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IV. API, tests et résultats</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h. Résultats obtenus</a:t>
            </a:r>
          </a:p>
        </p:txBody>
      </p:sp>
      <p:sp>
        <p:nvSpPr>
          <p:cNvPr id="4" name="Rounded Rectangle 3"/>
          <p:cNvSpPr/>
          <p:nvPr/>
        </p:nvSpPr>
        <p:spPr>
          <a:xfrm>
            <a:off x="868680" y="1280160"/>
            <a:ext cx="2194560" cy="16002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05839" y="1325880"/>
            <a:ext cx="1920240" cy="548640"/>
          </a:xfrm>
          <a:prstGeom prst="rect">
            <a:avLst/>
          </a:prstGeom>
          <a:noFill/>
        </p:spPr>
        <p:txBody>
          <a:bodyPr wrap="square" lIns="0" tIns="0" rIns="0" bIns="0" anchor="ctr">
            <a:spAutoFit/>
          </a:bodyPr>
          <a:lstStyle/>
          <a:p>
            <a:pPr>
              <a:spcAft>
                <a:spcPts val="300"/>
              </a:spcAft>
            </a:pPr>
            <a:r>
              <a:rPr sz="2400" b="1" i="0">
                <a:solidFill>
                  <a:srgbClr val="17175A"/>
                </a:solidFill>
                <a:latin typeface="Inter"/>
              </a:rPr>
              <a:t>542 009</a:t>
            </a:r>
          </a:p>
        </p:txBody>
      </p:sp>
      <p:sp>
        <p:nvSpPr>
          <p:cNvPr id="6" name="TextBox 5"/>
          <p:cNvSpPr txBox="1"/>
          <p:nvPr/>
        </p:nvSpPr>
        <p:spPr>
          <a:xfrm>
            <a:off x="1005839" y="1874519"/>
            <a:ext cx="1920240" cy="256032"/>
          </a:xfrm>
          <a:prstGeom prst="rect">
            <a:avLst/>
          </a:prstGeom>
          <a:noFill/>
        </p:spPr>
        <p:txBody>
          <a:bodyPr wrap="square" lIns="0" tIns="0" rIns="0" bIns="0" anchor="t">
            <a:spAutoFit/>
          </a:bodyPr>
          <a:lstStyle/>
          <a:p>
            <a:pPr>
              <a:spcAft>
                <a:spcPts val="300"/>
              </a:spcAft>
            </a:pPr>
            <a:r>
              <a:rPr sz="1150" b="1" i="0">
                <a:solidFill>
                  <a:srgbClr val="17175A"/>
                </a:solidFill>
                <a:latin typeface="Inter"/>
              </a:rPr>
              <a:t>lignes extraites</a:t>
            </a:r>
          </a:p>
        </p:txBody>
      </p:sp>
      <p:sp>
        <p:nvSpPr>
          <p:cNvPr id="7" name="TextBox 6"/>
          <p:cNvSpPr txBox="1"/>
          <p:nvPr/>
        </p:nvSpPr>
        <p:spPr>
          <a:xfrm>
            <a:off x="1005839" y="2176272"/>
            <a:ext cx="1920240" cy="685800"/>
          </a:xfrm>
          <a:prstGeom prst="rect">
            <a:avLst/>
          </a:prstGeom>
          <a:noFill/>
        </p:spPr>
        <p:txBody>
          <a:bodyPr wrap="square" lIns="0" tIns="0" rIns="0" bIns="0" anchor="t">
            <a:spAutoFit/>
          </a:bodyPr>
          <a:lstStyle/>
          <a:p>
            <a:pPr>
              <a:spcAft>
                <a:spcPts val="300"/>
              </a:spcAft>
            </a:pPr>
            <a:r>
              <a:rPr sz="900" b="0" i="0">
                <a:solidFill>
                  <a:srgbClr val="5A5A7A"/>
                </a:solidFill>
                <a:latin typeface="Inter"/>
              </a:rPr>
              <a:t>product_dataset.csv</a:t>
            </a:r>
          </a:p>
        </p:txBody>
      </p:sp>
      <p:cxnSp>
        <p:nvCxnSpPr>
          <p:cNvPr id="8" name="Connector 7"/>
          <p:cNvCxnSpPr/>
          <p:nvPr/>
        </p:nvCxnSpPr>
        <p:spPr>
          <a:xfrm>
            <a:off x="3108960" y="2075688"/>
            <a:ext cx="411479" cy="0"/>
          </a:xfrm>
          <a:prstGeom prst="line">
            <a:avLst/>
          </a:prstGeom>
          <a:ln w="25400">
            <a:solidFill>
              <a:srgbClr val="FA9D02"/>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566160" y="1280160"/>
            <a:ext cx="2194560" cy="16002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703320" y="1325880"/>
            <a:ext cx="1920240" cy="548640"/>
          </a:xfrm>
          <a:prstGeom prst="rect">
            <a:avLst/>
          </a:prstGeom>
          <a:noFill/>
        </p:spPr>
        <p:txBody>
          <a:bodyPr wrap="square" lIns="0" tIns="0" rIns="0" bIns="0" anchor="ctr">
            <a:spAutoFit/>
          </a:bodyPr>
          <a:lstStyle/>
          <a:p>
            <a:pPr>
              <a:spcAft>
                <a:spcPts val="300"/>
              </a:spcAft>
            </a:pPr>
            <a:r>
              <a:rPr sz="2400" b="1" i="0">
                <a:solidFill>
                  <a:srgbClr val="17175A"/>
                </a:solidFill>
                <a:latin typeface="Inter"/>
              </a:rPr>
              <a:t>540 453</a:t>
            </a:r>
          </a:p>
        </p:txBody>
      </p:sp>
      <p:sp>
        <p:nvSpPr>
          <p:cNvPr id="11" name="TextBox 10"/>
          <p:cNvSpPr txBox="1"/>
          <p:nvPr/>
        </p:nvSpPr>
        <p:spPr>
          <a:xfrm>
            <a:off x="3703320" y="1874519"/>
            <a:ext cx="1920240" cy="256032"/>
          </a:xfrm>
          <a:prstGeom prst="rect">
            <a:avLst/>
          </a:prstGeom>
          <a:noFill/>
        </p:spPr>
        <p:txBody>
          <a:bodyPr wrap="square" lIns="0" tIns="0" rIns="0" bIns="0" anchor="t">
            <a:spAutoFit/>
          </a:bodyPr>
          <a:lstStyle/>
          <a:p>
            <a:pPr>
              <a:spcAft>
                <a:spcPts val="300"/>
              </a:spcAft>
            </a:pPr>
            <a:r>
              <a:rPr sz="1150" b="1" i="0">
                <a:solidFill>
                  <a:srgbClr val="17175A"/>
                </a:solidFill>
                <a:latin typeface="Inter"/>
              </a:rPr>
              <a:t>lignes valides</a:t>
            </a:r>
          </a:p>
        </p:txBody>
      </p:sp>
      <p:sp>
        <p:nvSpPr>
          <p:cNvPr id="12" name="TextBox 11"/>
          <p:cNvSpPr txBox="1"/>
          <p:nvPr/>
        </p:nvSpPr>
        <p:spPr>
          <a:xfrm>
            <a:off x="3703320" y="2176272"/>
            <a:ext cx="1920240" cy="685800"/>
          </a:xfrm>
          <a:prstGeom prst="rect">
            <a:avLst/>
          </a:prstGeom>
          <a:noFill/>
        </p:spPr>
        <p:txBody>
          <a:bodyPr wrap="square" lIns="0" tIns="0" rIns="0" bIns="0" anchor="t">
            <a:spAutoFit/>
          </a:bodyPr>
          <a:lstStyle/>
          <a:p>
            <a:pPr>
              <a:spcAft>
                <a:spcPts val="300"/>
              </a:spcAft>
            </a:pPr>
            <a:r>
              <a:rPr sz="900" b="0" i="0">
                <a:solidFill>
                  <a:srgbClr val="5A5A7A"/>
                </a:solidFill>
                <a:latin typeface="Inter"/>
              </a:rPr>
              <a:t>1 556 rejetées, avec leur motif</a:t>
            </a:r>
          </a:p>
        </p:txBody>
      </p:sp>
      <p:cxnSp>
        <p:nvCxnSpPr>
          <p:cNvPr id="13" name="Connector 12"/>
          <p:cNvCxnSpPr/>
          <p:nvPr/>
        </p:nvCxnSpPr>
        <p:spPr>
          <a:xfrm>
            <a:off x="5806440" y="2075688"/>
            <a:ext cx="411480" cy="0"/>
          </a:xfrm>
          <a:prstGeom prst="line">
            <a:avLst/>
          </a:prstGeom>
          <a:ln w="25400">
            <a:solidFill>
              <a:srgbClr val="FA9D02"/>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63640" y="1280160"/>
            <a:ext cx="2194560" cy="16002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00800" y="1325880"/>
            <a:ext cx="1920240" cy="548640"/>
          </a:xfrm>
          <a:prstGeom prst="rect">
            <a:avLst/>
          </a:prstGeom>
          <a:noFill/>
        </p:spPr>
        <p:txBody>
          <a:bodyPr wrap="square" lIns="0" tIns="0" rIns="0" bIns="0" anchor="ctr">
            <a:spAutoFit/>
          </a:bodyPr>
          <a:lstStyle/>
          <a:p>
            <a:pPr>
              <a:spcAft>
                <a:spcPts val="300"/>
              </a:spcAft>
            </a:pPr>
            <a:r>
              <a:rPr sz="2400" b="1" i="0">
                <a:solidFill>
                  <a:srgbClr val="1FA58F"/>
                </a:solidFill>
                <a:latin typeface="Inter"/>
              </a:rPr>
              <a:t>3 958</a:t>
            </a:r>
          </a:p>
        </p:txBody>
      </p:sp>
      <p:sp>
        <p:nvSpPr>
          <p:cNvPr id="16" name="TextBox 15"/>
          <p:cNvSpPr txBox="1"/>
          <p:nvPr/>
        </p:nvSpPr>
        <p:spPr>
          <a:xfrm>
            <a:off x="6400800" y="1874519"/>
            <a:ext cx="1920240" cy="256032"/>
          </a:xfrm>
          <a:prstGeom prst="rect">
            <a:avLst/>
          </a:prstGeom>
          <a:noFill/>
        </p:spPr>
        <p:txBody>
          <a:bodyPr wrap="square" lIns="0" tIns="0" rIns="0" bIns="0" anchor="t">
            <a:spAutoFit/>
          </a:bodyPr>
          <a:lstStyle/>
          <a:p>
            <a:pPr>
              <a:spcAft>
                <a:spcPts val="300"/>
              </a:spcAft>
            </a:pPr>
            <a:r>
              <a:rPr sz="1150" b="1" i="0">
                <a:solidFill>
                  <a:srgbClr val="17175A"/>
                </a:solidFill>
                <a:latin typeface="Inter"/>
              </a:rPr>
              <a:t>produits retenus</a:t>
            </a:r>
          </a:p>
        </p:txBody>
      </p:sp>
      <p:sp>
        <p:nvSpPr>
          <p:cNvPr id="17" name="TextBox 16"/>
          <p:cNvSpPr txBox="1"/>
          <p:nvPr/>
        </p:nvSpPr>
        <p:spPr>
          <a:xfrm>
            <a:off x="6400800" y="2176272"/>
            <a:ext cx="1920240" cy="685800"/>
          </a:xfrm>
          <a:prstGeom prst="rect">
            <a:avLst/>
          </a:prstGeom>
          <a:noFill/>
        </p:spPr>
        <p:txBody>
          <a:bodyPr wrap="square" lIns="0" tIns="0" rIns="0" bIns="0" anchor="t">
            <a:spAutoFit/>
          </a:bodyPr>
          <a:lstStyle/>
          <a:p>
            <a:pPr>
              <a:spcAft>
                <a:spcPts val="300"/>
              </a:spcAft>
            </a:pPr>
            <a:r>
              <a:rPr sz="900" b="0" i="0">
                <a:solidFill>
                  <a:srgbClr val="5A5A7A"/>
                </a:solidFill>
                <a:latin typeface="Inter"/>
              </a:rPr>
              <a:t>dernière observation par produit (536 495 observations valides non retenues)</a:t>
            </a:r>
          </a:p>
        </p:txBody>
      </p:sp>
      <p:sp>
        <p:nvSpPr>
          <p:cNvPr id="18" name="Rounded Rectangle 17"/>
          <p:cNvSpPr/>
          <p:nvPr/>
        </p:nvSpPr>
        <p:spPr>
          <a:xfrm>
            <a:off x="868680" y="3108960"/>
            <a:ext cx="1783080" cy="1554480"/>
          </a:xfrm>
          <a:prstGeom prst="roundRect">
            <a:avLst>
              <a:gd name="adj" fmla="val 8000"/>
            </a:avLst>
          </a:prstGeom>
          <a:solidFill>
            <a:srgbClr val="FFFFFF"/>
          </a:solidFill>
          <a:ln w="19050">
            <a:solidFill>
              <a:srgbClr val="FCBD0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78407" y="3200400"/>
            <a:ext cx="1554480" cy="411480"/>
          </a:xfrm>
          <a:prstGeom prst="rect">
            <a:avLst/>
          </a:prstGeom>
          <a:noFill/>
        </p:spPr>
        <p:txBody>
          <a:bodyPr wrap="square" lIns="0" tIns="0" rIns="0" bIns="0" anchor="ctr">
            <a:spAutoFit/>
          </a:bodyPr>
          <a:lstStyle/>
          <a:p>
            <a:pPr>
              <a:spcAft>
                <a:spcPts val="300"/>
              </a:spcAft>
            </a:pPr>
            <a:r>
              <a:rPr sz="1400" b="1" i="0">
                <a:solidFill>
                  <a:srgbClr val="17175A"/>
                </a:solidFill>
                <a:latin typeface="Inter"/>
              </a:rPr>
              <a:t>0 · 0 · 3 958</a:t>
            </a:r>
          </a:p>
        </p:txBody>
      </p:sp>
      <p:sp>
        <p:nvSpPr>
          <p:cNvPr id="20" name="TextBox 19"/>
          <p:cNvSpPr txBox="1"/>
          <p:nvPr/>
        </p:nvSpPr>
        <p:spPr>
          <a:xfrm>
            <a:off x="978407" y="3657600"/>
            <a:ext cx="1554480" cy="960120"/>
          </a:xfrm>
          <a:prstGeom prst="rect">
            <a:avLst/>
          </a:prstGeom>
          <a:noFill/>
        </p:spPr>
        <p:txBody>
          <a:bodyPr wrap="square" lIns="0" tIns="0" rIns="0" bIns="0" anchor="t">
            <a:spAutoFit/>
          </a:bodyPr>
          <a:lstStyle/>
          <a:p>
            <a:pPr>
              <a:spcAft>
                <a:spcPts val="300"/>
              </a:spcAft>
            </a:pPr>
            <a:r>
              <a:rPr sz="950" b="0" i="0">
                <a:solidFill>
                  <a:srgbClr val="5A5A7A"/>
                </a:solidFill>
                <a:latin typeface="Inter"/>
              </a:rPr>
              <a:t>Relance : 0 insertion, 0 modification, 3 958 produits inchangés</a:t>
            </a:r>
          </a:p>
        </p:txBody>
      </p:sp>
      <p:sp>
        <p:nvSpPr>
          <p:cNvPr id="21" name="Rounded Rectangle 20"/>
          <p:cNvSpPr/>
          <p:nvPr/>
        </p:nvSpPr>
        <p:spPr>
          <a:xfrm>
            <a:off x="2788920" y="3108960"/>
            <a:ext cx="1783080" cy="1554480"/>
          </a:xfrm>
          <a:prstGeom prst="roundRect">
            <a:avLst>
              <a:gd name="adj" fmla="val 8000"/>
            </a:avLst>
          </a:prstGeom>
          <a:solidFill>
            <a:srgbClr val="FFFFFF"/>
          </a:solidFill>
          <a:ln w="19050">
            <a:solidFill>
              <a:srgbClr val="FC81F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2898648" y="3200400"/>
            <a:ext cx="1554480" cy="411480"/>
          </a:xfrm>
          <a:prstGeom prst="rect">
            <a:avLst/>
          </a:prstGeom>
          <a:noFill/>
        </p:spPr>
        <p:txBody>
          <a:bodyPr wrap="square" lIns="0" tIns="0" rIns="0" bIns="0" anchor="ctr">
            <a:spAutoFit/>
          </a:bodyPr>
          <a:lstStyle/>
          <a:p>
            <a:pPr>
              <a:spcAft>
                <a:spcPts val="300"/>
              </a:spcAft>
            </a:pPr>
            <a:r>
              <a:rPr sz="1400" b="1" i="0">
                <a:solidFill>
                  <a:srgbClr val="17175A"/>
                </a:solidFill>
                <a:latin typeface="Inter"/>
              </a:rPr>
              <a:t>6 / 6</a:t>
            </a:r>
          </a:p>
        </p:txBody>
      </p:sp>
      <p:sp>
        <p:nvSpPr>
          <p:cNvPr id="23" name="TextBox 22"/>
          <p:cNvSpPr txBox="1"/>
          <p:nvPr/>
        </p:nvSpPr>
        <p:spPr>
          <a:xfrm>
            <a:off x="2898648" y="3657600"/>
            <a:ext cx="1554480" cy="960120"/>
          </a:xfrm>
          <a:prstGeom prst="rect">
            <a:avLst/>
          </a:prstGeom>
          <a:noFill/>
        </p:spPr>
        <p:txBody>
          <a:bodyPr wrap="square" lIns="0" tIns="0" rIns="0" bIns="0" anchor="t">
            <a:spAutoFit/>
          </a:bodyPr>
          <a:lstStyle/>
          <a:p>
            <a:pPr>
              <a:spcAft>
                <a:spcPts val="300"/>
              </a:spcAft>
            </a:pPr>
            <a:r>
              <a:rPr sz="950" b="0" i="0">
                <a:solidFill>
                  <a:srgbClr val="5A5A7A"/>
                </a:solidFill>
                <a:latin typeface="Inter"/>
              </a:rPr>
              <a:t>motifs de rejet tous représentés dans le fichier réellement traité</a:t>
            </a:r>
          </a:p>
        </p:txBody>
      </p:sp>
      <p:sp>
        <p:nvSpPr>
          <p:cNvPr id="24" name="Rounded Rectangle 23"/>
          <p:cNvSpPr/>
          <p:nvPr/>
        </p:nvSpPr>
        <p:spPr>
          <a:xfrm>
            <a:off x="4709160" y="3108960"/>
            <a:ext cx="1783080" cy="1554480"/>
          </a:xfrm>
          <a:prstGeom prst="roundRect">
            <a:avLst>
              <a:gd name="adj" fmla="val 8000"/>
            </a:avLst>
          </a:prstGeom>
          <a:solidFill>
            <a:srgbClr val="FFFFFF"/>
          </a:solidFill>
          <a:ln w="19050">
            <a:solidFill>
              <a:srgbClr val="7CE1C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18888" y="3200400"/>
            <a:ext cx="1554480" cy="411480"/>
          </a:xfrm>
          <a:prstGeom prst="rect">
            <a:avLst/>
          </a:prstGeom>
          <a:noFill/>
        </p:spPr>
        <p:txBody>
          <a:bodyPr wrap="square" lIns="0" tIns="0" rIns="0" bIns="0" anchor="ctr">
            <a:spAutoFit/>
          </a:bodyPr>
          <a:lstStyle/>
          <a:p>
            <a:pPr>
              <a:spcAft>
                <a:spcPts val="300"/>
              </a:spcAft>
            </a:pPr>
            <a:r>
              <a:rPr sz="1400" b="1" i="0">
                <a:solidFill>
                  <a:srgbClr val="17175A"/>
                </a:solidFill>
                <a:latin typeface="Inter"/>
              </a:rPr>
              <a:t>17 tests</a:t>
            </a:r>
          </a:p>
        </p:txBody>
      </p:sp>
      <p:sp>
        <p:nvSpPr>
          <p:cNvPr id="26" name="TextBox 25"/>
          <p:cNvSpPr txBox="1"/>
          <p:nvPr/>
        </p:nvSpPr>
        <p:spPr>
          <a:xfrm>
            <a:off x="4818888" y="3657600"/>
            <a:ext cx="1554480" cy="960120"/>
          </a:xfrm>
          <a:prstGeom prst="rect">
            <a:avLst/>
          </a:prstGeom>
          <a:noFill/>
        </p:spPr>
        <p:txBody>
          <a:bodyPr wrap="square" lIns="0" tIns="0" rIns="0" bIns="0" anchor="t">
            <a:spAutoFit/>
          </a:bodyPr>
          <a:lstStyle/>
          <a:p>
            <a:pPr>
              <a:spcAft>
                <a:spcPts val="300"/>
              </a:spcAft>
            </a:pPr>
            <a:r>
              <a:rPr sz="950" b="0" i="0">
                <a:solidFill>
                  <a:srgbClr val="5A5A7A"/>
                </a:solidFill>
                <a:latin typeface="Inter"/>
              </a:rPr>
              <a:t>11 Python et 6 API, rejoués à chaque push</a:t>
            </a:r>
          </a:p>
        </p:txBody>
      </p:sp>
      <p:sp>
        <p:nvSpPr>
          <p:cNvPr id="27" name="Rounded Rectangle 26"/>
          <p:cNvSpPr/>
          <p:nvPr/>
        </p:nvSpPr>
        <p:spPr>
          <a:xfrm>
            <a:off x="6629400" y="3108960"/>
            <a:ext cx="1783080" cy="1554480"/>
          </a:xfrm>
          <a:prstGeom prst="roundRect">
            <a:avLst>
              <a:gd name="adj" fmla="val 8000"/>
            </a:avLst>
          </a:prstGeom>
          <a:solidFill>
            <a:srgbClr val="FFFFFF"/>
          </a:solidFill>
          <a:ln w="19050">
            <a:solidFill>
              <a:srgbClr val="6E6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739128" y="3200400"/>
            <a:ext cx="1554480" cy="411480"/>
          </a:xfrm>
          <a:prstGeom prst="rect">
            <a:avLst/>
          </a:prstGeom>
          <a:noFill/>
        </p:spPr>
        <p:txBody>
          <a:bodyPr wrap="square" lIns="0" tIns="0" rIns="0" bIns="0" anchor="ctr">
            <a:spAutoFit/>
          </a:bodyPr>
          <a:lstStyle/>
          <a:p>
            <a:pPr>
              <a:spcAft>
                <a:spcPts val="300"/>
              </a:spcAft>
            </a:pPr>
            <a:r>
              <a:rPr sz="1400" b="1" i="0">
                <a:solidFill>
                  <a:srgbClr val="17175A"/>
                </a:solidFill>
                <a:latin typeface="Inter"/>
              </a:rPr>
              <a:t>503 → 200</a:t>
            </a:r>
          </a:p>
        </p:txBody>
      </p:sp>
      <p:sp>
        <p:nvSpPr>
          <p:cNvPr id="29" name="TextBox 28"/>
          <p:cNvSpPr txBox="1"/>
          <p:nvPr/>
        </p:nvSpPr>
        <p:spPr>
          <a:xfrm>
            <a:off x="6739128" y="3657600"/>
            <a:ext cx="1554480" cy="960120"/>
          </a:xfrm>
          <a:prstGeom prst="rect">
            <a:avLst/>
          </a:prstGeom>
          <a:noFill/>
        </p:spPr>
        <p:txBody>
          <a:bodyPr wrap="square" lIns="0" tIns="0" rIns="0" bIns="0" anchor="t">
            <a:spAutoFit/>
          </a:bodyPr>
          <a:lstStyle/>
          <a:p>
            <a:pPr>
              <a:spcAft>
                <a:spcPts val="300"/>
              </a:spcAft>
            </a:pPr>
            <a:r>
              <a:rPr sz="950" b="0" i="0">
                <a:solidFill>
                  <a:srgbClr val="5A5A7A"/>
                </a:solidFill>
                <a:latin typeface="Inter"/>
              </a:rPr>
              <a:t>Coupure de PostgreSQL puis reprise : l'API répond sans redémarrage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IV. API, tests et résultats</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i. Dépannage : trois pièges documentés</a:t>
            </a:r>
          </a:p>
        </p:txBody>
      </p:sp>
      <p:sp>
        <p:nvSpPr>
          <p:cNvPr id="4" name="Rounded Rectangle 3"/>
          <p:cNvSpPr/>
          <p:nvPr/>
        </p:nvSpPr>
        <p:spPr>
          <a:xfrm>
            <a:off x="868680" y="1280160"/>
            <a:ext cx="2468880" cy="3383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05839" y="1389888"/>
            <a:ext cx="384048" cy="384048"/>
          </a:xfrm>
          <a:prstGeom prst="ellipse">
            <a:avLst/>
          </a:prstGeom>
          <a:solidFill>
            <a:srgbClr val="FCBD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aTools.png"/>
          <p:cNvPicPr>
            <a:picLocks noChangeAspect="1"/>
          </p:cNvPicPr>
          <p:nvPr/>
        </p:nvPicPr>
        <p:blipFill>
          <a:blip r:embed="rId3"/>
          <a:stretch>
            <a:fillRect/>
          </a:stretch>
        </p:blipFill>
        <p:spPr>
          <a:xfrm>
            <a:off x="1098011" y="1482059"/>
            <a:ext cx="199704" cy="199704"/>
          </a:xfrm>
          <a:prstGeom prst="rect">
            <a:avLst/>
          </a:prstGeom>
        </p:spPr>
      </p:pic>
      <p:sp>
        <p:nvSpPr>
          <p:cNvPr id="7" name="TextBox 6"/>
          <p:cNvSpPr txBox="1"/>
          <p:nvPr/>
        </p:nvSpPr>
        <p:spPr>
          <a:xfrm>
            <a:off x="1005839" y="1920240"/>
            <a:ext cx="2194560" cy="182880"/>
          </a:xfrm>
          <a:prstGeom prst="rect">
            <a:avLst/>
          </a:prstGeom>
          <a:noFill/>
        </p:spPr>
        <p:txBody>
          <a:bodyPr wrap="square" lIns="0" tIns="0" rIns="0" bIns="0" anchor="t">
            <a:spAutoFit/>
          </a:bodyPr>
          <a:lstStyle/>
          <a:p>
            <a:pPr>
              <a:spcAft>
                <a:spcPts val="300"/>
              </a:spcAft>
            </a:pPr>
            <a:r>
              <a:rPr sz="800" b="1" i="0">
                <a:solidFill>
                  <a:srgbClr val="D93F45"/>
                </a:solidFill>
                <a:latin typeface="Inter"/>
              </a:rPr>
              <a:t>SYMPTÔME</a:t>
            </a:r>
          </a:p>
        </p:txBody>
      </p:sp>
      <p:sp>
        <p:nvSpPr>
          <p:cNvPr id="8" name="TextBox 7"/>
          <p:cNvSpPr txBox="1"/>
          <p:nvPr/>
        </p:nvSpPr>
        <p:spPr>
          <a:xfrm>
            <a:off x="1005839" y="2121408"/>
            <a:ext cx="2194560" cy="685800"/>
          </a:xfrm>
          <a:prstGeom prst="rect">
            <a:avLst/>
          </a:prstGeom>
          <a:noFill/>
        </p:spPr>
        <p:txBody>
          <a:bodyPr wrap="square" lIns="0" tIns="0" rIns="0" bIns="0" anchor="t">
            <a:spAutoFit/>
          </a:bodyPr>
          <a:lstStyle/>
          <a:p>
            <a:pPr>
              <a:lnSpc>
                <a:spcPct val="105000"/>
              </a:lnSpc>
              <a:spcAft>
                <a:spcPts val="300"/>
              </a:spcAft>
            </a:pPr>
            <a:r>
              <a:rPr sz="1000" b="1" i="0">
                <a:solidFill>
                  <a:srgbClr val="17175A"/>
                </a:solidFill>
                <a:latin typeface="Inter"/>
              </a:rPr>
              <a:t>Mot de passe PostgreSQL refusé alors qu'il est correct dans .env</a:t>
            </a:r>
          </a:p>
        </p:txBody>
      </p:sp>
      <p:sp>
        <p:nvSpPr>
          <p:cNvPr id="9" name="TextBox 8"/>
          <p:cNvSpPr txBox="1"/>
          <p:nvPr/>
        </p:nvSpPr>
        <p:spPr>
          <a:xfrm>
            <a:off x="1005839" y="2834640"/>
            <a:ext cx="2194560" cy="182880"/>
          </a:xfrm>
          <a:prstGeom prst="rect">
            <a:avLst/>
          </a:prstGeom>
          <a:noFill/>
        </p:spPr>
        <p:txBody>
          <a:bodyPr wrap="square" lIns="0" tIns="0" rIns="0" bIns="0" anchor="t">
            <a:spAutoFit/>
          </a:bodyPr>
          <a:lstStyle/>
          <a:p>
            <a:pPr>
              <a:spcAft>
                <a:spcPts val="300"/>
              </a:spcAft>
            </a:pPr>
            <a:r>
              <a:rPr sz="800" b="1" i="0">
                <a:solidFill>
                  <a:srgbClr val="FA9D02"/>
                </a:solidFill>
                <a:latin typeface="Inter"/>
              </a:rPr>
              <a:t>CAUSE</a:t>
            </a:r>
          </a:p>
        </p:txBody>
      </p:sp>
      <p:sp>
        <p:nvSpPr>
          <p:cNvPr id="10" name="TextBox 9"/>
          <p:cNvSpPr txBox="1"/>
          <p:nvPr/>
        </p:nvSpPr>
        <p:spPr>
          <a:xfrm>
            <a:off x="1005839" y="3035808"/>
            <a:ext cx="2194560" cy="731520"/>
          </a:xfrm>
          <a:prstGeom prst="rect">
            <a:avLst/>
          </a:prstGeom>
          <a:noFill/>
        </p:spPr>
        <p:txBody>
          <a:bodyPr wrap="square" lIns="0" tIns="0" rIns="0" bIns="0" anchor="t">
            <a:spAutoFit/>
          </a:bodyPr>
          <a:lstStyle/>
          <a:p>
            <a:pPr>
              <a:lnSpc>
                <a:spcPct val="105000"/>
              </a:lnSpc>
              <a:spcAft>
                <a:spcPts val="300"/>
              </a:spcAft>
            </a:pPr>
            <a:r>
              <a:rPr sz="950" b="0" i="0">
                <a:solidFill>
                  <a:srgbClr val="5A5A7A"/>
                </a:solidFill>
                <a:latin typeface="Inter"/>
              </a:rPr>
              <a:t>Un autre PostgreSQL occupe le port 5432 et répond à la place du conteneur. Docker Compose ne le détecte pas.</a:t>
            </a:r>
          </a:p>
        </p:txBody>
      </p:sp>
      <p:sp>
        <p:nvSpPr>
          <p:cNvPr id="11" name="TextBox 10"/>
          <p:cNvSpPr txBox="1"/>
          <p:nvPr/>
        </p:nvSpPr>
        <p:spPr>
          <a:xfrm>
            <a:off x="1005839" y="3840480"/>
            <a:ext cx="2194560" cy="182880"/>
          </a:xfrm>
          <a:prstGeom prst="rect">
            <a:avLst/>
          </a:prstGeom>
          <a:noFill/>
        </p:spPr>
        <p:txBody>
          <a:bodyPr wrap="square" lIns="0" tIns="0" rIns="0" bIns="0" anchor="t">
            <a:spAutoFit/>
          </a:bodyPr>
          <a:lstStyle/>
          <a:p>
            <a:pPr>
              <a:spcAft>
                <a:spcPts val="300"/>
              </a:spcAft>
            </a:pPr>
            <a:r>
              <a:rPr sz="800" b="1" i="0">
                <a:solidFill>
                  <a:srgbClr val="1FA58F"/>
                </a:solidFill>
                <a:latin typeface="Inter"/>
              </a:rPr>
              <a:t>SOLUTION</a:t>
            </a:r>
          </a:p>
        </p:txBody>
      </p:sp>
      <p:sp>
        <p:nvSpPr>
          <p:cNvPr id="12" name="TextBox 11"/>
          <p:cNvSpPr txBox="1"/>
          <p:nvPr/>
        </p:nvSpPr>
        <p:spPr>
          <a:xfrm>
            <a:off x="1005839" y="4041648"/>
            <a:ext cx="2194560" cy="594360"/>
          </a:xfrm>
          <a:prstGeom prst="rect">
            <a:avLst/>
          </a:prstGeom>
          <a:noFill/>
        </p:spPr>
        <p:txBody>
          <a:bodyPr wrap="square" lIns="0" tIns="0" rIns="0" bIns="0" anchor="t">
            <a:spAutoFit/>
          </a:bodyPr>
          <a:lstStyle/>
          <a:p>
            <a:pPr>
              <a:lnSpc>
                <a:spcPct val="105000"/>
              </a:lnSpc>
              <a:spcAft>
                <a:spcPts val="300"/>
              </a:spcAft>
            </a:pPr>
            <a:r>
              <a:rPr sz="950" b="0" i="0">
                <a:solidFill>
                  <a:srgbClr val="17175A"/>
                </a:solidFill>
                <a:latin typeface="Inter"/>
              </a:rPr>
              <a:t>Vérifier le port avant de démarrer ; sinon changer PGPORT dans .env.</a:t>
            </a:r>
          </a:p>
        </p:txBody>
      </p:sp>
      <p:sp>
        <p:nvSpPr>
          <p:cNvPr id="13" name="Rounded Rectangle 12"/>
          <p:cNvSpPr/>
          <p:nvPr/>
        </p:nvSpPr>
        <p:spPr>
          <a:xfrm>
            <a:off x="3447287" y="1280160"/>
            <a:ext cx="2468880" cy="3383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3584447" y="1389888"/>
            <a:ext cx="384048" cy="384048"/>
          </a:xfrm>
          <a:prstGeom prst="ellipse">
            <a:avLst/>
          </a:prstGeom>
          <a:solidFill>
            <a:srgbClr val="FC8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FaTools.png"/>
          <p:cNvPicPr>
            <a:picLocks noChangeAspect="1"/>
          </p:cNvPicPr>
          <p:nvPr/>
        </p:nvPicPr>
        <p:blipFill>
          <a:blip r:embed="rId3"/>
          <a:stretch>
            <a:fillRect/>
          </a:stretch>
        </p:blipFill>
        <p:spPr>
          <a:xfrm>
            <a:off x="3676619" y="1482059"/>
            <a:ext cx="199704" cy="199704"/>
          </a:xfrm>
          <a:prstGeom prst="rect">
            <a:avLst/>
          </a:prstGeom>
        </p:spPr>
      </p:pic>
      <p:sp>
        <p:nvSpPr>
          <p:cNvPr id="16" name="TextBox 15"/>
          <p:cNvSpPr txBox="1"/>
          <p:nvPr/>
        </p:nvSpPr>
        <p:spPr>
          <a:xfrm>
            <a:off x="3584447" y="1920240"/>
            <a:ext cx="2194560" cy="182880"/>
          </a:xfrm>
          <a:prstGeom prst="rect">
            <a:avLst/>
          </a:prstGeom>
          <a:noFill/>
        </p:spPr>
        <p:txBody>
          <a:bodyPr wrap="square" lIns="0" tIns="0" rIns="0" bIns="0" anchor="t">
            <a:spAutoFit/>
          </a:bodyPr>
          <a:lstStyle/>
          <a:p>
            <a:pPr>
              <a:spcAft>
                <a:spcPts val="300"/>
              </a:spcAft>
            </a:pPr>
            <a:r>
              <a:rPr sz="800" b="1" i="0">
                <a:solidFill>
                  <a:srgbClr val="D93F45"/>
                </a:solidFill>
                <a:latin typeface="Inter"/>
              </a:rPr>
              <a:t>SYMPTÔME</a:t>
            </a:r>
          </a:p>
        </p:txBody>
      </p:sp>
      <p:sp>
        <p:nvSpPr>
          <p:cNvPr id="17" name="TextBox 16"/>
          <p:cNvSpPr txBox="1"/>
          <p:nvPr/>
        </p:nvSpPr>
        <p:spPr>
          <a:xfrm>
            <a:off x="3584447" y="2121408"/>
            <a:ext cx="2194560" cy="685800"/>
          </a:xfrm>
          <a:prstGeom prst="rect">
            <a:avLst/>
          </a:prstGeom>
          <a:noFill/>
        </p:spPr>
        <p:txBody>
          <a:bodyPr wrap="square" lIns="0" tIns="0" rIns="0" bIns="0" anchor="t">
            <a:spAutoFit/>
          </a:bodyPr>
          <a:lstStyle/>
          <a:p>
            <a:pPr>
              <a:lnSpc>
                <a:spcPct val="105000"/>
              </a:lnSpc>
              <a:spcAft>
                <a:spcPts val="300"/>
              </a:spcAft>
            </a:pPr>
            <a:r>
              <a:rPr sz="1000" b="1" i="0">
                <a:solidFill>
                  <a:srgbClr val="17175A"/>
                </a:solidFill>
                <a:latin typeface="Inter"/>
              </a:rPr>
              <a:t>Mot de passe modifié dans .env, l'erreur persiste</a:t>
            </a:r>
          </a:p>
        </p:txBody>
      </p:sp>
      <p:sp>
        <p:nvSpPr>
          <p:cNvPr id="18" name="TextBox 17"/>
          <p:cNvSpPr txBox="1"/>
          <p:nvPr/>
        </p:nvSpPr>
        <p:spPr>
          <a:xfrm>
            <a:off x="3584447" y="2834640"/>
            <a:ext cx="2194560" cy="182880"/>
          </a:xfrm>
          <a:prstGeom prst="rect">
            <a:avLst/>
          </a:prstGeom>
          <a:noFill/>
        </p:spPr>
        <p:txBody>
          <a:bodyPr wrap="square" lIns="0" tIns="0" rIns="0" bIns="0" anchor="t">
            <a:spAutoFit/>
          </a:bodyPr>
          <a:lstStyle/>
          <a:p>
            <a:pPr>
              <a:spcAft>
                <a:spcPts val="300"/>
              </a:spcAft>
            </a:pPr>
            <a:r>
              <a:rPr sz="800" b="1" i="0">
                <a:solidFill>
                  <a:srgbClr val="FA9D02"/>
                </a:solidFill>
                <a:latin typeface="Inter"/>
              </a:rPr>
              <a:t>CAUSE</a:t>
            </a:r>
          </a:p>
        </p:txBody>
      </p:sp>
      <p:sp>
        <p:nvSpPr>
          <p:cNvPr id="19" name="TextBox 18"/>
          <p:cNvSpPr txBox="1"/>
          <p:nvPr/>
        </p:nvSpPr>
        <p:spPr>
          <a:xfrm>
            <a:off x="3584447" y="3035808"/>
            <a:ext cx="2194560" cy="731520"/>
          </a:xfrm>
          <a:prstGeom prst="rect">
            <a:avLst/>
          </a:prstGeom>
          <a:noFill/>
        </p:spPr>
        <p:txBody>
          <a:bodyPr wrap="square" lIns="0" tIns="0" rIns="0" bIns="0" anchor="t">
            <a:spAutoFit/>
          </a:bodyPr>
          <a:lstStyle/>
          <a:p>
            <a:pPr>
              <a:lnSpc>
                <a:spcPct val="105000"/>
              </a:lnSpc>
              <a:spcAft>
                <a:spcPts val="300"/>
              </a:spcAft>
            </a:pPr>
            <a:r>
              <a:rPr sz="950" b="0" i="0">
                <a:solidFill>
                  <a:srgbClr val="5A5A7A"/>
                </a:solidFill>
                <a:latin typeface="Inter"/>
              </a:rPr>
              <a:t>Le mot de passe n'est appliqué qu'à la première création du volume pgdata.</a:t>
            </a:r>
          </a:p>
        </p:txBody>
      </p:sp>
      <p:sp>
        <p:nvSpPr>
          <p:cNvPr id="20" name="TextBox 19"/>
          <p:cNvSpPr txBox="1"/>
          <p:nvPr/>
        </p:nvSpPr>
        <p:spPr>
          <a:xfrm>
            <a:off x="3584447" y="3840480"/>
            <a:ext cx="2194560" cy="182880"/>
          </a:xfrm>
          <a:prstGeom prst="rect">
            <a:avLst/>
          </a:prstGeom>
          <a:noFill/>
        </p:spPr>
        <p:txBody>
          <a:bodyPr wrap="square" lIns="0" tIns="0" rIns="0" bIns="0" anchor="t">
            <a:spAutoFit/>
          </a:bodyPr>
          <a:lstStyle/>
          <a:p>
            <a:pPr>
              <a:spcAft>
                <a:spcPts val="300"/>
              </a:spcAft>
            </a:pPr>
            <a:r>
              <a:rPr sz="800" b="1" i="0">
                <a:solidFill>
                  <a:srgbClr val="1FA58F"/>
                </a:solidFill>
                <a:latin typeface="Inter"/>
              </a:rPr>
              <a:t>SOLUTION</a:t>
            </a:r>
          </a:p>
        </p:txBody>
      </p:sp>
      <p:sp>
        <p:nvSpPr>
          <p:cNvPr id="21" name="TextBox 20"/>
          <p:cNvSpPr txBox="1"/>
          <p:nvPr/>
        </p:nvSpPr>
        <p:spPr>
          <a:xfrm>
            <a:off x="3584447" y="4041648"/>
            <a:ext cx="2194560" cy="594360"/>
          </a:xfrm>
          <a:prstGeom prst="rect">
            <a:avLst/>
          </a:prstGeom>
          <a:noFill/>
        </p:spPr>
        <p:txBody>
          <a:bodyPr wrap="square" lIns="0" tIns="0" rIns="0" bIns="0" anchor="t">
            <a:spAutoFit/>
          </a:bodyPr>
          <a:lstStyle/>
          <a:p>
            <a:pPr>
              <a:lnSpc>
                <a:spcPct val="105000"/>
              </a:lnSpc>
              <a:spcAft>
                <a:spcPts val="300"/>
              </a:spcAft>
            </a:pPr>
            <a:r>
              <a:rPr sz="950" b="0" i="0">
                <a:solidFill>
                  <a:srgbClr val="17175A"/>
                </a:solidFill>
                <a:latin typeface="Inter"/>
              </a:rPr>
              <a:t>docker compose down -v puis docker compose up -d (le volume, donc les données, est recréé).</a:t>
            </a:r>
          </a:p>
        </p:txBody>
      </p:sp>
      <p:sp>
        <p:nvSpPr>
          <p:cNvPr id="22" name="Rounded Rectangle 21"/>
          <p:cNvSpPr/>
          <p:nvPr/>
        </p:nvSpPr>
        <p:spPr>
          <a:xfrm>
            <a:off x="6025896" y="1280160"/>
            <a:ext cx="2468880" cy="3383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6163056" y="1389888"/>
            <a:ext cx="384048" cy="384048"/>
          </a:xfrm>
          <a:prstGeom prst="ellipse">
            <a:avLst/>
          </a:prstGeom>
          <a:solidFill>
            <a:srgbClr val="7CE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FaTools.png"/>
          <p:cNvPicPr>
            <a:picLocks noChangeAspect="1"/>
          </p:cNvPicPr>
          <p:nvPr/>
        </p:nvPicPr>
        <p:blipFill>
          <a:blip r:embed="rId3"/>
          <a:stretch>
            <a:fillRect/>
          </a:stretch>
        </p:blipFill>
        <p:spPr>
          <a:xfrm>
            <a:off x="6255227" y="1482059"/>
            <a:ext cx="199704" cy="199704"/>
          </a:xfrm>
          <a:prstGeom prst="rect">
            <a:avLst/>
          </a:prstGeom>
        </p:spPr>
      </p:pic>
      <p:sp>
        <p:nvSpPr>
          <p:cNvPr id="25" name="TextBox 24"/>
          <p:cNvSpPr txBox="1"/>
          <p:nvPr/>
        </p:nvSpPr>
        <p:spPr>
          <a:xfrm>
            <a:off x="6163056" y="1920240"/>
            <a:ext cx="2194560" cy="182880"/>
          </a:xfrm>
          <a:prstGeom prst="rect">
            <a:avLst/>
          </a:prstGeom>
          <a:noFill/>
        </p:spPr>
        <p:txBody>
          <a:bodyPr wrap="square" lIns="0" tIns="0" rIns="0" bIns="0" anchor="t">
            <a:spAutoFit/>
          </a:bodyPr>
          <a:lstStyle/>
          <a:p>
            <a:pPr>
              <a:spcAft>
                <a:spcPts val="300"/>
              </a:spcAft>
            </a:pPr>
            <a:r>
              <a:rPr sz="800" b="1" i="0">
                <a:solidFill>
                  <a:srgbClr val="D93F45"/>
                </a:solidFill>
                <a:latin typeface="Inter"/>
              </a:rPr>
              <a:t>SYMPTÔME</a:t>
            </a:r>
          </a:p>
        </p:txBody>
      </p:sp>
      <p:sp>
        <p:nvSpPr>
          <p:cNvPr id="26" name="TextBox 25"/>
          <p:cNvSpPr txBox="1"/>
          <p:nvPr/>
        </p:nvSpPr>
        <p:spPr>
          <a:xfrm>
            <a:off x="6163056" y="2121408"/>
            <a:ext cx="2194560" cy="685800"/>
          </a:xfrm>
          <a:prstGeom prst="rect">
            <a:avLst/>
          </a:prstGeom>
          <a:noFill/>
        </p:spPr>
        <p:txBody>
          <a:bodyPr wrap="square" lIns="0" tIns="0" rIns="0" bIns="0" anchor="t">
            <a:spAutoFit/>
          </a:bodyPr>
          <a:lstStyle/>
          <a:p>
            <a:pPr>
              <a:lnSpc>
                <a:spcPct val="105000"/>
              </a:lnSpc>
              <a:spcAft>
                <a:spcPts val="300"/>
              </a:spcAft>
            </a:pPr>
            <a:r>
              <a:rPr sz="1000" b="1" i="0">
                <a:solidFill>
                  <a:srgbClr val="17175A"/>
                </a:solidFill>
                <a:latin typeface="Inter"/>
              </a:rPr>
              <a:t>Cannot find module 'express' au démarrage de l'API</a:t>
            </a:r>
          </a:p>
        </p:txBody>
      </p:sp>
      <p:sp>
        <p:nvSpPr>
          <p:cNvPr id="27" name="TextBox 26"/>
          <p:cNvSpPr txBox="1"/>
          <p:nvPr/>
        </p:nvSpPr>
        <p:spPr>
          <a:xfrm>
            <a:off x="6163056" y="2834640"/>
            <a:ext cx="2194560" cy="182880"/>
          </a:xfrm>
          <a:prstGeom prst="rect">
            <a:avLst/>
          </a:prstGeom>
          <a:noFill/>
        </p:spPr>
        <p:txBody>
          <a:bodyPr wrap="square" lIns="0" tIns="0" rIns="0" bIns="0" anchor="t">
            <a:spAutoFit/>
          </a:bodyPr>
          <a:lstStyle/>
          <a:p>
            <a:pPr>
              <a:spcAft>
                <a:spcPts val="300"/>
              </a:spcAft>
            </a:pPr>
            <a:r>
              <a:rPr sz="800" b="1" i="0">
                <a:solidFill>
                  <a:srgbClr val="FA9D02"/>
                </a:solidFill>
                <a:latin typeface="Inter"/>
              </a:rPr>
              <a:t>CAUSE</a:t>
            </a:r>
          </a:p>
        </p:txBody>
      </p:sp>
      <p:sp>
        <p:nvSpPr>
          <p:cNvPr id="28" name="TextBox 27"/>
          <p:cNvSpPr txBox="1"/>
          <p:nvPr/>
        </p:nvSpPr>
        <p:spPr>
          <a:xfrm>
            <a:off x="6163056" y="3035808"/>
            <a:ext cx="2194560" cy="731520"/>
          </a:xfrm>
          <a:prstGeom prst="rect">
            <a:avLst/>
          </a:prstGeom>
          <a:noFill/>
        </p:spPr>
        <p:txBody>
          <a:bodyPr wrap="square" lIns="0" tIns="0" rIns="0" bIns="0" anchor="t">
            <a:spAutoFit/>
          </a:bodyPr>
          <a:lstStyle/>
          <a:p>
            <a:pPr>
              <a:lnSpc>
                <a:spcPct val="105000"/>
              </a:lnSpc>
              <a:spcAft>
                <a:spcPts val="300"/>
              </a:spcAft>
            </a:pPr>
            <a:r>
              <a:rPr sz="950" b="0" i="0">
                <a:solidFill>
                  <a:srgbClr val="5A5A7A"/>
                </a:solidFill>
                <a:latin typeface="Inter"/>
              </a:rPr>
              <a:t>L'étape npm ci n'a pas été exécutée dans le dossier api/.</a:t>
            </a:r>
          </a:p>
        </p:txBody>
      </p:sp>
      <p:sp>
        <p:nvSpPr>
          <p:cNvPr id="29" name="TextBox 28"/>
          <p:cNvSpPr txBox="1"/>
          <p:nvPr/>
        </p:nvSpPr>
        <p:spPr>
          <a:xfrm>
            <a:off x="6163056" y="3840480"/>
            <a:ext cx="2194560" cy="182880"/>
          </a:xfrm>
          <a:prstGeom prst="rect">
            <a:avLst/>
          </a:prstGeom>
          <a:noFill/>
        </p:spPr>
        <p:txBody>
          <a:bodyPr wrap="square" lIns="0" tIns="0" rIns="0" bIns="0" anchor="t">
            <a:spAutoFit/>
          </a:bodyPr>
          <a:lstStyle/>
          <a:p>
            <a:pPr>
              <a:spcAft>
                <a:spcPts val="300"/>
              </a:spcAft>
            </a:pPr>
            <a:r>
              <a:rPr sz="800" b="1" i="0">
                <a:solidFill>
                  <a:srgbClr val="1FA58F"/>
                </a:solidFill>
                <a:latin typeface="Inter"/>
              </a:rPr>
              <a:t>SOLUTION</a:t>
            </a:r>
          </a:p>
        </p:txBody>
      </p:sp>
      <p:sp>
        <p:nvSpPr>
          <p:cNvPr id="30" name="TextBox 29"/>
          <p:cNvSpPr txBox="1"/>
          <p:nvPr/>
        </p:nvSpPr>
        <p:spPr>
          <a:xfrm>
            <a:off x="6163056" y="4041648"/>
            <a:ext cx="2194560" cy="594360"/>
          </a:xfrm>
          <a:prstGeom prst="rect">
            <a:avLst/>
          </a:prstGeom>
          <a:noFill/>
        </p:spPr>
        <p:txBody>
          <a:bodyPr wrap="square" lIns="0" tIns="0" rIns="0" bIns="0" anchor="t">
            <a:spAutoFit/>
          </a:bodyPr>
          <a:lstStyle/>
          <a:p>
            <a:pPr>
              <a:lnSpc>
                <a:spcPct val="105000"/>
              </a:lnSpc>
              <a:spcAft>
                <a:spcPts val="300"/>
              </a:spcAft>
            </a:pPr>
            <a:r>
              <a:rPr sz="950" b="0" i="0">
                <a:solidFill>
                  <a:srgbClr val="17175A"/>
                </a:solidFill>
                <a:latin typeface="Inter"/>
              </a:rPr>
              <a:t>cd api puis npm ci.</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IV. API, tests et résultats</a:t>
            </a:r>
          </a:p>
        </p:txBody>
      </p:sp>
      <p:sp>
        <p:nvSpPr>
          <p:cNvPr id="3" name="TextBox 2"/>
          <p:cNvSpPr txBox="1"/>
          <p:nvPr/>
        </p:nvSpPr>
        <p:spPr>
          <a:xfrm>
            <a:off x="868680" y="749808"/>
            <a:ext cx="7589520" cy="320040"/>
          </a:xfrm>
          <a:prstGeom prst="rect">
            <a:avLst/>
          </a:prstGeom>
          <a:noFill/>
        </p:spPr>
        <p:txBody>
          <a:bodyPr wrap="square" lIns="0" tIns="0" rIns="0" bIns="0" anchor="ctr">
            <a:spAutoFit/>
          </a:bodyPr>
          <a:lstStyle/>
          <a:p>
            <a:pPr>
              <a:spcAft>
                <a:spcPts val="300"/>
              </a:spcAft>
            </a:pPr>
            <a:r>
              <a:rPr sz="1500" b="0" i="0">
                <a:solidFill>
                  <a:srgbClr val="7A7BE0"/>
                </a:solidFill>
                <a:latin typeface="Inter"/>
              </a:rPr>
              <a:t>j. Limites et perspectives</a:t>
            </a:r>
          </a:p>
        </p:txBody>
      </p:sp>
      <p:sp>
        <p:nvSpPr>
          <p:cNvPr id="4" name="Rounded Rectangle 3"/>
          <p:cNvSpPr/>
          <p:nvPr/>
        </p:nvSpPr>
        <p:spPr>
          <a:xfrm>
            <a:off x="868680" y="1280160"/>
            <a:ext cx="3749039" cy="338328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51560" y="1371600"/>
            <a:ext cx="3383280" cy="320040"/>
          </a:xfrm>
          <a:prstGeom prst="rect">
            <a:avLst/>
          </a:prstGeom>
          <a:noFill/>
        </p:spPr>
        <p:txBody>
          <a:bodyPr wrap="square" lIns="0" tIns="0" rIns="0" bIns="0" anchor="t">
            <a:spAutoFit/>
          </a:bodyPr>
          <a:lstStyle/>
          <a:p>
            <a:pPr>
              <a:spcAft>
                <a:spcPts val="300"/>
              </a:spcAft>
            </a:pPr>
            <a:r>
              <a:rPr sz="1300" b="1" i="0">
                <a:solidFill>
                  <a:srgbClr val="17175A"/>
                </a:solidFill>
                <a:latin typeface="Inter"/>
              </a:rPr>
              <a:t>Limites actuelles</a:t>
            </a:r>
          </a:p>
        </p:txBody>
      </p:sp>
      <p:sp>
        <p:nvSpPr>
          <p:cNvPr id="6" name="TextBox 5"/>
          <p:cNvSpPr txBox="1"/>
          <p:nvPr/>
        </p:nvSpPr>
        <p:spPr>
          <a:xfrm>
            <a:off x="1051560" y="1828800"/>
            <a:ext cx="3383280" cy="2743200"/>
          </a:xfrm>
          <a:prstGeom prst="rect">
            <a:avLst/>
          </a:prstGeom>
          <a:noFill/>
        </p:spPr>
        <p:txBody>
          <a:bodyPr wrap="square" lIns="0" tIns="0" rIns="0" bIns="0" anchor="t">
            <a:spAutoFit/>
          </a:bodyPr>
          <a:lstStyle/>
          <a:p>
            <a:pPr marL="171450" indent="-171450">
              <a:lnSpc>
                <a:spcPct val="115000"/>
              </a:lnSpc>
              <a:spcAft>
                <a:spcPts val="1200"/>
              </a:spcAft>
              <a:buClr>
                <a:srgbClr val="FA9D02"/>
              </a:buClr>
              <a:buSzPct val="80000"/>
              <a:buFont typeface="Arial"/>
              <a:buChar char="●"/>
            </a:pPr>
            <a:r>
              <a:rPr sz="1250" b="0" i="0">
                <a:solidFill>
                  <a:srgbClr val="17175A"/>
                </a:solidFill>
                <a:latin typeface="Inter"/>
              </a:rPr>
              <a:t>Seul PostgreSQL est conteneurisé : Dagster et l'API se lancent à la main dans leurs environnements</a:t>
            </a:r>
          </a:p>
          <a:p>
            <a:pPr marL="171450" indent="-171450">
              <a:lnSpc>
                <a:spcPct val="115000"/>
              </a:lnSpc>
              <a:spcAft>
                <a:spcPts val="1200"/>
              </a:spcAft>
              <a:buClr>
                <a:srgbClr val="FA9D02"/>
              </a:buClr>
              <a:buSzPct val="80000"/>
              <a:buFont typeface="Arial"/>
              <a:buChar char="●"/>
            </a:pPr>
            <a:r>
              <a:rPr sz="1250" b="0" i="0">
                <a:solidFill>
                  <a:srgbClr val="17175A"/>
                </a:solidFill>
                <a:latin typeface="Inter"/>
              </a:rPr>
              <a:t>Le jeu de données réel a été complété de 100 lignes pour couvrir les 6 motifs de rejet</a:t>
            </a:r>
          </a:p>
          <a:p>
            <a:pPr marL="171450" indent="-171450">
              <a:lnSpc>
                <a:spcPct val="115000"/>
              </a:lnSpc>
              <a:spcAft>
                <a:spcPts val="1200"/>
              </a:spcAft>
              <a:buClr>
                <a:srgbClr val="FA9D02"/>
              </a:buClr>
              <a:buSzPct val="80000"/>
              <a:buFont typeface="Arial"/>
              <a:buChar char="●"/>
            </a:pPr>
            <a:r>
              <a:rPr sz="1250" b="0" i="0">
                <a:solidFill>
                  <a:srgbClr val="17175A"/>
                </a:solidFill>
                <a:latin typeface="Inter"/>
              </a:rPr>
              <a:t>Reprise bornée : 6 reprises espacées de 10 s, soit environ une minute avant échec définitif</a:t>
            </a:r>
          </a:p>
          <a:p>
            <a:pPr marL="171450" indent="-171450">
              <a:lnSpc>
                <a:spcPct val="115000"/>
              </a:lnSpc>
              <a:spcAft>
                <a:spcPts val="1200"/>
              </a:spcAft>
              <a:buClr>
                <a:srgbClr val="FA9D02"/>
              </a:buClr>
              <a:buSzPct val="80000"/>
              <a:buFont typeface="Arial"/>
              <a:buChar char="●"/>
            </a:pPr>
            <a:r>
              <a:rPr sz="1250" b="0" i="0">
                <a:solidFill>
                  <a:srgbClr val="17175A"/>
                </a:solidFill>
                <a:latin typeface="Inter"/>
              </a:rPr>
              <a:t>Le catalogue ne garde que la dernière observation de chaque produit</a:t>
            </a:r>
          </a:p>
        </p:txBody>
      </p:sp>
      <p:sp>
        <p:nvSpPr>
          <p:cNvPr id="7" name="Rounded Rectangle 6"/>
          <p:cNvSpPr/>
          <p:nvPr/>
        </p:nvSpPr>
        <p:spPr>
          <a:xfrm>
            <a:off x="4754880" y="1280160"/>
            <a:ext cx="3749039" cy="3383280"/>
          </a:xfrm>
          <a:prstGeom prst="roundRect">
            <a:avLst>
              <a:gd name="adj" fmla="val 8000"/>
            </a:avLst>
          </a:prstGeom>
          <a:solidFill>
            <a:srgbClr val="FFFFFF"/>
          </a:solidFill>
          <a:ln w="19050">
            <a:solidFill>
              <a:srgbClr val="6E6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937760" y="1371600"/>
            <a:ext cx="3383280" cy="320040"/>
          </a:xfrm>
          <a:prstGeom prst="rect">
            <a:avLst/>
          </a:prstGeom>
          <a:noFill/>
        </p:spPr>
        <p:txBody>
          <a:bodyPr wrap="square" lIns="0" tIns="0" rIns="0" bIns="0" anchor="t">
            <a:spAutoFit/>
          </a:bodyPr>
          <a:lstStyle/>
          <a:p>
            <a:pPr>
              <a:spcAft>
                <a:spcPts val="300"/>
              </a:spcAft>
            </a:pPr>
            <a:r>
              <a:rPr sz="1300" b="1" i="0">
                <a:solidFill>
                  <a:srgbClr val="6E6FFF"/>
                </a:solidFill>
                <a:latin typeface="Inter"/>
              </a:rPr>
              <a:t>Pistes d'amélioration</a:t>
            </a:r>
          </a:p>
        </p:txBody>
      </p:sp>
      <p:sp>
        <p:nvSpPr>
          <p:cNvPr id="9" name="TextBox 8"/>
          <p:cNvSpPr txBox="1"/>
          <p:nvPr/>
        </p:nvSpPr>
        <p:spPr>
          <a:xfrm>
            <a:off x="4937760" y="1828800"/>
            <a:ext cx="3383280" cy="2743200"/>
          </a:xfrm>
          <a:prstGeom prst="rect">
            <a:avLst/>
          </a:prstGeom>
          <a:noFill/>
        </p:spPr>
        <p:txBody>
          <a:bodyPr wrap="square" lIns="0" tIns="0" rIns="0" bIns="0" anchor="t">
            <a:spAutoFit/>
          </a:bodyPr>
          <a:lstStyle/>
          <a:p>
            <a:pPr marL="171450" indent="-171450">
              <a:lnSpc>
                <a:spcPct val="115000"/>
              </a:lnSpc>
              <a:spcAft>
                <a:spcPts val="1200"/>
              </a:spcAft>
              <a:buClr>
                <a:srgbClr val="6E6FFF"/>
              </a:buClr>
              <a:buSzPct val="80000"/>
              <a:buFont typeface="Arial"/>
              <a:buChar char="●"/>
            </a:pPr>
            <a:r>
              <a:rPr sz="1250" b="0" i="0">
                <a:solidFill>
                  <a:srgbClr val="17175A"/>
                </a:solidFill>
                <a:latin typeface="Inter"/>
              </a:rPr>
              <a:t>Conteneuriser Dagster et l'API dans le même Docker Compose</a:t>
            </a:r>
          </a:p>
          <a:p>
            <a:pPr marL="171450" indent="-171450">
              <a:lnSpc>
                <a:spcPct val="115000"/>
              </a:lnSpc>
              <a:spcAft>
                <a:spcPts val="1200"/>
              </a:spcAft>
              <a:buClr>
                <a:srgbClr val="6E6FFF"/>
              </a:buClr>
              <a:buSzPct val="80000"/>
              <a:buFont typeface="Arial"/>
              <a:buChar char="●"/>
            </a:pPr>
            <a:r>
              <a:rPr sz="1250" b="0" i="0">
                <a:solidFill>
                  <a:srgbClr val="17175A"/>
                </a:solidFill>
                <a:latin typeface="Inter"/>
              </a:rPr>
              <a:t>Planifier l'exécution avec une planification Dagster plutôt qu'un lancement manuel</a:t>
            </a:r>
          </a:p>
          <a:p>
            <a:pPr marL="171450" indent="-171450">
              <a:lnSpc>
                <a:spcPct val="115000"/>
              </a:lnSpc>
              <a:spcAft>
                <a:spcPts val="1200"/>
              </a:spcAft>
              <a:buClr>
                <a:srgbClr val="6E6FFF"/>
              </a:buClr>
              <a:buSzPct val="80000"/>
              <a:buFont typeface="Arial"/>
              <a:buChar char="●"/>
            </a:pPr>
            <a:r>
              <a:rPr sz="1250" b="0" i="0">
                <a:solidFill>
                  <a:srgbClr val="17175A"/>
                </a:solidFill>
                <a:latin typeface="Inter"/>
              </a:rPr>
              <a:t>Historiser les observations dans une table dédiée</a:t>
            </a:r>
          </a:p>
          <a:p>
            <a:pPr marL="171450" indent="-171450">
              <a:lnSpc>
                <a:spcPct val="115000"/>
              </a:lnSpc>
              <a:spcAft>
                <a:spcPts val="1200"/>
              </a:spcAft>
              <a:buClr>
                <a:srgbClr val="6E6FFF"/>
              </a:buClr>
              <a:buSzPct val="80000"/>
              <a:buFont typeface="Arial"/>
              <a:buChar char="●"/>
            </a:pPr>
            <a:r>
              <a:rPr sz="1250" b="0" i="0">
                <a:solidFill>
                  <a:srgbClr val="17175A"/>
                </a:solidFill>
                <a:latin typeface="Inter"/>
              </a:rPr>
              <a:t>Ajouter des métriques et des alertes sur le volume de rejets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032"/>
            <a:ext cx="7863840" cy="502920"/>
          </a:xfrm>
        </p:spPr>
        <p:txBody>
          <a:bodyPr/>
          <a:lstStyle/>
          <a:p>
            <a:r>
              <a:rPr sz="2400"/>
              <a:t>Conclusion</a:t>
            </a:r>
          </a:p>
        </p:txBody>
      </p:sp>
      <p:sp>
        <p:nvSpPr>
          <p:cNvPr id="3" name="TextBox 2"/>
          <p:cNvSpPr txBox="1"/>
          <p:nvPr/>
        </p:nvSpPr>
        <p:spPr>
          <a:xfrm>
            <a:off x="868680" y="960120"/>
            <a:ext cx="3840480" cy="1463040"/>
          </a:xfrm>
          <a:prstGeom prst="rect">
            <a:avLst/>
          </a:prstGeom>
          <a:noFill/>
        </p:spPr>
        <p:txBody>
          <a:bodyPr wrap="square" lIns="0" tIns="0" rIns="0" bIns="0" anchor="t">
            <a:spAutoFit/>
          </a:bodyPr>
          <a:lstStyle/>
          <a:p>
            <a:pPr>
              <a:lnSpc>
                <a:spcPct val="120000"/>
              </a:lnSpc>
              <a:spcAft>
                <a:spcPts val="300"/>
              </a:spcAft>
            </a:pPr>
            <a:r>
              <a:rPr sz="1300" b="1" i="0">
                <a:solidFill>
                  <a:srgbClr val="17175A"/>
                </a:solidFill>
                <a:latin typeface="Inter"/>
              </a:rPr>
              <a:t>Un pipeline ETL idempotent, orchestré par Dagster, avec reprise automatique documentée et une API REST testée et documentée</a:t>
            </a:r>
          </a:p>
        </p:txBody>
      </p:sp>
      <p:sp>
        <p:nvSpPr>
          <p:cNvPr id="4" name="Rounded Rectangle 3"/>
          <p:cNvSpPr/>
          <p:nvPr/>
        </p:nvSpPr>
        <p:spPr>
          <a:xfrm>
            <a:off x="868680" y="2651760"/>
            <a:ext cx="3840480" cy="566928"/>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05840" y="2651760"/>
            <a:ext cx="1737360" cy="566928"/>
          </a:xfrm>
          <a:prstGeom prst="rect">
            <a:avLst/>
          </a:prstGeom>
          <a:noFill/>
        </p:spPr>
        <p:txBody>
          <a:bodyPr wrap="square" lIns="0" tIns="0" rIns="0" bIns="0" anchor="ctr">
            <a:spAutoFit/>
          </a:bodyPr>
          <a:lstStyle/>
          <a:p>
            <a:pPr>
              <a:spcAft>
                <a:spcPts val="300"/>
              </a:spcAft>
            </a:pPr>
            <a:r>
              <a:rPr sz="1200" b="1" i="0">
                <a:solidFill>
                  <a:srgbClr val="6E6FFF"/>
                </a:solidFill>
                <a:latin typeface="Inter"/>
              </a:rPr>
              <a:t>542 009 → 3 958</a:t>
            </a:r>
          </a:p>
        </p:txBody>
      </p:sp>
      <p:sp>
        <p:nvSpPr>
          <p:cNvPr id="6" name="TextBox 5"/>
          <p:cNvSpPr txBox="1"/>
          <p:nvPr/>
        </p:nvSpPr>
        <p:spPr>
          <a:xfrm>
            <a:off x="2743200" y="2651760"/>
            <a:ext cx="1920240" cy="566928"/>
          </a:xfrm>
          <a:prstGeom prst="rect">
            <a:avLst/>
          </a:prstGeom>
          <a:noFill/>
        </p:spPr>
        <p:txBody>
          <a:bodyPr wrap="square" lIns="0" tIns="0" rIns="0" bIns="0" anchor="ctr">
            <a:spAutoFit/>
          </a:bodyPr>
          <a:lstStyle/>
          <a:p>
            <a:pPr>
              <a:spcAft>
                <a:spcPts val="300"/>
              </a:spcAft>
            </a:pPr>
            <a:r>
              <a:rPr sz="900" b="0" i="0">
                <a:solidFill>
                  <a:srgbClr val="17175A"/>
                </a:solidFill>
                <a:latin typeface="Inter"/>
              </a:rPr>
              <a:t>du fichier brut au catalogue fiable</a:t>
            </a:r>
          </a:p>
        </p:txBody>
      </p:sp>
      <p:sp>
        <p:nvSpPr>
          <p:cNvPr id="7" name="Rounded Rectangle 6"/>
          <p:cNvSpPr/>
          <p:nvPr/>
        </p:nvSpPr>
        <p:spPr>
          <a:xfrm>
            <a:off x="868680" y="3337560"/>
            <a:ext cx="3840480" cy="566928"/>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05840" y="3337560"/>
            <a:ext cx="1737360" cy="566928"/>
          </a:xfrm>
          <a:prstGeom prst="rect">
            <a:avLst/>
          </a:prstGeom>
          <a:noFill/>
        </p:spPr>
        <p:txBody>
          <a:bodyPr wrap="square" lIns="0" tIns="0" rIns="0" bIns="0" anchor="ctr">
            <a:spAutoFit/>
          </a:bodyPr>
          <a:lstStyle/>
          <a:p>
            <a:pPr>
              <a:spcAft>
                <a:spcPts val="300"/>
              </a:spcAft>
            </a:pPr>
            <a:r>
              <a:rPr sz="1200" b="1" i="0">
                <a:solidFill>
                  <a:srgbClr val="6E6FFF"/>
                </a:solidFill>
                <a:latin typeface="Inter"/>
              </a:rPr>
              <a:t>0 doublon</a:t>
            </a:r>
          </a:p>
        </p:txBody>
      </p:sp>
      <p:sp>
        <p:nvSpPr>
          <p:cNvPr id="9" name="TextBox 8"/>
          <p:cNvSpPr txBox="1"/>
          <p:nvPr/>
        </p:nvSpPr>
        <p:spPr>
          <a:xfrm>
            <a:off x="2743200" y="3337560"/>
            <a:ext cx="1920240" cy="566928"/>
          </a:xfrm>
          <a:prstGeom prst="rect">
            <a:avLst/>
          </a:prstGeom>
          <a:noFill/>
        </p:spPr>
        <p:txBody>
          <a:bodyPr wrap="square" lIns="0" tIns="0" rIns="0" bIns="0" anchor="ctr">
            <a:spAutoFit/>
          </a:bodyPr>
          <a:lstStyle/>
          <a:p>
            <a:pPr>
              <a:spcAft>
                <a:spcPts val="300"/>
              </a:spcAft>
            </a:pPr>
            <a:r>
              <a:rPr sz="900" b="0" i="0">
                <a:solidFill>
                  <a:srgbClr val="17175A"/>
                </a:solidFill>
                <a:latin typeface="Inter"/>
              </a:rPr>
              <a:t>après relance du même fichier</a:t>
            </a:r>
          </a:p>
        </p:txBody>
      </p:sp>
      <p:sp>
        <p:nvSpPr>
          <p:cNvPr id="10" name="Rounded Rectangle 9"/>
          <p:cNvSpPr/>
          <p:nvPr/>
        </p:nvSpPr>
        <p:spPr>
          <a:xfrm>
            <a:off x="868680" y="4023360"/>
            <a:ext cx="3840480" cy="566928"/>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05840" y="4023360"/>
            <a:ext cx="1737360" cy="566928"/>
          </a:xfrm>
          <a:prstGeom prst="rect">
            <a:avLst/>
          </a:prstGeom>
          <a:noFill/>
        </p:spPr>
        <p:txBody>
          <a:bodyPr wrap="square" lIns="0" tIns="0" rIns="0" bIns="0" anchor="ctr">
            <a:spAutoFit/>
          </a:bodyPr>
          <a:lstStyle/>
          <a:p>
            <a:pPr>
              <a:spcAft>
                <a:spcPts val="300"/>
              </a:spcAft>
            </a:pPr>
            <a:r>
              <a:rPr sz="1200" b="1" i="0">
                <a:solidFill>
                  <a:srgbClr val="6E6FFF"/>
                </a:solidFill>
                <a:latin typeface="Inter"/>
              </a:rPr>
              <a:t>17 tests</a:t>
            </a:r>
          </a:p>
        </p:txBody>
      </p:sp>
      <p:sp>
        <p:nvSpPr>
          <p:cNvPr id="12" name="TextBox 11"/>
          <p:cNvSpPr txBox="1"/>
          <p:nvPr/>
        </p:nvSpPr>
        <p:spPr>
          <a:xfrm>
            <a:off x="2743200" y="4023360"/>
            <a:ext cx="1920240" cy="566928"/>
          </a:xfrm>
          <a:prstGeom prst="rect">
            <a:avLst/>
          </a:prstGeom>
          <a:noFill/>
        </p:spPr>
        <p:txBody>
          <a:bodyPr wrap="square" lIns="0" tIns="0" rIns="0" bIns="0" anchor="ctr">
            <a:spAutoFit/>
          </a:bodyPr>
          <a:lstStyle/>
          <a:p>
            <a:pPr>
              <a:spcAft>
                <a:spcPts val="300"/>
              </a:spcAft>
            </a:pPr>
            <a:r>
              <a:rPr sz="900" b="0" i="0">
                <a:solidFill>
                  <a:srgbClr val="17175A"/>
                </a:solidFill>
                <a:latin typeface="Inter"/>
              </a:rPr>
              <a:t>automatisés, rejoués à chaque push</a:t>
            </a:r>
          </a:p>
        </p:txBody>
      </p:sp>
      <p:sp>
        <p:nvSpPr>
          <p:cNvPr id="13" name="Rounded Rectangle 12"/>
          <p:cNvSpPr/>
          <p:nvPr/>
        </p:nvSpPr>
        <p:spPr>
          <a:xfrm>
            <a:off x="4937760" y="1005840"/>
            <a:ext cx="3566160" cy="3657600"/>
          </a:xfrm>
          <a:prstGeom prst="roundRect">
            <a:avLst>
              <a:gd name="adj" fmla="val 8000"/>
            </a:avLst>
          </a:prstGeom>
          <a:solidFill>
            <a:srgbClr val="F6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120640" y="1097280"/>
            <a:ext cx="3200400" cy="274320"/>
          </a:xfrm>
          <a:prstGeom prst="rect">
            <a:avLst/>
          </a:prstGeom>
          <a:noFill/>
        </p:spPr>
        <p:txBody>
          <a:bodyPr wrap="square" lIns="0" tIns="0" rIns="0" bIns="0" anchor="t">
            <a:spAutoFit/>
          </a:bodyPr>
          <a:lstStyle/>
          <a:p>
            <a:pPr>
              <a:spcAft>
                <a:spcPts val="300"/>
              </a:spcAft>
            </a:pPr>
            <a:r>
              <a:rPr sz="1200" b="1" i="0">
                <a:solidFill>
                  <a:srgbClr val="17175A"/>
                </a:solidFill>
                <a:latin typeface="Inter"/>
              </a:rPr>
              <a:t>Exigences du sujet</a:t>
            </a:r>
          </a:p>
        </p:txBody>
      </p:sp>
      <p:pic>
        <p:nvPicPr>
          <p:cNvPr id="15" name="Picture 14" descr="FaCheckCircle.png"/>
          <p:cNvPicPr>
            <a:picLocks noChangeAspect="1"/>
          </p:cNvPicPr>
          <p:nvPr/>
        </p:nvPicPr>
        <p:blipFill>
          <a:blip r:embed="rId3"/>
          <a:stretch>
            <a:fillRect/>
          </a:stretch>
        </p:blipFill>
        <p:spPr>
          <a:xfrm>
            <a:off x="5120640" y="1536192"/>
            <a:ext cx="237744" cy="237744"/>
          </a:xfrm>
          <a:prstGeom prst="rect">
            <a:avLst/>
          </a:prstGeom>
        </p:spPr>
      </p:pic>
      <p:sp>
        <p:nvSpPr>
          <p:cNvPr id="16" name="TextBox 15"/>
          <p:cNvSpPr txBox="1"/>
          <p:nvPr/>
        </p:nvSpPr>
        <p:spPr>
          <a:xfrm>
            <a:off x="5486400" y="1508760"/>
            <a:ext cx="2926080" cy="292608"/>
          </a:xfrm>
          <a:prstGeom prst="rect">
            <a:avLst/>
          </a:prstGeom>
          <a:noFill/>
        </p:spPr>
        <p:txBody>
          <a:bodyPr wrap="square" lIns="0" tIns="0" rIns="0" bIns="0" anchor="ctr">
            <a:spAutoFit/>
          </a:bodyPr>
          <a:lstStyle/>
          <a:p>
            <a:pPr>
              <a:spcAft>
                <a:spcPts val="300"/>
              </a:spcAft>
            </a:pPr>
            <a:r>
              <a:rPr sz="1000" b="0" i="0">
                <a:solidFill>
                  <a:srgbClr val="17175A"/>
                </a:solidFill>
                <a:latin typeface="Inter"/>
              </a:rPr>
              <a:t>Jeu de données défini</a:t>
            </a:r>
          </a:p>
        </p:txBody>
      </p:sp>
      <p:pic>
        <p:nvPicPr>
          <p:cNvPr id="17" name="Picture 16" descr="FaCheckCircle.png"/>
          <p:cNvPicPr>
            <a:picLocks noChangeAspect="1"/>
          </p:cNvPicPr>
          <p:nvPr/>
        </p:nvPicPr>
        <p:blipFill>
          <a:blip r:embed="rId3"/>
          <a:stretch>
            <a:fillRect/>
          </a:stretch>
        </p:blipFill>
        <p:spPr>
          <a:xfrm>
            <a:off x="5120640" y="1965960"/>
            <a:ext cx="237744" cy="237744"/>
          </a:xfrm>
          <a:prstGeom prst="rect">
            <a:avLst/>
          </a:prstGeom>
        </p:spPr>
      </p:pic>
      <p:sp>
        <p:nvSpPr>
          <p:cNvPr id="18" name="TextBox 17"/>
          <p:cNvSpPr txBox="1"/>
          <p:nvPr/>
        </p:nvSpPr>
        <p:spPr>
          <a:xfrm>
            <a:off x="5486400" y="1938528"/>
            <a:ext cx="2926080" cy="292608"/>
          </a:xfrm>
          <a:prstGeom prst="rect">
            <a:avLst/>
          </a:prstGeom>
          <a:noFill/>
        </p:spPr>
        <p:txBody>
          <a:bodyPr wrap="square" lIns="0" tIns="0" rIns="0" bIns="0" anchor="ctr">
            <a:spAutoFit/>
          </a:bodyPr>
          <a:lstStyle/>
          <a:p>
            <a:pPr>
              <a:spcAft>
                <a:spcPts val="300"/>
              </a:spcAft>
            </a:pPr>
            <a:r>
              <a:rPr sz="1000" b="0" i="0">
                <a:solidFill>
                  <a:srgbClr val="17175A"/>
                </a:solidFill>
                <a:latin typeface="Inter"/>
              </a:rPr>
              <a:t>Extraction, transformation, chargement</a:t>
            </a:r>
          </a:p>
        </p:txBody>
      </p:sp>
      <p:pic>
        <p:nvPicPr>
          <p:cNvPr id="19" name="Picture 18" descr="FaCheckCircle.png"/>
          <p:cNvPicPr>
            <a:picLocks noChangeAspect="1"/>
          </p:cNvPicPr>
          <p:nvPr/>
        </p:nvPicPr>
        <p:blipFill>
          <a:blip r:embed="rId3"/>
          <a:stretch>
            <a:fillRect/>
          </a:stretch>
        </p:blipFill>
        <p:spPr>
          <a:xfrm>
            <a:off x="5120640" y="2395727"/>
            <a:ext cx="237744" cy="237744"/>
          </a:xfrm>
          <a:prstGeom prst="rect">
            <a:avLst/>
          </a:prstGeom>
        </p:spPr>
      </p:pic>
      <p:sp>
        <p:nvSpPr>
          <p:cNvPr id="20" name="TextBox 19"/>
          <p:cNvSpPr txBox="1"/>
          <p:nvPr/>
        </p:nvSpPr>
        <p:spPr>
          <a:xfrm>
            <a:off x="5486400" y="2368296"/>
            <a:ext cx="2926080" cy="292608"/>
          </a:xfrm>
          <a:prstGeom prst="rect">
            <a:avLst/>
          </a:prstGeom>
          <a:noFill/>
        </p:spPr>
        <p:txBody>
          <a:bodyPr wrap="square" lIns="0" tIns="0" rIns="0" bIns="0" anchor="ctr">
            <a:spAutoFit/>
          </a:bodyPr>
          <a:lstStyle/>
          <a:p>
            <a:pPr>
              <a:spcAft>
                <a:spcPts val="300"/>
              </a:spcAft>
            </a:pPr>
            <a:r>
              <a:rPr sz="1000" b="0" i="0">
                <a:solidFill>
                  <a:srgbClr val="17175A"/>
                </a:solidFill>
                <a:latin typeface="Inter"/>
              </a:rPr>
              <a:t>Orchestration avec Dagster</a:t>
            </a:r>
          </a:p>
        </p:txBody>
      </p:sp>
      <p:pic>
        <p:nvPicPr>
          <p:cNvPr id="21" name="Picture 20" descr="FaCheckCircle.png"/>
          <p:cNvPicPr>
            <a:picLocks noChangeAspect="1"/>
          </p:cNvPicPr>
          <p:nvPr/>
        </p:nvPicPr>
        <p:blipFill>
          <a:blip r:embed="rId3"/>
          <a:stretch>
            <a:fillRect/>
          </a:stretch>
        </p:blipFill>
        <p:spPr>
          <a:xfrm>
            <a:off x="5120640" y="2825495"/>
            <a:ext cx="237744" cy="237744"/>
          </a:xfrm>
          <a:prstGeom prst="rect">
            <a:avLst/>
          </a:prstGeom>
        </p:spPr>
      </p:pic>
      <p:sp>
        <p:nvSpPr>
          <p:cNvPr id="22" name="TextBox 21"/>
          <p:cNvSpPr txBox="1"/>
          <p:nvPr/>
        </p:nvSpPr>
        <p:spPr>
          <a:xfrm>
            <a:off x="5486400" y="2798063"/>
            <a:ext cx="2926080" cy="292608"/>
          </a:xfrm>
          <a:prstGeom prst="rect">
            <a:avLst/>
          </a:prstGeom>
          <a:noFill/>
        </p:spPr>
        <p:txBody>
          <a:bodyPr wrap="square" lIns="0" tIns="0" rIns="0" bIns="0" anchor="ctr">
            <a:spAutoFit/>
          </a:bodyPr>
          <a:lstStyle/>
          <a:p>
            <a:pPr>
              <a:spcAft>
                <a:spcPts val="300"/>
              </a:spcAft>
            </a:pPr>
            <a:r>
              <a:rPr sz="1000" b="0" i="0">
                <a:solidFill>
                  <a:srgbClr val="17175A"/>
                </a:solidFill>
                <a:latin typeface="Inter"/>
              </a:rPr>
              <a:t>Idempotence et stratégie de reprise</a:t>
            </a:r>
          </a:p>
        </p:txBody>
      </p:sp>
      <p:pic>
        <p:nvPicPr>
          <p:cNvPr id="23" name="Picture 22" descr="FaCheckCircle.png"/>
          <p:cNvPicPr>
            <a:picLocks noChangeAspect="1"/>
          </p:cNvPicPr>
          <p:nvPr/>
        </p:nvPicPr>
        <p:blipFill>
          <a:blip r:embed="rId3"/>
          <a:stretch>
            <a:fillRect/>
          </a:stretch>
        </p:blipFill>
        <p:spPr>
          <a:xfrm>
            <a:off x="5120640" y="3255263"/>
            <a:ext cx="237744" cy="237744"/>
          </a:xfrm>
          <a:prstGeom prst="rect">
            <a:avLst/>
          </a:prstGeom>
        </p:spPr>
      </p:pic>
      <p:sp>
        <p:nvSpPr>
          <p:cNvPr id="24" name="TextBox 23"/>
          <p:cNvSpPr txBox="1"/>
          <p:nvPr/>
        </p:nvSpPr>
        <p:spPr>
          <a:xfrm>
            <a:off x="5486400" y="3227832"/>
            <a:ext cx="2926080" cy="292608"/>
          </a:xfrm>
          <a:prstGeom prst="rect">
            <a:avLst/>
          </a:prstGeom>
          <a:noFill/>
        </p:spPr>
        <p:txBody>
          <a:bodyPr wrap="square" lIns="0" tIns="0" rIns="0" bIns="0" anchor="ctr">
            <a:spAutoFit/>
          </a:bodyPr>
          <a:lstStyle/>
          <a:p>
            <a:pPr>
              <a:spcAft>
                <a:spcPts val="300"/>
              </a:spcAft>
            </a:pPr>
            <a:r>
              <a:rPr sz="1000" b="0" i="0">
                <a:solidFill>
                  <a:srgbClr val="17175A"/>
                </a:solidFill>
                <a:latin typeface="Inter"/>
              </a:rPr>
              <a:t>Lignes extraites, insérées, modifiées, rejetées</a:t>
            </a:r>
          </a:p>
        </p:txBody>
      </p:sp>
      <p:pic>
        <p:nvPicPr>
          <p:cNvPr id="25" name="Picture 24" descr="FaCheckCircle.png"/>
          <p:cNvPicPr>
            <a:picLocks noChangeAspect="1"/>
          </p:cNvPicPr>
          <p:nvPr/>
        </p:nvPicPr>
        <p:blipFill>
          <a:blip r:embed="rId3"/>
          <a:stretch>
            <a:fillRect/>
          </a:stretch>
        </p:blipFill>
        <p:spPr>
          <a:xfrm>
            <a:off x="5120640" y="3685031"/>
            <a:ext cx="237744" cy="237744"/>
          </a:xfrm>
          <a:prstGeom prst="rect">
            <a:avLst/>
          </a:prstGeom>
        </p:spPr>
      </p:pic>
      <p:sp>
        <p:nvSpPr>
          <p:cNvPr id="26" name="TextBox 25"/>
          <p:cNvSpPr txBox="1"/>
          <p:nvPr/>
        </p:nvSpPr>
        <p:spPr>
          <a:xfrm>
            <a:off x="5486400" y="3657599"/>
            <a:ext cx="2926080" cy="292608"/>
          </a:xfrm>
          <a:prstGeom prst="rect">
            <a:avLst/>
          </a:prstGeom>
          <a:noFill/>
        </p:spPr>
        <p:txBody>
          <a:bodyPr wrap="square" lIns="0" tIns="0" rIns="0" bIns="0" anchor="ctr">
            <a:spAutoFit/>
          </a:bodyPr>
          <a:lstStyle/>
          <a:p>
            <a:pPr>
              <a:spcAft>
                <a:spcPts val="300"/>
              </a:spcAft>
            </a:pPr>
            <a:r>
              <a:rPr sz="1000" b="0" i="0">
                <a:solidFill>
                  <a:srgbClr val="17175A"/>
                </a:solidFill>
                <a:latin typeface="Inter"/>
              </a:rPr>
              <a:t>API Express.js et dernier contrôle</a:t>
            </a:r>
          </a:p>
        </p:txBody>
      </p:sp>
      <p:pic>
        <p:nvPicPr>
          <p:cNvPr id="27" name="Picture 26" descr="FaCheckCircle.png"/>
          <p:cNvPicPr>
            <a:picLocks noChangeAspect="1"/>
          </p:cNvPicPr>
          <p:nvPr/>
        </p:nvPicPr>
        <p:blipFill>
          <a:blip r:embed="rId3"/>
          <a:stretch>
            <a:fillRect/>
          </a:stretch>
        </p:blipFill>
        <p:spPr>
          <a:xfrm>
            <a:off x="5120640" y="4114800"/>
            <a:ext cx="237744" cy="237744"/>
          </a:xfrm>
          <a:prstGeom prst="rect">
            <a:avLst/>
          </a:prstGeom>
        </p:spPr>
      </p:pic>
      <p:sp>
        <p:nvSpPr>
          <p:cNvPr id="28" name="TextBox 27"/>
          <p:cNvSpPr txBox="1"/>
          <p:nvPr/>
        </p:nvSpPr>
        <p:spPr>
          <a:xfrm>
            <a:off x="5486400" y="4087368"/>
            <a:ext cx="2926080" cy="292608"/>
          </a:xfrm>
          <a:prstGeom prst="rect">
            <a:avLst/>
          </a:prstGeom>
          <a:noFill/>
        </p:spPr>
        <p:txBody>
          <a:bodyPr wrap="square" lIns="0" tIns="0" rIns="0" bIns="0" anchor="ctr">
            <a:spAutoFit/>
          </a:bodyPr>
          <a:lstStyle/>
          <a:p>
            <a:pPr>
              <a:spcAft>
                <a:spcPts val="300"/>
              </a:spcAft>
            </a:pPr>
            <a:r>
              <a:rPr sz="1000" b="0" i="0">
                <a:solidFill>
                  <a:srgbClr val="17175A"/>
                </a:solidFill>
                <a:latin typeface="Inter"/>
              </a:rPr>
              <a:t>Doublons, invalides, coupure PostgreSQL testés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7C89746-AD74-8814-C64B-D18CE9F0B4DA}"/>
              </a:ext>
            </a:extLst>
          </p:cNvPr>
          <p:cNvSpPr/>
          <p:nvPr/>
        </p:nvSpPr>
        <p:spPr>
          <a:xfrm>
            <a:off x="2028826" y="3824962"/>
            <a:ext cx="5072062" cy="55721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p:nvPr>
        </p:nvSpPr>
        <p:spPr>
          <a:xfrm>
            <a:off x="2347950" y="761325"/>
            <a:ext cx="4448100" cy="1176900"/>
          </a:xfrm>
        </p:spPr>
        <p:txBody>
          <a:bodyPr/>
          <a:lstStyle/>
          <a:p>
            <a:r>
              <a:rPr dirty="0"/>
              <a:t>Merci</a:t>
            </a:r>
            <a:r>
              <a:rPr lang="fr-FR" dirty="0"/>
              <a:t> pour votre attention !</a:t>
            </a:r>
            <a:endParaRPr dirty="0"/>
          </a:p>
        </p:txBody>
      </p:sp>
    </p:spTree>
  </p:cSld>
  <p:clrMapOvr>
    <a:masterClrMapping/>
  </p:clrMapOvr>
  <p:transition spd="med">
    <p:fade/>
  </p:transition>
</p:sld>
</file>

<file path=ppt/theme/theme1.xml><?xml version="1.0" encoding="utf-8"?>
<a:theme xmlns:a="http://schemas.openxmlformats.org/drawingml/2006/main" name="Data Analysis and Statistics - 4th grade by Slidesgo">
  <a:themeElements>
    <a:clrScheme name="Simple Light">
      <a:dk1>
        <a:srgbClr val="17175A"/>
      </a:dk1>
      <a:lt1>
        <a:srgbClr val="FFFFFF"/>
      </a:lt1>
      <a:dk2>
        <a:srgbClr val="F6F2CC"/>
      </a:dk2>
      <a:lt2>
        <a:srgbClr val="FCBD0E"/>
      </a:lt2>
      <a:accent1>
        <a:srgbClr val="FA9D02"/>
      </a:accent1>
      <a:accent2>
        <a:srgbClr val="FC81FD"/>
      </a:accent2>
      <a:accent3>
        <a:srgbClr val="7CE1CF"/>
      </a:accent3>
      <a:accent4>
        <a:srgbClr val="6E6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3030</TotalTime>
  <Words>4856</Words>
  <Application>Microsoft Office PowerPoint</Application>
  <PresentationFormat>Affichage à l'écran (16:9)</PresentationFormat>
  <Paragraphs>581</Paragraphs>
  <Slides>39</Slides>
  <Notes>39</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39</vt:i4>
      </vt:variant>
    </vt:vector>
  </HeadingPairs>
  <TitlesOfParts>
    <vt:vector size="46" baseType="lpstr">
      <vt:lpstr>Courier New</vt:lpstr>
      <vt:lpstr>Arial</vt:lpstr>
      <vt:lpstr>Darker Grotesque SemiBold</vt:lpstr>
      <vt:lpstr>Calibri</vt:lpstr>
      <vt:lpstr>Passion One</vt:lpstr>
      <vt:lpstr>Inter</vt:lpstr>
      <vt:lpstr>Data Analysis and Statistics - 4th grade by Slidesgo</vt:lpstr>
      <vt:lpstr>Synchronisation de produits avec Dagster, Python, PostgreSQL et Express.js</vt:lpstr>
      <vt:lpstr>Membres du groupe N°2</vt:lpstr>
      <vt:lpstr>Sommaire</vt:lpstr>
      <vt:lpstr>Introduction</vt:lpstr>
      <vt:lpstr>Contexte et problématique</vt:lpstr>
      <vt:lpstr>I. Contexte et problématique</vt:lpstr>
      <vt:lpstr>I. Contexte et problématique</vt:lpstr>
      <vt:lpstr>I. Contexte et problématique</vt:lpstr>
      <vt:lpstr>I. Contexte et problématique</vt:lpstr>
      <vt:lpstr>Architecture et fiabilité</vt:lpstr>
      <vt:lpstr>II. Architecture et fiabilité</vt:lpstr>
      <vt:lpstr>II. Architecture et fiabilité</vt:lpstr>
      <vt:lpstr>II. Architecture et fiabilité</vt:lpstr>
      <vt:lpstr>II. Architecture et fiabilité</vt:lpstr>
      <vt:lpstr>II. Architecture et fiabilité</vt:lpstr>
      <vt:lpstr>II. Architecture et fiabilité</vt:lpstr>
      <vt:lpstr>II. Architecture et fiabilité</vt:lpstr>
      <vt:lpstr>II. Architecture et fiabilité</vt:lpstr>
      <vt:lpstr>II. Architecture et fiabilité</vt:lpstr>
      <vt:lpstr>Installation et exécution</vt:lpstr>
      <vt:lpstr>III. Installation et exécution</vt:lpstr>
      <vt:lpstr>III. Installation et exécution</vt:lpstr>
      <vt:lpstr>III. Installation et exécution</vt:lpstr>
      <vt:lpstr>III. Installation et exécution</vt:lpstr>
      <vt:lpstr>III. Installation et exécution</vt:lpstr>
      <vt:lpstr>III. Installation et exécution</vt:lpstr>
      <vt:lpstr>API, tests et résultats</vt:lpstr>
      <vt:lpstr>IV. API, tests et résultats</vt:lpstr>
      <vt:lpstr>IV. API, tests et résultats</vt:lpstr>
      <vt:lpstr>IV. API, tests et résultats</vt:lpstr>
      <vt:lpstr>IV. API, tests et résultats</vt:lpstr>
      <vt:lpstr>IV. API, tests et résultats</vt:lpstr>
      <vt:lpstr>IV. API, tests et résultats</vt:lpstr>
      <vt:lpstr>IV. API, tests et résultats</vt:lpstr>
      <vt:lpstr>IV. API, tests et résultats</vt:lpstr>
      <vt:lpstr>IV. API, tests et résultats</vt:lpstr>
      <vt:lpstr>IV. API, tests et résultats</vt:lpstr>
      <vt:lpstr>Conclusion</vt:lpstr>
      <vt:lpstr>Merci pour votre attention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OTHNIELA</dc:creator>
  <cp:lastModifiedBy>Laodou Ky</cp:lastModifiedBy>
  <cp:revision>10</cp:revision>
  <dcterms:modified xsi:type="dcterms:W3CDTF">2026-10-29T17:19:07Z</dcterms:modified>
</cp:coreProperties>
</file>